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6"/>
  </p:notesMasterIdLst>
  <p:sldIdLst>
    <p:sldId id="256" r:id="rId5"/>
    <p:sldId id="287" r:id="rId6"/>
    <p:sldId id="274" r:id="rId7"/>
    <p:sldId id="288" r:id="rId8"/>
    <p:sldId id="291" r:id="rId9"/>
    <p:sldId id="294" r:id="rId10"/>
    <p:sldId id="276" r:id="rId11"/>
    <p:sldId id="277" r:id="rId12"/>
    <p:sldId id="299" r:id="rId13"/>
    <p:sldId id="300" r:id="rId14"/>
    <p:sldId id="278" r:id="rId15"/>
    <p:sldId id="283" r:id="rId16"/>
    <p:sldId id="284" r:id="rId17"/>
    <p:sldId id="289" r:id="rId18"/>
    <p:sldId id="285" r:id="rId19"/>
    <p:sldId id="290" r:id="rId20"/>
    <p:sldId id="280" r:id="rId21"/>
    <p:sldId id="293" r:id="rId22"/>
    <p:sldId id="295" r:id="rId23"/>
    <p:sldId id="296" r:id="rId24"/>
    <p:sldId id="304" r:id="rId25"/>
    <p:sldId id="282" r:id="rId26"/>
    <p:sldId id="297" r:id="rId27"/>
    <p:sldId id="303" r:id="rId28"/>
    <p:sldId id="298" r:id="rId29"/>
    <p:sldId id="301" r:id="rId30"/>
    <p:sldId id="302" r:id="rId31"/>
    <p:sldId id="292" r:id="rId32"/>
    <p:sldId id="279" r:id="rId33"/>
    <p:sldId id="281" r:id="rId34"/>
    <p:sldId id="286" r:id="rId3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2AC5FF-7040-408B-B816-DC154E5D75B8}" v="14" dt="2026-10-06T19:42:30.599"/>
    <p1510:client id="{D1B68B1F-0035-4A3F-8D81-B4C700DFAA33}" v="7" dt="2026-10-07T03:11:26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37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ley Domingos" userId="2bf35a83-3362-4dee-ab8e-39fcd9a9f5a2" providerId="ADAL" clId="{1DE45DCF-5007-4A92-8F90-1EC75C13C012}"/>
    <pc:docChg chg="undo custSel addSld delSld modSld">
      <pc:chgData name="Henriley Domingos" userId="2bf35a83-3362-4dee-ab8e-39fcd9a9f5a2" providerId="ADAL" clId="{1DE45DCF-5007-4A92-8F90-1EC75C13C012}" dt="2026-10-07T03:11:26.761" v="1092"/>
      <pc:docMkLst>
        <pc:docMk/>
      </pc:docMkLst>
      <pc:sldChg chg="modSp">
        <pc:chgData name="Henriley Domingos" userId="2bf35a83-3362-4dee-ab8e-39fcd9a9f5a2" providerId="ADAL" clId="{1DE45DCF-5007-4A92-8F90-1EC75C13C012}" dt="2026-10-02T14:57:00.700" v="0"/>
        <pc:sldMkLst>
          <pc:docMk/>
          <pc:sldMk cId="0" sldId="256"/>
        </pc:sldMkLst>
        <pc:spChg chg="mod">
          <ac:chgData name="Henriley Domingos" userId="2bf35a83-3362-4dee-ab8e-39fcd9a9f5a2" providerId="ADAL" clId="{1DE45DCF-5007-4A92-8F90-1EC75C13C012}" dt="2026-10-02T14:57:00.700" v="0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mod">
        <pc:chgData name="Henriley Domingos" userId="2bf35a83-3362-4dee-ab8e-39fcd9a9f5a2" providerId="ADAL" clId="{1DE45DCF-5007-4A92-8F90-1EC75C13C012}" dt="2026-10-06T18:44:12.855" v="325" actId="478"/>
        <pc:sldMkLst>
          <pc:docMk/>
          <pc:sldMk cId="0" sldId="276"/>
        </pc:sldMkLst>
        <pc:spChg chg="add del">
          <ac:chgData name="Henriley Domingos" userId="2bf35a83-3362-4dee-ab8e-39fcd9a9f5a2" providerId="ADAL" clId="{1DE45DCF-5007-4A92-8F90-1EC75C13C012}" dt="2026-10-06T18:43:12.735" v="316" actId="478"/>
          <ac:spMkLst>
            <pc:docMk/>
            <pc:sldMk cId="0" sldId="276"/>
            <ac:spMk id="5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3:16.070" v="317" actId="478"/>
          <ac:spMkLst>
            <pc:docMk/>
            <pc:sldMk cId="0" sldId="276"/>
            <ac:spMk id="9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3:09.198" v="314" actId="478"/>
          <ac:spMkLst>
            <pc:docMk/>
            <pc:sldMk cId="0" sldId="276"/>
            <ac:spMk id="10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3:21.237" v="318" actId="478"/>
          <ac:spMkLst>
            <pc:docMk/>
            <pc:sldMk cId="0" sldId="276"/>
            <ac:spMk id="15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3:21.237" v="318" actId="478"/>
          <ac:spMkLst>
            <pc:docMk/>
            <pc:sldMk cId="0" sldId="276"/>
            <ac:spMk id="16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4:05.649" v="324" actId="20577"/>
          <ac:spMkLst>
            <pc:docMk/>
            <pc:sldMk cId="0" sldId="276"/>
            <ac:spMk id="21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3:21.237" v="318" actId="478"/>
          <ac:spMkLst>
            <pc:docMk/>
            <pc:sldMk cId="0" sldId="276"/>
            <ac:spMk id="22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3:21.237" v="318" actId="478"/>
          <ac:spMkLst>
            <pc:docMk/>
            <pc:sldMk cId="0" sldId="276"/>
            <ac:spMk id="23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4:12.855" v="325" actId="478"/>
          <ac:spMkLst>
            <pc:docMk/>
            <pc:sldMk cId="0" sldId="276"/>
            <ac:spMk id="25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1:54.870" v="313" actId="20577"/>
          <ac:spMkLst>
            <pc:docMk/>
            <pc:sldMk cId="0" sldId="276"/>
            <ac:spMk id="41" creationId="{9BD51BF2-ADCC-BCFC-A011-BEA80D94C0B8}"/>
          </ac:spMkLst>
        </pc:spChg>
      </pc:sldChg>
      <pc:sldChg chg="addSp delSp modSp del mod">
        <pc:chgData name="Henriley Domingos" userId="2bf35a83-3362-4dee-ab8e-39fcd9a9f5a2" providerId="ADAL" clId="{1DE45DCF-5007-4A92-8F90-1EC75C13C012}" dt="2026-10-07T03:10:19.041" v="1088" actId="2696"/>
        <pc:sldMkLst>
          <pc:docMk/>
          <pc:sldMk cId="0" sldId="277"/>
        </pc:sldMkLst>
        <pc:spChg chg="mod">
          <ac:chgData name="Henriley Domingos" userId="2bf35a83-3362-4dee-ab8e-39fcd9a9f5a2" providerId="ADAL" clId="{1DE45DCF-5007-4A92-8F90-1EC75C13C012}" dt="2026-10-06T18:45:26.636" v="363" actId="20577"/>
          <ac:spMkLst>
            <pc:docMk/>
            <pc:sldMk cId="0" sldId="277"/>
            <ac:spMk id="35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7:48.825" v="393" actId="20577"/>
          <ac:spMkLst>
            <pc:docMk/>
            <pc:sldMk cId="0" sldId="277"/>
            <ac:spMk id="37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6:37.541" v="371" actId="20577"/>
          <ac:spMkLst>
            <pc:docMk/>
            <pc:sldMk cId="0" sldId="277"/>
            <ac:spMk id="39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6:42.249" v="372"/>
          <ac:spMkLst>
            <pc:docMk/>
            <pc:sldMk cId="0" sldId="277"/>
            <ac:spMk id="41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7:51.675" v="394" actId="20577"/>
          <ac:spMkLst>
            <pc:docMk/>
            <pc:sldMk cId="0" sldId="277"/>
            <ac:spMk id="43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7:54.692" v="398" actId="20577"/>
          <ac:spMkLst>
            <pc:docMk/>
            <pc:sldMk cId="0" sldId="277"/>
            <ac:spMk id="45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7:43.976" v="392" actId="20577"/>
          <ac:spMkLst>
            <pc:docMk/>
            <pc:sldMk cId="0" sldId="277"/>
            <ac:spMk id="47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8:20.625" v="400" actId="20577"/>
          <ac:spMkLst>
            <pc:docMk/>
            <pc:sldMk cId="0" sldId="277"/>
            <ac:spMk id="162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31.897" v="474" actId="14100"/>
          <ac:spMkLst>
            <pc:docMk/>
            <pc:sldMk cId="0" sldId="277"/>
            <ac:spMk id="165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8:47.733" v="401" actId="478"/>
          <ac:spMkLst>
            <pc:docMk/>
            <pc:sldMk cId="0" sldId="277"/>
            <ac:spMk id="168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8:47.733" v="401" actId="478"/>
          <ac:spMkLst>
            <pc:docMk/>
            <pc:sldMk cId="0" sldId="277"/>
            <ac:spMk id="170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8:47.733" v="401" actId="478"/>
          <ac:spMkLst>
            <pc:docMk/>
            <pc:sldMk cId="0" sldId="277"/>
            <ac:spMk id="176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8:47.733" v="401" actId="478"/>
          <ac:spMkLst>
            <pc:docMk/>
            <pc:sldMk cId="0" sldId="277"/>
            <ac:spMk id="180" creationId="{00000000-0000-0000-0000-000000000000}"/>
          </ac:spMkLst>
        </pc:spChg>
        <pc:spChg chg="del mod">
          <ac:chgData name="Henriley Domingos" userId="2bf35a83-3362-4dee-ab8e-39fcd9a9f5a2" providerId="ADAL" clId="{1DE45DCF-5007-4A92-8F90-1EC75C13C012}" dt="2026-10-06T18:49:24.926" v="473" actId="478"/>
          <ac:spMkLst>
            <pc:docMk/>
            <pc:sldMk cId="0" sldId="277"/>
            <ac:spMk id="182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8:47.733" v="401" actId="478"/>
          <ac:spMkLst>
            <pc:docMk/>
            <pc:sldMk cId="0" sldId="277"/>
            <ac:spMk id="184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8:47.733" v="401" actId="478"/>
          <ac:spMkLst>
            <pc:docMk/>
            <pc:sldMk cId="0" sldId="277"/>
            <ac:spMk id="188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8:47.733" v="401" actId="478"/>
          <ac:spMkLst>
            <pc:docMk/>
            <pc:sldMk cId="0" sldId="277"/>
            <ac:spMk id="189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8:47.733" v="401" actId="478"/>
          <ac:spMkLst>
            <pc:docMk/>
            <pc:sldMk cId="0" sldId="277"/>
            <ac:spMk id="191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8:47.733" v="401" actId="478"/>
          <ac:spMkLst>
            <pc:docMk/>
            <pc:sldMk cId="0" sldId="277"/>
            <ac:spMk id="192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8:47.733" v="401" actId="478"/>
          <ac:spMkLst>
            <pc:docMk/>
            <pc:sldMk cId="0" sldId="277"/>
            <ac:spMk id="193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9:06.096" v="431" actId="478"/>
          <ac:spMkLst>
            <pc:docMk/>
            <pc:sldMk cId="0" sldId="277"/>
            <ac:spMk id="200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49:09.123" v="432" actId="478"/>
          <ac:spMkLst>
            <pc:docMk/>
            <pc:sldMk cId="0" sldId="277"/>
            <ac:spMk id="201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17.648" v="456" actId="1035"/>
          <ac:spMkLst>
            <pc:docMk/>
            <pc:sldMk cId="0" sldId="277"/>
            <ac:spMk id="204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04.406" v="430" actId="1035"/>
          <ac:spMkLst>
            <pc:docMk/>
            <pc:sldMk cId="0" sldId="277"/>
            <ac:spMk id="205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17.648" v="456" actId="1035"/>
          <ac:spMkLst>
            <pc:docMk/>
            <pc:sldMk cId="0" sldId="277"/>
            <ac:spMk id="206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04.406" v="430" actId="1035"/>
          <ac:spMkLst>
            <pc:docMk/>
            <pc:sldMk cId="0" sldId="277"/>
            <ac:spMk id="207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17.648" v="456" actId="1035"/>
          <ac:spMkLst>
            <pc:docMk/>
            <pc:sldMk cId="0" sldId="277"/>
            <ac:spMk id="208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04.406" v="430" actId="1035"/>
          <ac:spMkLst>
            <pc:docMk/>
            <pc:sldMk cId="0" sldId="277"/>
            <ac:spMk id="209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17.648" v="456" actId="1035"/>
          <ac:spMkLst>
            <pc:docMk/>
            <pc:sldMk cId="0" sldId="277"/>
            <ac:spMk id="210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04.406" v="430" actId="1035"/>
          <ac:spMkLst>
            <pc:docMk/>
            <pc:sldMk cId="0" sldId="277"/>
            <ac:spMk id="211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04.406" v="430" actId="1035"/>
          <ac:spMkLst>
            <pc:docMk/>
            <pc:sldMk cId="0" sldId="277"/>
            <ac:spMk id="213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04.406" v="430" actId="1035"/>
          <ac:spMkLst>
            <pc:docMk/>
            <pc:sldMk cId="0" sldId="277"/>
            <ac:spMk id="215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17.648" v="456" actId="1035"/>
          <ac:spMkLst>
            <pc:docMk/>
            <pc:sldMk cId="0" sldId="277"/>
            <ac:spMk id="216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17.648" v="456" actId="1035"/>
          <ac:spMkLst>
            <pc:docMk/>
            <pc:sldMk cId="0" sldId="277"/>
            <ac:spMk id="218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04.406" v="430" actId="1035"/>
          <ac:spMkLst>
            <pc:docMk/>
            <pc:sldMk cId="0" sldId="277"/>
            <ac:spMk id="219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46.188" v="503" actId="1035"/>
          <ac:spMkLst>
            <pc:docMk/>
            <pc:sldMk cId="0" sldId="277"/>
            <ac:spMk id="221" creationId="{00000000-0000-0000-0000-000000000000}"/>
          </ac:spMkLst>
        </pc:spChg>
        <pc:spChg chg="add del">
          <ac:chgData name="Henriley Domingos" userId="2bf35a83-3362-4dee-ab8e-39fcd9a9f5a2" providerId="ADAL" clId="{1DE45DCF-5007-4A92-8F90-1EC75C13C012}" dt="2026-10-06T18:49:11.773" v="434" actId="478"/>
          <ac:spMkLst>
            <pc:docMk/>
            <pc:sldMk cId="0" sldId="277"/>
            <ac:spMk id="222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17.648" v="456" actId="1035"/>
          <ac:spMkLst>
            <pc:docMk/>
            <pc:sldMk cId="0" sldId="277"/>
            <ac:spMk id="223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46.188" v="503" actId="1035"/>
          <ac:spMkLst>
            <pc:docMk/>
            <pc:sldMk cId="0" sldId="277"/>
            <ac:spMk id="224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46.188" v="503" actId="1035"/>
          <ac:spMkLst>
            <pc:docMk/>
            <pc:sldMk cId="0" sldId="277"/>
            <ac:spMk id="228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17.648" v="456" actId="1035"/>
          <ac:spMkLst>
            <pc:docMk/>
            <pc:sldMk cId="0" sldId="277"/>
            <ac:spMk id="229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17.648" v="456" actId="1035"/>
          <ac:spMkLst>
            <pc:docMk/>
            <pc:sldMk cId="0" sldId="277"/>
            <ac:spMk id="231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17.648" v="456" actId="1035"/>
          <ac:spMkLst>
            <pc:docMk/>
            <pc:sldMk cId="0" sldId="277"/>
            <ac:spMk id="233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46.188" v="503" actId="1035"/>
          <ac:spMkLst>
            <pc:docMk/>
            <pc:sldMk cId="0" sldId="277"/>
            <ac:spMk id="234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46.188" v="503" actId="1035"/>
          <ac:spMkLst>
            <pc:docMk/>
            <pc:sldMk cId="0" sldId="277"/>
            <ac:spMk id="236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46.188" v="503" actId="1035"/>
          <ac:spMkLst>
            <pc:docMk/>
            <pc:sldMk cId="0" sldId="277"/>
            <ac:spMk id="243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46.188" v="503" actId="1035"/>
          <ac:spMkLst>
            <pc:docMk/>
            <pc:sldMk cId="0" sldId="277"/>
            <ac:spMk id="245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46.188" v="503" actId="1035"/>
          <ac:spMkLst>
            <pc:docMk/>
            <pc:sldMk cId="0" sldId="277"/>
            <ac:spMk id="246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46.188" v="503" actId="1035"/>
          <ac:spMkLst>
            <pc:docMk/>
            <pc:sldMk cId="0" sldId="277"/>
            <ac:spMk id="247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9:46.188" v="503" actId="1035"/>
          <ac:spMkLst>
            <pc:docMk/>
            <pc:sldMk cId="0" sldId="277"/>
            <ac:spMk id="250" creationId="{00000000-0000-0000-0000-000000000000}"/>
          </ac:spMkLst>
        </pc:spChg>
        <pc:spChg chg="del mod">
          <ac:chgData name="Henriley Domingos" userId="2bf35a83-3362-4dee-ab8e-39fcd9a9f5a2" providerId="ADAL" clId="{1DE45DCF-5007-4A92-8F90-1EC75C13C012}" dt="2026-10-06T18:50:05.170" v="525" actId="478"/>
          <ac:spMkLst>
            <pc:docMk/>
            <pc:sldMk cId="0" sldId="277"/>
            <ac:spMk id="254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6T18:50:05.170" v="525" actId="478"/>
          <ac:spMkLst>
            <pc:docMk/>
            <pc:sldMk cId="0" sldId="277"/>
            <ac:spMk id="255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4:44.664" v="350" actId="20577"/>
          <ac:spMkLst>
            <pc:docMk/>
            <pc:sldMk cId="0" sldId="277"/>
            <ac:spMk id="267" creationId="{9F7C7F9F-39AE-89B3-602C-F5B021344B96}"/>
          </ac:spMkLst>
        </pc:spChg>
      </pc:sldChg>
      <pc:sldChg chg="add">
        <pc:chgData name="Henriley Domingos" userId="2bf35a83-3362-4dee-ab8e-39fcd9a9f5a2" providerId="ADAL" clId="{1DE45DCF-5007-4A92-8F90-1EC75C13C012}" dt="2026-10-07T03:10:21.246" v="1089"/>
        <pc:sldMkLst>
          <pc:docMk/>
          <pc:sldMk cId="2322010657" sldId="277"/>
        </pc:sldMkLst>
      </pc:sldChg>
      <pc:sldChg chg="addSp delSp modSp mod">
        <pc:chgData name="Henriley Domingos" userId="2bf35a83-3362-4dee-ab8e-39fcd9a9f5a2" providerId="ADAL" clId="{1DE45DCF-5007-4A92-8F90-1EC75C13C012}" dt="2026-10-07T02:41:19.873" v="984" actId="27636"/>
        <pc:sldMkLst>
          <pc:docMk/>
          <pc:sldMk cId="0" sldId="278"/>
        </pc:sldMkLst>
        <pc:spChg chg="add mod">
          <ac:chgData name="Henriley Domingos" userId="2bf35a83-3362-4dee-ab8e-39fcd9a9f5a2" providerId="ADAL" clId="{1DE45DCF-5007-4A92-8F90-1EC75C13C012}" dt="2026-10-06T18:57:59.210" v="794" actId="1037"/>
          <ac:spMkLst>
            <pc:docMk/>
            <pc:sldMk cId="0" sldId="278"/>
            <ac:spMk id="4" creationId="{7798771B-F6CA-B6B8-B770-81AC9EF95061}"/>
          </ac:spMkLst>
        </pc:spChg>
        <pc:spChg chg="mod">
          <ac:chgData name="Henriley Domingos" userId="2bf35a83-3362-4dee-ab8e-39fcd9a9f5a2" providerId="ADAL" clId="{1DE45DCF-5007-4A92-8F90-1EC75C13C012}" dt="2026-10-06T19:40:43.401" v="825" actId="20577"/>
          <ac:spMkLst>
            <pc:docMk/>
            <pc:sldMk cId="0" sldId="278"/>
            <ac:spMk id="5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9:42:35.685" v="848" actId="1035"/>
          <ac:spMkLst>
            <pc:docMk/>
            <pc:sldMk cId="0" sldId="278"/>
            <ac:spMk id="7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9:42:35.685" v="848" actId="1035"/>
          <ac:spMkLst>
            <pc:docMk/>
            <pc:sldMk cId="0" sldId="278"/>
            <ac:spMk id="8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9:43:22.152" v="865" actId="20577"/>
          <ac:spMkLst>
            <pc:docMk/>
            <pc:sldMk cId="0" sldId="278"/>
            <ac:spMk id="12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9:41:33.045" v="828" actId="27636"/>
          <ac:spMkLst>
            <pc:docMk/>
            <pc:sldMk cId="0" sldId="278"/>
            <ac:spMk id="40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9:41:33.041" v="827" actId="27636"/>
          <ac:spMkLst>
            <pc:docMk/>
            <pc:sldMk cId="0" sldId="278"/>
            <ac:spMk id="55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51:36.641" v="530" actId="14100"/>
          <ac:spMkLst>
            <pc:docMk/>
            <pc:sldMk cId="0" sldId="278"/>
            <ac:spMk id="155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51:45.717" v="535" actId="27636"/>
          <ac:spMkLst>
            <pc:docMk/>
            <pc:sldMk cId="0" sldId="278"/>
            <ac:spMk id="156" creationId="{00000000-0000-0000-0000-000000000000}"/>
          </ac:spMkLst>
        </pc:spChg>
        <pc:spChg chg="del mod">
          <ac:chgData name="Henriley Domingos" userId="2bf35a83-3362-4dee-ab8e-39fcd9a9f5a2" providerId="ADAL" clId="{1DE45DCF-5007-4A92-8F90-1EC75C13C012}" dt="2026-10-06T18:51:32.442" v="529" actId="478"/>
          <ac:spMkLst>
            <pc:docMk/>
            <pc:sldMk cId="0" sldId="278"/>
            <ac:spMk id="157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57:53.823" v="785" actId="14100"/>
          <ac:spMkLst>
            <pc:docMk/>
            <pc:sldMk cId="0" sldId="278"/>
            <ac:spMk id="158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9:36:52.180" v="803" actId="20577"/>
          <ac:spMkLst>
            <pc:docMk/>
            <pc:sldMk cId="0" sldId="278"/>
            <ac:spMk id="160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9:37:33.046" v="809" actId="20577"/>
          <ac:spMkLst>
            <pc:docMk/>
            <pc:sldMk cId="0" sldId="278"/>
            <ac:spMk id="163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53:19.263" v="719" actId="1037"/>
          <ac:spMkLst>
            <pc:docMk/>
            <pc:sldMk cId="0" sldId="278"/>
            <ac:spMk id="164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9:38:26.580" v="815" actId="20577"/>
          <ac:spMkLst>
            <pc:docMk/>
            <pc:sldMk cId="0" sldId="278"/>
            <ac:spMk id="166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53:37.908" v="773" actId="1038"/>
          <ac:spMkLst>
            <pc:docMk/>
            <pc:sldMk cId="0" sldId="278"/>
            <ac:spMk id="167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9:38:30.386" v="819" actId="20577"/>
          <ac:spMkLst>
            <pc:docMk/>
            <pc:sldMk cId="0" sldId="278"/>
            <ac:spMk id="169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41:19.873" v="984" actId="27636"/>
          <ac:spMkLst>
            <pc:docMk/>
            <pc:sldMk cId="0" sldId="278"/>
            <ac:spMk id="173" creationId="{00000000-0000-0000-0000-000000000000}"/>
          </ac:spMkLst>
        </pc:spChg>
        <pc:spChg chg="add mod">
          <ac:chgData name="Henriley Domingos" userId="2bf35a83-3362-4dee-ab8e-39fcd9a9f5a2" providerId="ADAL" clId="{1DE45DCF-5007-4A92-8F90-1EC75C13C012}" dt="2026-10-06T19:36:39.069" v="800" actId="20577"/>
          <ac:spMkLst>
            <pc:docMk/>
            <pc:sldMk cId="0" sldId="278"/>
            <ac:spMk id="174" creationId="{83CF1675-EBBA-68CF-DC84-D00A2A768610}"/>
          </ac:spMkLst>
        </pc:spChg>
        <pc:spChg chg="add mod">
          <ac:chgData name="Henriley Domingos" userId="2bf35a83-3362-4dee-ab8e-39fcd9a9f5a2" providerId="ADAL" clId="{1DE45DCF-5007-4A92-8F90-1EC75C13C012}" dt="2026-10-06T19:42:57.293" v="863" actId="404"/>
          <ac:spMkLst>
            <pc:docMk/>
            <pc:sldMk cId="0" sldId="278"/>
            <ac:spMk id="175" creationId="{3C136BCA-334C-54F1-0162-C43D0D0142B7}"/>
          </ac:spMkLst>
        </pc:spChg>
      </pc:sldChg>
      <pc:sldChg chg="addSp delSp modSp mod">
        <pc:chgData name="Henriley Domingos" userId="2bf35a83-3362-4dee-ab8e-39fcd9a9f5a2" providerId="ADAL" clId="{1DE45DCF-5007-4A92-8F90-1EC75C13C012}" dt="2026-10-07T02:42:30.544" v="1081" actId="404"/>
        <pc:sldMkLst>
          <pc:docMk/>
          <pc:sldMk cId="0" sldId="283"/>
        </pc:sldMkLst>
        <pc:spChg chg="mod">
          <ac:chgData name="Henriley Domingos" userId="2bf35a83-3362-4dee-ab8e-39fcd9a9f5a2" providerId="ADAL" clId="{1DE45DCF-5007-4A92-8F90-1EC75C13C012}" dt="2026-10-07T02:40:07.477" v="912" actId="404"/>
          <ac:spMkLst>
            <pc:docMk/>
            <pc:sldMk cId="0" sldId="283"/>
            <ac:spMk id="7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40:07.477" v="912" actId="404"/>
          <ac:spMkLst>
            <pc:docMk/>
            <pc:sldMk cId="0" sldId="283"/>
            <ac:spMk id="8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40:07.477" v="912" actId="404"/>
          <ac:spMkLst>
            <pc:docMk/>
            <pc:sldMk cId="0" sldId="283"/>
            <ac:spMk id="11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39:27.917" v="908" actId="20577"/>
          <ac:spMkLst>
            <pc:docMk/>
            <pc:sldMk cId="0" sldId="283"/>
            <ac:spMk id="12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40:44.315" v="962" actId="20577"/>
          <ac:spMkLst>
            <pc:docMk/>
            <pc:sldMk cId="0" sldId="283"/>
            <ac:spMk id="13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40:07.477" v="912" actId="404"/>
          <ac:spMkLst>
            <pc:docMk/>
            <pc:sldMk cId="0" sldId="283"/>
            <ac:spMk id="14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40:07.477" v="912" actId="404"/>
          <ac:spMkLst>
            <pc:docMk/>
            <pc:sldMk cId="0" sldId="283"/>
            <ac:spMk id="15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40:27.192" v="944" actId="20577"/>
          <ac:spMkLst>
            <pc:docMk/>
            <pc:sldMk cId="0" sldId="283"/>
            <ac:spMk id="16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41:14.493" v="982" actId="20577"/>
          <ac:spMkLst>
            <pc:docMk/>
            <pc:sldMk cId="0" sldId="283"/>
            <ac:spMk id="18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40:07.477" v="912" actId="404"/>
          <ac:spMkLst>
            <pc:docMk/>
            <pc:sldMk cId="0" sldId="283"/>
            <ac:spMk id="20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40:07.477" v="912" actId="404"/>
          <ac:spMkLst>
            <pc:docMk/>
            <pc:sldMk cId="0" sldId="283"/>
            <ac:spMk id="21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40:07.477" v="912" actId="404"/>
          <ac:spMkLst>
            <pc:docMk/>
            <pc:sldMk cId="0" sldId="283"/>
            <ac:spMk id="22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40:07.477" v="912" actId="404"/>
          <ac:spMkLst>
            <pc:docMk/>
            <pc:sldMk cId="0" sldId="283"/>
            <ac:spMk id="24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40:10.984" v="913" actId="403"/>
          <ac:spMkLst>
            <pc:docMk/>
            <pc:sldMk cId="0" sldId="283"/>
            <ac:spMk id="28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40:10.984" v="913" actId="403"/>
          <ac:spMkLst>
            <pc:docMk/>
            <pc:sldMk cId="0" sldId="283"/>
            <ac:spMk id="29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40:10.984" v="913" actId="403"/>
          <ac:spMkLst>
            <pc:docMk/>
            <pc:sldMk cId="0" sldId="283"/>
            <ac:spMk id="30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7T02:40:10.984" v="913" actId="403"/>
          <ac:spMkLst>
            <pc:docMk/>
            <pc:sldMk cId="0" sldId="283"/>
            <ac:spMk id="31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7T02:39:57.030" v="909" actId="478"/>
          <ac:spMkLst>
            <pc:docMk/>
            <pc:sldMk cId="0" sldId="283"/>
            <ac:spMk id="32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7T02:39:57.030" v="909" actId="478"/>
          <ac:spMkLst>
            <pc:docMk/>
            <pc:sldMk cId="0" sldId="283"/>
            <ac:spMk id="33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7T02:39:57.030" v="909" actId="478"/>
          <ac:spMkLst>
            <pc:docMk/>
            <pc:sldMk cId="0" sldId="283"/>
            <ac:spMk id="34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7T02:39:57.030" v="909" actId="478"/>
          <ac:spMkLst>
            <pc:docMk/>
            <pc:sldMk cId="0" sldId="283"/>
            <ac:spMk id="35" creationId="{00000000-0000-0000-0000-000000000000}"/>
          </ac:spMkLst>
        </pc:spChg>
        <pc:spChg chg="del">
          <ac:chgData name="Henriley Domingos" userId="2bf35a83-3362-4dee-ab8e-39fcd9a9f5a2" providerId="ADAL" clId="{1DE45DCF-5007-4A92-8F90-1EC75C13C012}" dt="2026-10-07T02:39:57.030" v="909" actId="478"/>
          <ac:spMkLst>
            <pc:docMk/>
            <pc:sldMk cId="0" sldId="283"/>
            <ac:spMk id="36" creationId="{00000000-0000-0000-0000-000000000000}"/>
          </ac:spMkLst>
        </pc:spChg>
        <pc:spChg chg="add mod">
          <ac:chgData name="Henriley Domingos" userId="2bf35a83-3362-4dee-ab8e-39fcd9a9f5a2" providerId="ADAL" clId="{1DE45DCF-5007-4A92-8F90-1EC75C13C012}" dt="2026-10-07T02:42:30.544" v="1081" actId="404"/>
          <ac:spMkLst>
            <pc:docMk/>
            <pc:sldMk cId="0" sldId="283"/>
            <ac:spMk id="39" creationId="{83FB9698-C679-6DB7-9AA1-CD02D19EDE20}"/>
          </ac:spMkLst>
        </pc:spChg>
      </pc:sldChg>
      <pc:sldChg chg="del">
        <pc:chgData name="Henriley Domingos" userId="2bf35a83-3362-4dee-ab8e-39fcd9a9f5a2" providerId="ADAL" clId="{1DE45DCF-5007-4A92-8F90-1EC75C13C012}" dt="2026-10-07T02:47:27.205" v="1084" actId="2696"/>
        <pc:sldMkLst>
          <pc:docMk/>
          <pc:sldMk cId="0" sldId="285"/>
        </pc:sldMkLst>
      </pc:sldChg>
      <pc:sldChg chg="add">
        <pc:chgData name="Henriley Domingos" userId="2bf35a83-3362-4dee-ab8e-39fcd9a9f5a2" providerId="ADAL" clId="{1DE45DCF-5007-4A92-8F90-1EC75C13C012}" dt="2026-10-07T02:47:39.469" v="1085"/>
        <pc:sldMkLst>
          <pc:docMk/>
          <pc:sldMk cId="2751593116" sldId="285"/>
        </pc:sldMkLst>
      </pc:sldChg>
      <pc:sldChg chg="mod modShow">
        <pc:chgData name="Henriley Domingos" userId="2bf35a83-3362-4dee-ab8e-39fcd9a9f5a2" providerId="ADAL" clId="{1DE45DCF-5007-4A92-8F90-1EC75C13C012}" dt="2026-10-07T02:46:58.587" v="1083" actId="729"/>
        <pc:sldMkLst>
          <pc:docMk/>
          <pc:sldMk cId="0" sldId="286"/>
        </pc:sldMkLst>
      </pc:sldChg>
      <pc:sldChg chg="addSp delSp modSp mod">
        <pc:chgData name="Henriley Domingos" userId="2bf35a83-3362-4dee-ab8e-39fcd9a9f5a2" providerId="ADAL" clId="{1DE45DCF-5007-4A92-8F90-1EC75C13C012}" dt="2026-10-06T18:41:13.670" v="296" actId="20577"/>
        <pc:sldMkLst>
          <pc:docMk/>
          <pc:sldMk cId="0" sldId="288"/>
        </pc:sldMkLst>
        <pc:spChg chg="add del mod">
          <ac:chgData name="Henriley Domingos" userId="2bf35a83-3362-4dee-ab8e-39fcd9a9f5a2" providerId="ADAL" clId="{1DE45DCF-5007-4A92-8F90-1EC75C13C012}" dt="2026-10-06T18:35:18.594" v="37" actId="478"/>
          <ac:spMkLst>
            <pc:docMk/>
            <pc:sldMk cId="0" sldId="288"/>
            <ac:spMk id="2" creationId="{E3E9E77D-71E7-FF7D-23CD-D47659D49677}"/>
          </ac:spMkLst>
        </pc:spChg>
        <pc:spChg chg="mod">
          <ac:chgData name="Henriley Domingos" userId="2bf35a83-3362-4dee-ab8e-39fcd9a9f5a2" providerId="ADAL" clId="{1DE45DCF-5007-4A92-8F90-1EC75C13C012}" dt="2026-10-06T18:38:43.117" v="221" actId="20577"/>
          <ac:spMkLst>
            <pc:docMk/>
            <pc:sldMk cId="0" sldId="288"/>
            <ac:spMk id="41" creationId="{9BD51BF2-ADCC-BCFC-A011-BEA80D94C0B8}"/>
          </ac:spMkLst>
        </pc:spChg>
        <pc:spChg chg="mod">
          <ac:chgData name="Henriley Domingos" userId="2bf35a83-3362-4dee-ab8e-39fcd9a9f5a2" providerId="ADAL" clId="{1DE45DCF-5007-4A92-8F90-1EC75C13C012}" dt="2026-10-06T18:32:24.786" v="12" actId="20577"/>
          <ac:spMkLst>
            <pc:docMk/>
            <pc:sldMk cId="0" sldId="288"/>
            <ac:spMk id="106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39:07.452" v="224" actId="20577"/>
          <ac:spMkLst>
            <pc:docMk/>
            <pc:sldMk cId="0" sldId="288"/>
            <ac:spMk id="113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33:43.069" v="14"/>
          <ac:spMkLst>
            <pc:docMk/>
            <pc:sldMk cId="0" sldId="288"/>
            <ac:spMk id="120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1:13.670" v="296" actId="20577"/>
          <ac:spMkLst>
            <pc:docMk/>
            <pc:sldMk cId="0" sldId="288"/>
            <ac:spMk id="127" creationId="{00000000-0000-0000-0000-000000000000}"/>
          </ac:spMkLst>
        </pc:spChg>
        <pc:spChg chg="mod">
          <ac:chgData name="Henriley Domingos" userId="2bf35a83-3362-4dee-ab8e-39fcd9a9f5a2" providerId="ADAL" clId="{1DE45DCF-5007-4A92-8F90-1EC75C13C012}" dt="2026-10-06T18:41:07.952" v="295" actId="20577"/>
          <ac:spMkLst>
            <pc:docMk/>
            <pc:sldMk cId="0" sldId="288"/>
            <ac:spMk id="134" creationId="{00000000-0000-0000-0000-000000000000}"/>
          </ac:spMkLst>
        </pc:spChg>
      </pc:sldChg>
      <pc:sldChg chg="del">
        <pc:chgData name="Henriley Domingos" userId="2bf35a83-3362-4dee-ab8e-39fcd9a9f5a2" providerId="ADAL" clId="{1DE45DCF-5007-4A92-8F90-1EC75C13C012}" dt="2026-10-07T02:47:46.797" v="1086" actId="2696"/>
        <pc:sldMkLst>
          <pc:docMk/>
          <pc:sldMk cId="0" sldId="290"/>
        </pc:sldMkLst>
      </pc:sldChg>
      <pc:sldChg chg="add">
        <pc:chgData name="Henriley Domingos" userId="2bf35a83-3362-4dee-ab8e-39fcd9a9f5a2" providerId="ADAL" clId="{1DE45DCF-5007-4A92-8F90-1EC75C13C012}" dt="2026-10-07T02:48:01.121" v="1087"/>
        <pc:sldMkLst>
          <pc:docMk/>
          <pc:sldMk cId="1779258511" sldId="290"/>
        </pc:sldMkLst>
      </pc:sldChg>
      <pc:sldChg chg="add del">
        <pc:chgData name="Henriley Domingos" userId="2bf35a83-3362-4dee-ab8e-39fcd9a9f5a2" providerId="ADAL" clId="{1DE45DCF-5007-4A92-8F90-1EC75C13C012}" dt="2026-10-06T19:37:17.299" v="805"/>
        <pc:sldMkLst>
          <pc:docMk/>
          <pc:sldMk cId="220896577" sldId="291"/>
        </pc:sldMkLst>
      </pc:sldChg>
      <pc:sldChg chg="add">
        <pc:chgData name="Henriley Domingos" userId="2bf35a83-3362-4dee-ab8e-39fcd9a9f5a2" providerId="ADAL" clId="{1DE45DCF-5007-4A92-8F90-1EC75C13C012}" dt="2026-10-07T02:43:55.803" v="1082"/>
        <pc:sldMkLst>
          <pc:docMk/>
          <pc:sldMk cId="0" sldId="303"/>
        </pc:sldMkLst>
      </pc:sldChg>
      <pc:sldChg chg="add">
        <pc:chgData name="Henriley Domingos" userId="2bf35a83-3362-4dee-ab8e-39fcd9a9f5a2" providerId="ADAL" clId="{1DE45DCF-5007-4A92-8F90-1EC75C13C012}" dt="2026-10-07T03:11:26.761" v="1092"/>
        <pc:sldMkLst>
          <pc:docMk/>
          <pc:sldMk cId="0" sldId="304"/>
        </pc:sldMkLst>
      </pc:sldChg>
      <pc:sldChg chg="add del">
        <pc:chgData name="Henriley Domingos" userId="2bf35a83-3362-4dee-ab8e-39fcd9a9f5a2" providerId="ADAL" clId="{1DE45DCF-5007-4A92-8F90-1EC75C13C012}" dt="2026-10-07T03:11:13.552" v="1091" actId="47"/>
        <pc:sldMkLst>
          <pc:docMk/>
          <pc:sldMk cId="3127423037" sldId="30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Aproveitamento 100%</c:v>
                </c:pt>
              </c:strCache>
            </c:strRef>
          </c:tx>
          <c:spPr>
            <a:ln w="38100">
              <a:solidFill>
                <a:srgbClr val="1A56DB"/>
              </a:solidFill>
            </a:ln>
          </c:spPr>
          <c:marker>
            <c:symbol val="circle"/>
            <c:size val="8"/>
            <c:spPr>
              <a:solidFill>
                <a:srgbClr val="1A56DB"/>
              </a:solidFill>
              <a:ln>
                <a:solidFill>
                  <a:srgbClr val="1A56DB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14171F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0D1-467B-99FB-F76037FBBE64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14171F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0D1-467B-99FB-F76037FBBE64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14171F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0D1-467B-99FB-F76037FBBE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0%</c:v>
                </c:pt>
                <c:pt idx="1">
                  <c:v>10%</c:v>
                </c:pt>
                <c:pt idx="2">
                  <c:v>20%</c:v>
                </c:pt>
                <c:pt idx="3">
                  <c:v>30%</c:v>
                </c:pt>
                <c:pt idx="4">
                  <c:v>40%</c:v>
                </c:pt>
                <c:pt idx="5">
                  <c:v>50%</c:v>
                </c:pt>
                <c:pt idx="6">
                  <c:v>60%</c:v>
                </c:pt>
                <c:pt idx="7">
                  <c:v>70%</c:v>
                </c:pt>
                <c:pt idx="8">
                  <c:v>80%</c:v>
                </c:pt>
                <c:pt idx="9">
                  <c:v>90%</c:v>
                </c:pt>
                <c:pt idx="10">
                  <c:v>100%</c:v>
                </c:pt>
              </c:strCache>
            </c:strRef>
          </c:cat>
          <c:val>
            <c:numRef>
              <c:f>Sheet1!$B$2:$B$12</c:f>
              <c:numCache>
                <c:formatCode>0.0"%"</c:formatCode>
                <c:ptCount val="11"/>
                <c:pt idx="0">
                  <c:v>36.700000000000003</c:v>
                </c:pt>
                <c:pt idx="1">
                  <c:v>36.5</c:v>
                </c:pt>
                <c:pt idx="2">
                  <c:v>36.299999999999997</c:v>
                </c:pt>
                <c:pt idx="3">
                  <c:v>36</c:v>
                </c:pt>
                <c:pt idx="4">
                  <c:v>35.799999999999997</c:v>
                </c:pt>
                <c:pt idx="5">
                  <c:v>35.6</c:v>
                </c:pt>
                <c:pt idx="6">
                  <c:v>35.4</c:v>
                </c:pt>
                <c:pt idx="7">
                  <c:v>35.200000000000003</c:v>
                </c:pt>
                <c:pt idx="8">
                  <c:v>35</c:v>
                </c:pt>
                <c:pt idx="9">
                  <c:v>34.799999999999997</c:v>
                </c:pt>
                <c:pt idx="10">
                  <c:v>34.5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0D1-467B-99FB-F76037FBBE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Aproveitamento 80%</c:v>
                </c:pt>
              </c:strCache>
            </c:strRef>
          </c:tx>
          <c:spPr>
            <a:ln w="38100">
              <a:solidFill>
                <a:srgbClr val="7BA0EA"/>
              </a:solidFill>
            </a:ln>
          </c:spPr>
          <c:marker>
            <c:symbol val="circle"/>
            <c:size val="8"/>
            <c:spPr>
              <a:solidFill>
                <a:srgbClr val="7BA0EA"/>
              </a:solidFill>
              <a:ln>
                <a:solidFill>
                  <a:srgbClr val="7BA0EA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1A56DB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0D1-467B-99FB-F76037FBBE64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1A56DB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0D1-467B-99FB-F76037FBBE64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1A56DB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0D1-467B-99FB-F76037FBBE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0%</c:v>
                </c:pt>
                <c:pt idx="1">
                  <c:v>10%</c:v>
                </c:pt>
                <c:pt idx="2">
                  <c:v>20%</c:v>
                </c:pt>
                <c:pt idx="3">
                  <c:v>30%</c:v>
                </c:pt>
                <c:pt idx="4">
                  <c:v>40%</c:v>
                </c:pt>
                <c:pt idx="5">
                  <c:v>50%</c:v>
                </c:pt>
                <c:pt idx="6">
                  <c:v>60%</c:v>
                </c:pt>
                <c:pt idx="7">
                  <c:v>70%</c:v>
                </c:pt>
                <c:pt idx="8">
                  <c:v>80%</c:v>
                </c:pt>
                <c:pt idx="9">
                  <c:v>90%</c:v>
                </c:pt>
                <c:pt idx="10">
                  <c:v>100%</c:v>
                </c:pt>
              </c:strCache>
            </c:strRef>
          </c:cat>
          <c:val>
            <c:numRef>
              <c:f>Sheet1!$C$2:$C$12</c:f>
              <c:numCache>
                <c:formatCode>0.0"%"</c:formatCode>
                <c:ptCount val="11"/>
                <c:pt idx="0">
                  <c:v>35.4</c:v>
                </c:pt>
                <c:pt idx="1">
                  <c:v>35.200000000000003</c:v>
                </c:pt>
                <c:pt idx="2">
                  <c:v>35</c:v>
                </c:pt>
                <c:pt idx="3">
                  <c:v>34.799999999999997</c:v>
                </c:pt>
                <c:pt idx="4">
                  <c:v>34.5</c:v>
                </c:pt>
                <c:pt idx="5">
                  <c:v>34.299999999999997</c:v>
                </c:pt>
                <c:pt idx="6">
                  <c:v>34.1</c:v>
                </c:pt>
                <c:pt idx="7">
                  <c:v>33.9</c:v>
                </c:pt>
                <c:pt idx="8">
                  <c:v>33.700000000000003</c:v>
                </c:pt>
                <c:pt idx="9">
                  <c:v>33.5</c:v>
                </c:pt>
                <c:pt idx="10">
                  <c:v>33.200000000000003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0D1-467B-99FB-F76037FBBE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Aproveitamento 0%</c:v>
                </c:pt>
              </c:strCache>
            </c:strRef>
          </c:tx>
          <c:spPr>
            <a:ln w="38100">
              <a:solidFill>
                <a:srgbClr val="E07B1A"/>
              </a:solidFill>
            </a:ln>
          </c:spPr>
          <c:marker>
            <c:symbol val="circle"/>
            <c:size val="8"/>
            <c:spPr>
              <a:solidFill>
                <a:srgbClr val="E07B1A"/>
              </a:solidFill>
              <a:ln>
                <a:solidFill>
                  <a:srgbClr val="E07B1A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E07B1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0D1-467B-99FB-F76037FBBE64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E07B1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0D1-467B-99FB-F76037FBBE64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E07B1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0D1-467B-99FB-F76037FBBE6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0%</c:v>
                </c:pt>
                <c:pt idx="1">
                  <c:v>10%</c:v>
                </c:pt>
                <c:pt idx="2">
                  <c:v>20%</c:v>
                </c:pt>
                <c:pt idx="3">
                  <c:v>30%</c:v>
                </c:pt>
                <c:pt idx="4">
                  <c:v>40%</c:v>
                </c:pt>
                <c:pt idx="5">
                  <c:v>50%</c:v>
                </c:pt>
                <c:pt idx="6">
                  <c:v>60%</c:v>
                </c:pt>
                <c:pt idx="7">
                  <c:v>70%</c:v>
                </c:pt>
                <c:pt idx="8">
                  <c:v>80%</c:v>
                </c:pt>
                <c:pt idx="9">
                  <c:v>90%</c:v>
                </c:pt>
                <c:pt idx="10">
                  <c:v>100%</c:v>
                </c:pt>
              </c:strCache>
            </c:strRef>
          </c:cat>
          <c:val>
            <c:numRef>
              <c:f>Sheet1!$D$2:$D$12</c:f>
              <c:numCache>
                <c:formatCode>0.0"%"</c:formatCode>
                <c:ptCount val="11"/>
                <c:pt idx="0">
                  <c:v>30.2</c:v>
                </c:pt>
                <c:pt idx="1">
                  <c:v>30</c:v>
                </c:pt>
                <c:pt idx="2">
                  <c:v>29.8</c:v>
                </c:pt>
                <c:pt idx="3">
                  <c:v>29.6</c:v>
                </c:pt>
                <c:pt idx="4">
                  <c:v>29.4</c:v>
                </c:pt>
                <c:pt idx="5">
                  <c:v>29.1</c:v>
                </c:pt>
                <c:pt idx="6">
                  <c:v>28.9</c:v>
                </c:pt>
                <c:pt idx="7">
                  <c:v>28.7</c:v>
                </c:pt>
                <c:pt idx="8">
                  <c:v>28.5</c:v>
                </c:pt>
                <c:pt idx="9">
                  <c:v>28.3</c:v>
                </c:pt>
                <c:pt idx="10">
                  <c:v>28.1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A0D1-467B-99FB-F76037FBBE6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Teto recomendado (38,0%)</c:v>
                </c:pt>
              </c:strCache>
            </c:strRef>
          </c:tx>
          <c:spPr>
            <a:ln w="25400">
              <a:solidFill>
                <a:srgbClr val="7B8089"/>
              </a:solidFill>
              <a:prstDash val="dash"/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0%</c:v>
                </c:pt>
                <c:pt idx="1">
                  <c:v>10%</c:v>
                </c:pt>
                <c:pt idx="2">
                  <c:v>20%</c:v>
                </c:pt>
                <c:pt idx="3">
                  <c:v>30%</c:v>
                </c:pt>
                <c:pt idx="4">
                  <c:v>40%</c:v>
                </c:pt>
                <c:pt idx="5">
                  <c:v>50%</c:v>
                </c:pt>
                <c:pt idx="6">
                  <c:v>60%</c:v>
                </c:pt>
                <c:pt idx="7">
                  <c:v>70%</c:v>
                </c:pt>
                <c:pt idx="8">
                  <c:v>80%</c:v>
                </c:pt>
                <c:pt idx="9">
                  <c:v>90%</c:v>
                </c:pt>
                <c:pt idx="10">
                  <c:v>100%</c:v>
                </c:pt>
              </c:strCache>
            </c:strRef>
          </c:cat>
          <c:val>
            <c:numRef>
              <c:f>Sheet1!$E$2:$E$12</c:f>
              <c:numCache>
                <c:formatCode>0.0"%"</c:formatCode>
                <c:ptCount val="11"/>
                <c:pt idx="0">
                  <c:v>38</c:v>
                </c:pt>
                <c:pt idx="1">
                  <c:v>38</c:v>
                </c:pt>
                <c:pt idx="2">
                  <c:v>38</c:v>
                </c:pt>
                <c:pt idx="3">
                  <c:v>38</c:v>
                </c:pt>
                <c:pt idx="4">
                  <c:v>38</c:v>
                </c:pt>
                <c:pt idx="5">
                  <c:v>38</c:v>
                </c:pt>
                <c:pt idx="6">
                  <c:v>38</c:v>
                </c:pt>
                <c:pt idx="7">
                  <c:v>38</c:v>
                </c:pt>
                <c:pt idx="8">
                  <c:v>38</c:v>
                </c:pt>
                <c:pt idx="9">
                  <c:v>38</c:v>
                </c:pt>
                <c:pt idx="10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A0D1-467B-99FB-F76037FBBE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pt-BR" sz="1300" b="0"/>
                  <a:t>% do RTP repassado ao shopper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C7CBD1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0"/>
          <c:min val="26"/>
        </c:scaling>
        <c:delete val="0"/>
        <c:axPos val="l"/>
        <c:majorGridlines>
          <c:spPr>
            <a:ln>
              <a:solidFill>
                <a:srgbClr val="EEF0F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pt-BR" sz="1300" b="0"/>
                  <a:t>Margem bruta resultante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  <c:majorUnit val="2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pt-BR"/>
        </a:p>
      </c:txPr>
    </c:legend>
    <c:plotVisOnly val="1"/>
    <c:dispBlanksAs val="gap"/>
    <c:showDLblsOverMax val="0"/>
  </c:chart>
  <c:txPr>
    <a:bodyPr/>
    <a:lstStyle/>
    <a:p>
      <a:pPr>
        <a:defRPr sz="1300">
          <a:solidFill>
            <a:srgbClr val="5B64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499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Parte 2. Quarenta e cinco minutos. O que se decide hoje é mecânica.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8F628-D8D3-FD7C-6B60-B5C09112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705A7F-5D48-E0AF-0642-0121801DB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23AFF-929C-E9A9-6AE4-9037ABC26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distinção define o que esta reunião pode decidir.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F00CD-F2C3-C0AF-F109-3C1F13ADF9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6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Só o conceito das três camadas. A governança de cada pilar vem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Política pura, sem desconto de transição. Totais são descontos acumulados sobre a 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38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Mix jan–mai/26 (total): Golden 61%, Premier 34%, Nattu 3%, secos 96%. Cada 10 p.p. de Golden para Premier vale ~+0,1 a 0,2 p.p. de margem líquida no canal; Nattu triplicando (sobre Golden) vale ~+0,35 p.p. no VD Super GG. Linha de MB ponderada por SKU × UF (inclui 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Hoje (real) sai e entra a política potencial futura. Os valores reais de hoje ficam no rodapé: pet shop 27,032,0% (média 30,1%); distribuidor 23,533,8% (média 28,6%).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Boxplot por distribuidor. A dispersão cai muito no cenário To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novo. Mesma leitura dos dois seguintes, em margem líquida. Cenários calculados em margem líquida com a mesma fórmula dos slides seguintes; teto em ML ainda a definir.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Mesma leitura em mark-up sobre o preço de compra. Teto VD = faixa acordada 60/55/50/45.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brand_premier_w.png"/><Relationship Id="rId6" Type="http://schemas.openxmlformats.org/officeDocument/2006/relationships/image" Target="../media/brand_doc_w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brand_premier.png"/><Relationship Id="rId4" Type="http://schemas.openxmlformats.org/officeDocument/2006/relationships/image" Target="../media/brand_doc.png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brand_premier.png"/><Relationship Id="rId7" Type="http://schemas.openxmlformats.org/officeDocument/2006/relationships/image" Target="../media/brand_doc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brand_premier.png"/><Relationship Id="rId4" Type="http://schemas.openxmlformats.org/officeDocument/2006/relationships/image" Target="../media/brand_doc.png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brand_premier.png"/><Relationship Id="rId4" Type="http://schemas.openxmlformats.org/officeDocument/2006/relationships/image" Target="../media/brand_doc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brand_premier.png"/><Relationship Id="rId4" Type="http://schemas.openxmlformats.org/officeDocument/2006/relationships/image" Target="../media/brand_doc.png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brand_premier.png"/><Relationship Id="rId4" Type="http://schemas.openxmlformats.org/officeDocument/2006/relationships/image" Target="../media/brand_doc.png"/></Relationships>
</file>

<file path=ppt/slides/_rels/slide1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brand_premier.png"/><Relationship Id="rId6" Type="http://schemas.openxmlformats.org/officeDocument/2006/relationships/image" Target="../media/brand_doc.png"/></Relationships>
</file>

<file path=ppt/slides/_rels/slide23.xml.rels><?xml version='1.0' encoding='UTF-8' standalone='yes'?>
<Relationships xmlns="http://schemas.openxmlformats.org/package/2006/relationships"><Relationship Id="rId3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24.xml.rels><?xml version='1.0' encoding='UTF-8' standalone='yes'?>
<Relationships xmlns="http://schemas.openxmlformats.org/package/2006/relationships"><Relationship Id="rId3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25.xml.rels><?xml version='1.0' encoding='UTF-8' standalone='yes'?>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brand_premier.png"/><Relationship Id="rId4" Type="http://schemas.openxmlformats.org/officeDocument/2006/relationships/image" Target="../media/brand_doc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brand_premier_w.png"/><Relationship Id="rId4" Type="http://schemas.openxmlformats.org/officeDocument/2006/relationships/image" Target="../media/brand_doc_w.png"/></Relationships>
</file>

<file path=ppt/slides/_rels/slide28.xml.rels><?xml version='1.0' encoding='UTF-8' standalone='yes'?>
<Relationships xmlns="http://schemas.openxmlformats.org/package/2006/relationships"><Relationship Id="rId3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2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3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brand_premier.png"/><Relationship Id="rId5" Type="http://schemas.openxmlformats.org/officeDocument/2006/relationships/image" Target="../media/brand_doc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brand_premier.png"/><Relationship Id="rId4" Type="http://schemas.openxmlformats.org/officeDocument/2006/relationships/image" Target="../media/brand_doc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1" name="Fundo gradient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50E2A"/>
              </a:gs>
              <a:gs pos="55000">
                <a:srgbClr val="0A1D5C"/>
              </a:gs>
              <a:gs pos="100000">
                <a:srgbClr val="0E2F8A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02" name="Logo PremieRpet" descr="Logo PremieRp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90789" y="841248"/>
            <a:ext cx="2070384" cy="381030"/>
          </a:xfrm>
          <a:prstGeom prst="rect">
            <a:avLst/>
          </a:prstGeom>
        </p:spPr>
      </p:pic>
      <p:sp>
        <p:nvSpPr>
          <p:cNvPr id="5003" name="Divisor logos"/>
          <p:cNvSpPr/>
          <p:nvPr/>
        </p:nvSpPr>
        <p:spPr>
          <a:xfrm>
            <a:off x="15270571" y="894603"/>
            <a:ext cx="951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04" name="Logo DOC Consulting" descr="Logo DOC Consult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89479" y="869823"/>
            <a:ext cx="2039569" cy="323880"/>
          </a:xfrm>
          <a:prstGeom prst="rect">
            <a:avLst/>
          </a:prstGeom>
        </p:spPr>
      </p:pic>
      <p:sp>
        <p:nvSpPr>
          <p:cNvPr id="5005" name="Título"/>
          <p:cNvSpPr txBox="1"/>
          <p:nvPr/>
        </p:nvSpPr>
        <p:spPr>
          <a:xfrm>
            <a:off x="758952" y="3246120"/>
            <a:ext cx="14264640" cy="21945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pt-BR" sz="7200" b="1" spc="-14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Tabela, camadas de remuneração e pocket price</a:t>
            </a:r>
          </a:p>
        </p:txBody>
      </p:sp>
      <p:sp>
        <p:nvSpPr>
          <p:cNvPr id="5006" name="Subtítulo"/>
          <p:cNvSpPr txBox="1"/>
          <p:nvPr/>
        </p:nvSpPr>
        <p:spPr>
          <a:xfrm>
            <a:off x="758952" y="5669280"/>
            <a:ext cx="13716000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pt-BR" sz="3000" dirty="0">
                <a:solidFill>
                  <a:srgbClr val="9BB5EF"/>
                </a:solidFill>
                <a:latin typeface="Arial"/>
                <a:ea typeface="Arial"/>
                <a:cs typeface="Arial"/>
              </a:rPr>
              <a:t>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1">
            <a:extLst>
              <a:ext uri="{FF2B5EF4-FFF2-40B4-BE49-F238E27FC236}">
                <a16:creationId xmlns:a16="http://schemas.microsoft.com/office/drawing/2014/main" id="{B2B0B262-9E65-2563-5290-04F5F206B605}"/>
              </a:ext>
            </a:extLst>
          </p:cNvPr>
          <p:cNvSpPr/>
          <p:nvPr/>
        </p:nvSpPr>
        <p:spPr>
          <a:xfrm>
            <a:off x="758952" y="747356"/>
            <a:ext cx="13368528" cy="62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4200" b="1" kern="0" spc="-63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Como as frentes do projeto se encontram</a:t>
            </a:r>
            <a:endParaRPr lang="en-US" sz="4200"/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9BD51BF2-ADCC-BCFC-A011-BEA80D94C0B8}"/>
              </a:ext>
            </a:extLst>
          </p:cNvPr>
          <p:cNvSpPr/>
          <p:nvPr/>
        </p:nvSpPr>
        <p:spPr>
          <a:xfrm>
            <a:off x="762000" y="1404581"/>
            <a:ext cx="163449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pt-BR" sz="165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frente fecha um tema; o impacto econômico da Premier só entra por último, com as demais frentes aprovadas</a:t>
            </a:r>
          </a:p>
          <a:p>
            <a:pPr marL="0" indent="0" algn="l">
              <a:lnSpc>
                <a:spcPct val="120312"/>
              </a:lnSpc>
              <a:buNone/>
            </a:pPr>
            <a:endParaRPr lang="pt-BR" sz="1650" i="1">
              <a:solidFill>
                <a:srgbClr val="888D9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1" name="Card 1"/>
          <p:cNvSpPr/>
          <p:nvPr/>
        </p:nvSpPr>
        <p:spPr>
          <a:xfrm>
            <a:off x="762000" y="2150000"/>
            <a:ext cx="3966000" cy="3900000"/>
          </a:xfrm>
          <a:prstGeom prst="roundRect">
            <a:avLst>
              <a:gd name="adj" fmla="val 2813"/>
            </a:avLst>
          </a:prstGeom>
          <a:solidFill>
            <a:srgbClr val="7BA0E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2" name="Frente 1 rótulo"/>
          <p:cNvSpPr txBox="1"/>
          <p:nvPr/>
        </p:nvSpPr>
        <p:spPr>
          <a:xfrm>
            <a:off x="1062000" y="2430000"/>
            <a:ext cx="3366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300" b="1" spc="150">
                <a:solidFill>
                  <a:srgbClr val="0A1D5C"/>
                </a:solidFill>
                <a:latin typeface="Arial" pitchFamily="34" charset="0"/>
                <a:cs typeface="Arial" pitchFamily="34" charset="-120"/>
              </a:rPr>
              <a:t>FRENTE 1  ·  13/10</a:t>
            </a:r>
          </a:p>
        </p:txBody>
      </p:sp>
      <p:sp>
        <p:nvSpPr>
          <p:cNvPr id="103" name="Frente 1 título"/>
          <p:cNvSpPr txBox="1"/>
          <p:nvPr/>
        </p:nvSpPr>
        <p:spPr>
          <a:xfrm>
            <a:off x="1062000" y="2800000"/>
            <a:ext cx="3366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Aft>
                <a:spcPts val="0"/>
              </a:spcAft>
              <a:buNone/>
            </a:pPr>
            <a:r>
              <a:rPr lang="pt-BR" sz="2200" b="1">
                <a:solidFill>
                  <a:srgbClr val="0A1D5C"/>
                </a:solidFill>
                <a:latin typeface="Arial" pitchFamily="34" charset="0"/>
                <a:cs typeface="Arial" pitchFamily="34" charset="-120"/>
              </a:rPr>
              <a:t>Política comercial</a:t>
            </a:r>
          </a:p>
        </p:txBody>
      </p:sp>
      <p:sp>
        <p:nvSpPr>
          <p:cNvPr id="104" name="Frente 1 subtítulo"/>
          <p:cNvSpPr txBox="1"/>
          <p:nvPr/>
        </p:nvSpPr>
        <p:spPr>
          <a:xfrm>
            <a:off x="1062000" y="3600000"/>
            <a:ext cx="3366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500" i="1">
                <a:solidFill>
                  <a:srgbClr val="0A1D5C"/>
                </a:solidFill>
                <a:latin typeface="Arial" pitchFamily="34" charset="0"/>
                <a:cs typeface="Arial" pitchFamily="34" charset="-120"/>
              </a:rPr>
              <a:t>Tabela, camadas e parâmetros</a:t>
            </a:r>
          </a:p>
        </p:txBody>
      </p:sp>
      <p:sp>
        <p:nvSpPr>
          <p:cNvPr id="105" name="Frente 1 itens"/>
          <p:cNvSpPr txBox="1"/>
          <p:nvPr/>
        </p:nvSpPr>
        <p:spPr>
          <a:xfrm>
            <a:off x="1062000" y="4150000"/>
            <a:ext cx="3366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lang="pt-BR" sz="1500">
                <a:solidFill>
                  <a:srgbClr val="0A1D5C"/>
                </a:solidFill>
                <a:latin typeface="Arial" pitchFamily="34" charset="0"/>
                <a:cs typeface="Arial" pitchFamily="34" charset="-120"/>
              </a:rPr>
              <a:t>Regras de remuneração, metas e percentuais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lang="pt-BR" sz="1500">
                <a:solidFill>
                  <a:srgbClr val="0A1D5C"/>
                </a:solidFill>
                <a:latin typeface="Arial" pitchFamily="34" charset="0"/>
                <a:cs typeface="Arial" pitchFamily="34" charset="-120"/>
              </a:rPr>
              <a:t>Simulação do resultado do cliente, não da Premier</a:t>
            </a:r>
          </a:p>
        </p:txBody>
      </p:sp>
      <p:sp>
        <p:nvSpPr>
          <p:cNvPr id="106" name="Selo atual"/>
          <p:cNvSpPr/>
          <p:nvPr/>
        </p:nvSpPr>
        <p:spPr>
          <a:xfrm>
            <a:off x="1062000" y="5510000"/>
            <a:ext cx="2350000" cy="33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7" name="Selo atual texto"/>
          <p:cNvSpPr txBox="1"/>
          <p:nvPr/>
        </p:nvSpPr>
        <p:spPr>
          <a:xfrm>
            <a:off x="1062000" y="5510000"/>
            <a:ext cx="2350000" cy="330000"/>
          </a:xfrm>
          <a:prstGeom prst="rect">
            <a:avLst/>
          </a:prstGeom>
          <a:noFill/>
          <a:ln/>
        </p:spPr>
        <p:txBody>
          <a:bodyPr wrap="square" lIns="10000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100" b="1" spc="10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ESTA APRESENTAÇÃO</a:t>
            </a:r>
          </a:p>
        </p:txBody>
      </p:sp>
      <p:sp>
        <p:nvSpPr>
          <p:cNvPr id="108" name="Card 2"/>
          <p:cNvSpPr/>
          <p:nvPr/>
        </p:nvSpPr>
        <p:spPr>
          <a:xfrm>
            <a:off x="5028000" y="2150000"/>
            <a:ext cx="3966000" cy="390000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9" name="Frente 2 rótulo"/>
          <p:cNvSpPr txBox="1"/>
          <p:nvPr/>
        </p:nvSpPr>
        <p:spPr>
          <a:xfrm>
            <a:off x="5328000" y="2430000"/>
            <a:ext cx="3366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300" b="1" spc="150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FRENTE 2  ·  14/10</a:t>
            </a:r>
          </a:p>
        </p:txBody>
      </p:sp>
      <p:sp>
        <p:nvSpPr>
          <p:cNvPr id="110" name="Frente 2 título"/>
          <p:cNvSpPr txBox="1"/>
          <p:nvPr/>
        </p:nvSpPr>
        <p:spPr>
          <a:xfrm>
            <a:off x="5328000" y="2800000"/>
            <a:ext cx="3366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Aft>
                <a:spcPts val="0"/>
              </a:spcAft>
              <a:buNone/>
            </a:pPr>
            <a:r>
              <a:rPr lang="pt-BR" sz="2200" b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Economia dos canais</a:t>
            </a:r>
          </a:p>
        </p:txBody>
      </p:sp>
      <p:sp>
        <p:nvSpPr>
          <p:cNvPr id="111" name="Frente 2 subtítulo"/>
          <p:cNvSpPr txBox="1"/>
          <p:nvPr/>
        </p:nvSpPr>
        <p:spPr>
          <a:xfrm>
            <a:off x="5328000" y="3600000"/>
            <a:ext cx="3366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500" i="1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Canal indireto (VI)</a:t>
            </a:r>
          </a:p>
        </p:txBody>
      </p:sp>
      <p:sp>
        <p:nvSpPr>
          <p:cNvPr id="112" name="Frente 2 itens"/>
          <p:cNvSpPr txBox="1"/>
          <p:nvPr/>
        </p:nvSpPr>
        <p:spPr>
          <a:xfrm>
            <a:off x="5328000" y="4150000"/>
            <a:ext cx="3366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lang="pt-BR" sz="150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Custos e economia do distribuidor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lang="pt-BR" sz="150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Resposta à queixa de margem do distribuidor</a:t>
            </a:r>
          </a:p>
        </p:txBody>
      </p:sp>
      <p:sp>
        <p:nvSpPr>
          <p:cNvPr id="113" name="Card 3"/>
          <p:cNvSpPr/>
          <p:nvPr/>
        </p:nvSpPr>
        <p:spPr>
          <a:xfrm>
            <a:off x="9294000" y="2150000"/>
            <a:ext cx="3966000" cy="390000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4" name="Frente 3 rótulo"/>
          <p:cNvSpPr txBox="1"/>
          <p:nvPr/>
        </p:nvSpPr>
        <p:spPr>
          <a:xfrm>
            <a:off x="9594000" y="2430000"/>
            <a:ext cx="3366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300" b="1" spc="150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FRENTE 3  ·  21/10</a:t>
            </a:r>
          </a:p>
        </p:txBody>
      </p:sp>
      <p:sp>
        <p:nvSpPr>
          <p:cNvPr id="115" name="Frente 3 título"/>
          <p:cNvSpPr txBox="1"/>
          <p:nvPr/>
        </p:nvSpPr>
        <p:spPr>
          <a:xfrm>
            <a:off x="9594000" y="2800000"/>
            <a:ext cx="3366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Aft>
                <a:spcPts val="0"/>
              </a:spcAft>
              <a:buNone/>
            </a:pPr>
            <a:r>
              <a:rPr lang="pt-BR" sz="2200" b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Banda, RTP e incentivo ao shopper</a:t>
            </a:r>
          </a:p>
        </p:txBody>
      </p:sp>
      <p:sp>
        <p:nvSpPr>
          <p:cNvPr id="116" name="Frente 3 subtítulo"/>
          <p:cNvSpPr txBox="1"/>
          <p:nvPr/>
        </p:nvSpPr>
        <p:spPr>
          <a:xfrm>
            <a:off x="9594000" y="3600000"/>
            <a:ext cx="3366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500" i="1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Implementação e repasse</a:t>
            </a:r>
          </a:p>
        </p:txBody>
      </p:sp>
      <p:sp>
        <p:nvSpPr>
          <p:cNvPr id="117" name="Frente 3 itens"/>
          <p:cNvSpPr txBox="1"/>
          <p:nvPr/>
        </p:nvSpPr>
        <p:spPr>
          <a:xfrm>
            <a:off x="9594000" y="4150000"/>
            <a:ext cx="3366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lang="pt-BR" sz="150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Repasse do RTP e cenários quantitativos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lang="pt-BR" sz="150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Mecânica nos modelos de governança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lang="pt-BR" sz="150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ROI e break-even</a:t>
            </a:r>
          </a:p>
        </p:txBody>
      </p:sp>
      <p:sp>
        <p:nvSpPr>
          <p:cNvPr id="118" name="Card 4"/>
          <p:cNvSpPr/>
          <p:nvPr/>
        </p:nvSpPr>
        <p:spPr>
          <a:xfrm>
            <a:off x="13560000" y="2150000"/>
            <a:ext cx="3966000" cy="390000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9" name="Frente 4 rótulo"/>
          <p:cNvSpPr txBox="1"/>
          <p:nvPr/>
        </p:nvSpPr>
        <p:spPr>
          <a:xfrm>
            <a:off x="13860000" y="2430000"/>
            <a:ext cx="3366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300" b="1" spc="150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FRENTE 4  ·  29/10</a:t>
            </a:r>
          </a:p>
        </p:txBody>
      </p:sp>
      <p:sp>
        <p:nvSpPr>
          <p:cNvPr id="120" name="Frente 4 título"/>
          <p:cNvSpPr txBox="1"/>
          <p:nvPr/>
        </p:nvSpPr>
        <p:spPr>
          <a:xfrm>
            <a:off x="13860000" y="2800000"/>
            <a:ext cx="3366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Aft>
                <a:spcPts val="0"/>
              </a:spcAft>
              <a:buNone/>
            </a:pPr>
            <a:r>
              <a:rPr lang="pt-BR" sz="2200" b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Governança e operação</a:t>
            </a:r>
          </a:p>
        </p:txBody>
      </p:sp>
      <p:sp>
        <p:nvSpPr>
          <p:cNvPr id="121" name="Frente 4 subtítulo"/>
          <p:cNvSpPr txBox="1"/>
          <p:nvPr/>
        </p:nvSpPr>
        <p:spPr>
          <a:xfrm>
            <a:off x="13860000" y="3600000"/>
            <a:ext cx="3366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500" i="1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Fluxo de ponta a ponta</a:t>
            </a:r>
          </a:p>
        </p:txBody>
      </p:sp>
      <p:sp>
        <p:nvSpPr>
          <p:cNvPr id="122" name="Frente 4 itens"/>
          <p:cNvSpPr txBox="1"/>
          <p:nvPr/>
        </p:nvSpPr>
        <p:spPr>
          <a:xfrm>
            <a:off x="13860000" y="4150000"/>
            <a:ext cx="3366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lang="pt-BR" sz="150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Impactos de TI e alçadas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lang="pt-BR" sz="150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Metas, guardrails e trava de complexidade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lang="pt-BR" sz="150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Apuração, pagamento e exceções</a:t>
            </a:r>
          </a:p>
        </p:txBody>
      </p:sp>
      <p:sp>
        <p:nvSpPr>
          <p:cNvPr id="123" name="Conector"/>
          <p:cNvSpPr/>
          <p:nvPr/>
        </p:nvSpPr>
        <p:spPr>
          <a:xfrm>
            <a:off x="2735475" y="6050000"/>
            <a:ext cx="19050" cy="35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4" name="Conector"/>
          <p:cNvSpPr/>
          <p:nvPr/>
        </p:nvSpPr>
        <p:spPr>
          <a:xfrm>
            <a:off x="7001475" y="6050000"/>
            <a:ext cx="19050" cy="35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5" name="Conector"/>
          <p:cNvSpPr/>
          <p:nvPr/>
        </p:nvSpPr>
        <p:spPr>
          <a:xfrm>
            <a:off x="11267475" y="6050000"/>
            <a:ext cx="19050" cy="35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6" name="Conector"/>
          <p:cNvSpPr/>
          <p:nvPr/>
        </p:nvSpPr>
        <p:spPr>
          <a:xfrm>
            <a:off x="15533475" y="6050000"/>
            <a:ext cx="19050" cy="35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7" name="Barra de convergência"/>
          <p:cNvSpPr/>
          <p:nvPr/>
        </p:nvSpPr>
        <p:spPr>
          <a:xfrm>
            <a:off x="2735475" y="6390475"/>
            <a:ext cx="12817050" cy="1905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8" name="Conector central"/>
          <p:cNvSpPr/>
          <p:nvPr/>
        </p:nvSpPr>
        <p:spPr>
          <a:xfrm>
            <a:off x="9134475" y="6400000"/>
            <a:ext cx="19050" cy="3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9" name="Seta"/>
          <p:cNvSpPr/>
          <p:nvPr/>
        </p:nvSpPr>
        <p:spPr>
          <a:xfrm flipV="1">
            <a:off x="9004000" y="6770000"/>
            <a:ext cx="280000" cy="160000"/>
          </a:xfrm>
          <a:prstGeom prst="triangle">
            <a:avLst/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0" name="Card 5"/>
          <p:cNvSpPr/>
          <p:nvPr/>
        </p:nvSpPr>
        <p:spPr>
          <a:xfrm>
            <a:off x="762000" y="7000000"/>
            <a:ext cx="16764000" cy="1850000"/>
          </a:xfrm>
          <a:prstGeom prst="roundRect">
            <a:avLst>
              <a:gd name="adj" fmla="val 5931"/>
            </a:avLst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1" name="Frente 5 rótulo"/>
          <p:cNvSpPr txBox="1"/>
          <p:nvPr/>
        </p:nvSpPr>
        <p:spPr>
          <a:xfrm>
            <a:off x="1182000" y="7300000"/>
            <a:ext cx="8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300" b="1" spc="15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FRENTE 5  ·  30/10</a:t>
            </a:r>
          </a:p>
        </p:txBody>
      </p:sp>
      <p:sp>
        <p:nvSpPr>
          <p:cNvPr id="132" name="Frente 5 título"/>
          <p:cNvSpPr txBox="1"/>
          <p:nvPr/>
        </p:nvSpPr>
        <p:spPr>
          <a:xfrm>
            <a:off x="1182000" y="7680000"/>
            <a:ext cx="8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30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Business case</a:t>
            </a:r>
          </a:p>
        </p:txBody>
      </p:sp>
      <p:sp>
        <p:nvSpPr>
          <p:cNvPr id="133" name="Frente 5 descrição"/>
          <p:cNvSpPr txBox="1"/>
          <p:nvPr/>
        </p:nvSpPr>
        <p:spPr>
          <a:xfrm>
            <a:off x="1182000" y="8230000"/>
            <a:ext cx="82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Impacto econômico da Premier, com as frentes 1 a 4 já aprovadas</a:t>
            </a:r>
          </a:p>
        </p:txBody>
      </p:sp>
      <p:sp>
        <p:nvSpPr>
          <p:cNvPr id="134" name="Divisor"/>
          <p:cNvSpPr/>
          <p:nvPr/>
        </p:nvSpPr>
        <p:spPr>
          <a:xfrm>
            <a:off x="9650000" y="7300000"/>
            <a:ext cx="9525" cy="1250000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5" name="Depois do business case"/>
          <p:cNvSpPr txBox="1"/>
          <p:nvPr/>
        </p:nvSpPr>
        <p:spPr>
          <a:xfrm>
            <a:off x="9950000" y="7300000"/>
            <a:ext cx="7300000" cy="1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pt-BR" sz="1300" b="1" spc="15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DEPOIS DO BUSINESS CASE</a:t>
            </a:r>
          </a:p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lang="pt-BR" sz="170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Validar o RACI de sustentação</a:t>
            </a:r>
          </a:p>
          <a:p>
            <a:pPr marL="228600" indent="-228600" algn="l">
              <a:spcAft>
                <a:spcPts val="0"/>
              </a:spcAft>
              <a:buFont typeface="Arial"/>
              <a:buChar char="•"/>
            </a:pPr>
            <a:r>
              <a:rPr lang="pt-BR" sz="170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Construir o treinamento</a:t>
            </a:r>
          </a:p>
        </p:txBody>
      </p:sp>
      <p:sp>
        <p:nvSpPr>
          <p:cNvPr id="25" name="Text 23"/>
          <p:cNvSpPr/>
          <p:nvPr/>
        </p:nvSpPr>
        <p:spPr>
          <a:xfrm>
            <a:off x="762000" y="9729788"/>
            <a:ext cx="154411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das reuniões de outubro de 2026. Esta apresentação cobre só a Frente 1: as simulações mostram o resultado do cliente, não o da Premier.</a:t>
            </a:r>
            <a:endParaRPr lang="en-US" sz="1125"/>
          </a:p>
        </p:txBody>
      </p:sp>
      <p:pic>
        <p:nvPicPr>
          <p:cNvPr id="5007" name="Logo PremieRpet" descr="Logo PremieRp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008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09" name="Logo DOC Consulting" descr="Logo DOC Consul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010" name="Número da página"/>
          <p:cNvSpPr txBox="1"/>
          <p:nvPr/>
        </p:nvSpPr>
        <p:spPr>
          <a:xfrm>
            <a:off x="16340328" y="972978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125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EF57EE-6C81-41EF-4DD8-167649CBE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804CCC-8860-EC97-57AC-F8AAA9DD48F6}"/>
              </a:ext>
            </a:extLst>
          </p:cNvPr>
          <p:cNvSpPr/>
          <p:nvPr/>
        </p:nvSpPr>
        <p:spPr>
          <a:xfrm>
            <a:off x="758952" y="685800"/>
            <a:ext cx="1336852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4200" b="1" kern="0" spc="-63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r>
              <a:rPr lang="en-US" sz="4200" b="1" kern="0" spc="-63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</a:t>
            </a:r>
            <a:r>
              <a:rPr lang="en-US" sz="4200" b="1" kern="0" spc="-63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reunião</a:t>
            </a:r>
            <a:endParaRPr lang="en-US" sz="4200"/>
          </a:p>
        </p:txBody>
      </p:sp>
      <p:sp>
        <p:nvSpPr>
          <p:cNvPr id="5011" name="Card tabela"/>
          <p:cNvSpPr/>
          <p:nvPr/>
        </p:nvSpPr>
        <p:spPr>
          <a:xfrm>
            <a:off x="758952" y="1874520"/>
            <a:ext cx="16770096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2" name="Cab. BLOCO"/>
          <p:cNvSpPr txBox="1"/>
          <p:nvPr/>
        </p:nvSpPr>
        <p:spPr>
          <a:xfrm>
            <a:off x="1097280" y="2130552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pt-BR" sz="1125" b="1" spc="10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BLOCO</a:t>
            </a:r>
          </a:p>
        </p:txBody>
      </p:sp>
      <p:sp>
        <p:nvSpPr>
          <p:cNvPr id="5013" name="Cab. COMPONENTE"/>
          <p:cNvSpPr txBox="1"/>
          <p:nvPr/>
        </p:nvSpPr>
        <p:spPr>
          <a:xfrm>
            <a:off x="4160520" y="2130552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pt-BR" sz="1125" b="1" spc="10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COMPONENTE</a:t>
            </a:r>
          </a:p>
        </p:txBody>
      </p:sp>
      <p:sp>
        <p:nvSpPr>
          <p:cNvPr id="5014" name="Cab. ATIVIDADE"/>
          <p:cNvSpPr txBox="1"/>
          <p:nvPr/>
        </p:nvSpPr>
        <p:spPr>
          <a:xfrm>
            <a:off x="7406640" y="2130552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pt-BR" sz="1125" b="1" spc="10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ATIVIDADE</a:t>
            </a:r>
          </a:p>
        </p:txBody>
      </p:sp>
      <p:sp>
        <p:nvSpPr>
          <p:cNvPr id="5015" name="Cab. ENTREGÁVEL"/>
          <p:cNvSpPr txBox="1"/>
          <p:nvPr/>
        </p:nvSpPr>
        <p:spPr>
          <a:xfrm>
            <a:off x="12390120" y="2130552"/>
            <a:ext cx="48371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pt-BR" sz="1125" b="1" spc="10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ENTREGÁVEL</a:t>
            </a:r>
          </a:p>
        </p:txBody>
      </p:sp>
      <p:sp>
        <p:nvSpPr>
          <p:cNvPr id="5016" name="Linha cabeçalho"/>
          <p:cNvSpPr/>
          <p:nvPr/>
        </p:nvSpPr>
        <p:spPr>
          <a:xfrm>
            <a:off x="987552" y="2478024"/>
            <a:ext cx="16312896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7" name="Destaque esta apresentação"/>
          <p:cNvSpPr/>
          <p:nvPr/>
        </p:nvSpPr>
        <p:spPr>
          <a:xfrm>
            <a:off x="4050792" y="2496312"/>
            <a:ext cx="13249656" cy="132588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8" name="Bloco"/>
          <p:cNvSpPr txBox="1"/>
          <p:nvPr/>
        </p:nvSpPr>
        <p:spPr>
          <a:xfrm>
            <a:off x="1097280" y="2660904"/>
            <a:ext cx="2788920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pt-BR" sz="1500" b="1" dirty="0">
                <a:solidFill>
                  <a:srgbClr val="14171F"/>
                </a:solidFill>
                <a:latin typeface="Arial"/>
                <a:ea typeface="Arial"/>
                <a:cs typeface="Arial"/>
              </a:rPr>
              <a:t>1. Política comercial: tabela, camadas e parâmetros</a:t>
            </a:r>
          </a:p>
        </p:txBody>
      </p:sp>
      <p:sp>
        <p:nvSpPr>
          <p:cNvPr id="5019" name="Componente"/>
          <p:cNvSpPr txBox="1"/>
          <p:nvPr/>
        </p:nvSpPr>
        <p:spPr>
          <a:xfrm>
            <a:off x="4160520" y="2660904"/>
            <a:ext cx="2971800" cy="1051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pt-BR" sz="1350" b="1" dirty="0">
                <a:solidFill>
                  <a:srgbClr val="1A56DB"/>
                </a:solidFill>
                <a:latin typeface="Arial"/>
                <a:ea typeface="Arial"/>
                <a:cs typeface="Arial"/>
              </a:rPr>
              <a:t>Tabela, camadas de remuneração e pocket price</a:t>
            </a:r>
          </a:p>
          <a:p>
            <a:pPr algn="l">
              <a:lnSpc>
                <a:spcPct val="160000"/>
              </a:lnSpc>
              <a:buNone/>
            </a:pPr>
            <a:r>
              <a:rPr lang="pt-BR" sz="1000" b="1" spc="100" dirty="0">
                <a:solidFill>
                  <a:srgbClr val="1A56DB"/>
                </a:solidFill>
                <a:latin typeface="Arial"/>
                <a:ea typeface="Arial"/>
                <a:cs typeface="Arial"/>
              </a:rPr>
              <a:t>ESTA APRESENTAÇÃO</a:t>
            </a:r>
          </a:p>
        </p:txBody>
      </p:sp>
      <p:sp>
        <p:nvSpPr>
          <p:cNvPr id="5020" name="Atividade"/>
          <p:cNvSpPr txBox="1"/>
          <p:nvPr/>
        </p:nvSpPr>
        <p:spPr>
          <a:xfrm>
            <a:off x="7406640" y="2660904"/>
            <a:ext cx="4709160" cy="1051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pt-BR" sz="1350" dirty="0">
                <a:solidFill>
                  <a:srgbClr val="14171F"/>
                </a:solidFill>
                <a:latin typeface="Arial"/>
                <a:ea typeface="Arial"/>
                <a:cs typeface="Arial"/>
              </a:rPr>
              <a:t>Montar o racional da mecânica, reconciliar o front margin em número único e rodar o teste econômico do modelo de front margin com as camadas de política</a:t>
            </a:r>
          </a:p>
        </p:txBody>
      </p:sp>
      <p:sp>
        <p:nvSpPr>
          <p:cNvPr id="5021" name="Entregável"/>
          <p:cNvSpPr txBox="1"/>
          <p:nvPr/>
        </p:nvSpPr>
        <p:spPr>
          <a:xfrm>
            <a:off x="12390120" y="2660904"/>
            <a:ext cx="4745736" cy="1051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pt-BR" sz="1350" dirty="0">
                <a:solidFill>
                  <a:srgbClr val="14171F"/>
                </a:solidFill>
                <a:latin typeface="Arial"/>
                <a:ea typeface="Arial"/>
                <a:cs typeface="Arial"/>
              </a:rPr>
              <a:t>Waterfall front e back com número único de front, e cada real alocado em uma só camada.</a:t>
            </a:r>
          </a:p>
        </p:txBody>
      </p:sp>
      <p:sp>
        <p:nvSpPr>
          <p:cNvPr id="5022" name="Linha"/>
          <p:cNvSpPr/>
          <p:nvPr/>
        </p:nvSpPr>
        <p:spPr>
          <a:xfrm>
            <a:off x="4050792" y="3822192"/>
            <a:ext cx="13249656" cy="951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3" name="Componente"/>
          <p:cNvSpPr txBox="1"/>
          <p:nvPr/>
        </p:nvSpPr>
        <p:spPr>
          <a:xfrm>
            <a:off x="4160520" y="3986784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pt-BR" sz="1350" b="1" dirty="0">
                <a:solidFill>
                  <a:srgbClr val="14171F"/>
                </a:solidFill>
                <a:latin typeface="Arial"/>
                <a:ea typeface="Arial"/>
                <a:cs typeface="Arial"/>
              </a:rPr>
              <a:t>Metas, percentuais e elegibilidade</a:t>
            </a:r>
          </a:p>
        </p:txBody>
      </p:sp>
      <p:sp>
        <p:nvSpPr>
          <p:cNvPr id="5024" name="Atividade"/>
          <p:cNvSpPr txBox="1"/>
          <p:nvPr/>
        </p:nvSpPr>
        <p:spPr>
          <a:xfrm>
            <a:off x="7406640" y="3986784"/>
            <a:ext cx="4709160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pt-BR" sz="1350" dirty="0">
                <a:solidFill>
                  <a:srgbClr val="14171F"/>
                </a:solidFill>
                <a:latin typeface="Arial"/>
                <a:ea typeface="Arial"/>
                <a:cs typeface="Arial"/>
              </a:rPr>
              <a:t>Montar o racional da mecânica e rodar o teste econômico (modelo macro) para definir a régua de percentuais, metas e elegibilidade</a:t>
            </a:r>
          </a:p>
        </p:txBody>
      </p:sp>
      <p:sp>
        <p:nvSpPr>
          <p:cNvPr id="5025" name="Entregável"/>
          <p:cNvSpPr txBox="1"/>
          <p:nvPr/>
        </p:nvSpPr>
        <p:spPr>
          <a:xfrm>
            <a:off x="12390120" y="3986784"/>
            <a:ext cx="4745736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pt-BR" sz="1350" dirty="0">
                <a:solidFill>
                  <a:srgbClr val="14171F"/>
                </a:solidFill>
                <a:latin typeface="Arial"/>
                <a:ea typeface="Arial"/>
                <a:cs typeface="Arial"/>
              </a:rPr>
              <a:t>Faixa de parâmetros e regra de atingimento parcial.</a:t>
            </a:r>
          </a:p>
        </p:txBody>
      </p:sp>
      <p:sp>
        <p:nvSpPr>
          <p:cNvPr id="5026" name="Linha"/>
          <p:cNvSpPr/>
          <p:nvPr/>
        </p:nvSpPr>
        <p:spPr>
          <a:xfrm>
            <a:off x="4050792" y="4965192"/>
            <a:ext cx="13249656" cy="9510"/>
          </a:xfrm>
          <a:prstGeom prst="rect">
            <a:avLst/>
          </a:prstGeom>
          <a:solidFill>
            <a:srgbClr val="EEF0F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7" name="Componente"/>
          <p:cNvSpPr txBox="1"/>
          <p:nvPr/>
        </p:nvSpPr>
        <p:spPr>
          <a:xfrm>
            <a:off x="4160520" y="5129784"/>
            <a:ext cx="2971800" cy="1325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pt-BR" sz="1350" b="1" dirty="0">
                <a:solidFill>
                  <a:srgbClr val="14171F"/>
                </a:solidFill>
                <a:latin typeface="Arial"/>
                <a:ea typeface="Arial"/>
                <a:cs typeface="Arial"/>
              </a:rPr>
              <a:t>Simulação da economia por atingimento</a:t>
            </a:r>
          </a:p>
        </p:txBody>
      </p:sp>
      <p:sp>
        <p:nvSpPr>
          <p:cNvPr id="5028" name="Atividade"/>
          <p:cNvSpPr txBox="1"/>
          <p:nvPr/>
        </p:nvSpPr>
        <p:spPr>
          <a:xfrm>
            <a:off x="7406640" y="5129784"/>
            <a:ext cx="4709160" cy="1325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pt-BR" sz="1350" dirty="0">
                <a:solidFill>
                  <a:srgbClr val="14171F"/>
                </a:solidFill>
                <a:latin typeface="Arial"/>
                <a:ea typeface="Arial"/>
                <a:cs typeface="Arial"/>
              </a:rPr>
              <a:t>Simular margem e remuneração por faixa de atingimento (100%, 90%, 70% e 50%), desenhar a mecânica frente ao risco e verificar se há problema comercial (queda de clientes)</a:t>
            </a:r>
          </a:p>
        </p:txBody>
      </p:sp>
      <p:sp>
        <p:nvSpPr>
          <p:cNvPr id="5029" name="Entregável"/>
          <p:cNvSpPr txBox="1"/>
          <p:nvPr/>
        </p:nvSpPr>
        <p:spPr>
          <a:xfrm>
            <a:off x="12390120" y="5129784"/>
            <a:ext cx="4745736" cy="1325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pt-BR" sz="1350" dirty="0">
                <a:solidFill>
                  <a:srgbClr val="14171F"/>
                </a:solidFill>
                <a:latin typeface="Arial"/>
                <a:ea typeface="Arial"/>
                <a:cs typeface="Arial"/>
              </a:rPr>
              <a:t>Faixa de margem por nível de atingimento, no lugar do cenário único de teto. Mecânica versus risco. Impacto econômico para o cliente e para a Premier por faixa de meta. Hoje existe objetivo de volume, e não meta; a remuneração é por aproveitamento.</a:t>
            </a:r>
          </a:p>
        </p:txBody>
      </p:sp>
      <p:pic>
        <p:nvPicPr>
          <p:cNvPr id="5030" name="Logo PremieRpet" descr="Logo PremieRpe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031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32" name="Logo DOC Consulting" descr="Logo DOC Consult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033" name="Número da página"/>
          <p:cNvSpPr txBox="1"/>
          <p:nvPr/>
        </p:nvSpPr>
        <p:spPr>
          <a:xfrm>
            <a:off x="16340328" y="971092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03</a:t>
            </a:r>
          </a:p>
        </p:txBody>
      </p:sp>
    </p:spTree>
    <p:extLst>
      <p:ext uri="{BB962C8B-B14F-4D97-AF65-F5344CB8AC3E}">
        <p14:creationId xmlns:p14="http://schemas.microsoft.com/office/powerpoint/2010/main" val="1200111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1">
            <a:extLst>
              <a:ext uri="{FF2B5EF4-FFF2-40B4-BE49-F238E27FC236}">
                <a16:creationId xmlns:a16="http://schemas.microsoft.com/office/drawing/2014/main" id="{B2B0B262-9E65-2563-5290-04F5F206B605}"/>
              </a:ext>
            </a:extLst>
          </p:cNvPr>
          <p:cNvSpPr/>
          <p:nvPr/>
        </p:nvSpPr>
        <p:spPr>
          <a:xfrm>
            <a:off x="758952" y="747356"/>
            <a:ext cx="13368528" cy="62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4200" b="1" kern="0" spc="-63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O que o projeto veio resolver</a:t>
            </a:r>
            <a:endParaRPr lang="en-US" sz="4200"/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9BD51BF2-ADCC-BCFC-A011-BEA80D94C0B8}"/>
              </a:ext>
            </a:extLst>
          </p:cNvPr>
          <p:cNvSpPr/>
          <p:nvPr/>
        </p:nvSpPr>
        <p:spPr>
          <a:xfrm>
            <a:off x="762000" y="1404581"/>
            <a:ext cx="163449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pt-BR" sz="1650" i="1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nasceu para resolver um problema primordialmente comercial</a:t>
            </a:r>
          </a:p>
        </p:txBody>
      </p:sp>
      <p:sp>
        <p:nvSpPr>
          <p:cNvPr id="101" name="Cabeçalho problemas"/>
          <p:cNvSpPr txBox="1"/>
          <p:nvPr/>
        </p:nvSpPr>
        <p:spPr>
          <a:xfrm>
            <a:off x="762000" y="1950000"/>
            <a:ext cx="8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300" b="1" spc="150">
                <a:solidFill>
                  <a:srgbClr val="888D97"/>
                </a:solidFill>
                <a:latin typeface="Arial" pitchFamily="34" charset="0"/>
                <a:cs typeface="Arial" pitchFamily="34" charset="-120"/>
              </a:rPr>
              <a:t>O PROBLEMA HOJE</a:t>
            </a:r>
          </a:p>
        </p:txBody>
      </p:sp>
      <p:sp>
        <p:nvSpPr>
          <p:cNvPr id="102" name="Cabeçalho frentes"/>
          <p:cNvSpPr txBox="1"/>
          <p:nvPr/>
        </p:nvSpPr>
        <p:spPr>
          <a:xfrm>
            <a:off x="12300000" y="1950000"/>
            <a:ext cx="52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300" b="1" spc="150">
                <a:solidFill>
                  <a:srgbClr val="888D97"/>
                </a:solidFill>
                <a:latin typeface="Arial" pitchFamily="34" charset="0"/>
                <a:cs typeface="Arial" pitchFamily="34" charset="-120"/>
              </a:rPr>
              <a:t>FRENTE QUE RESPONDE</a:t>
            </a:r>
          </a:p>
        </p:txBody>
      </p:sp>
      <p:sp>
        <p:nvSpPr>
          <p:cNvPr id="103" name="Problema 1"/>
          <p:cNvSpPr/>
          <p:nvPr/>
        </p:nvSpPr>
        <p:spPr>
          <a:xfrm>
            <a:off x="762000" y="2350000"/>
            <a:ext cx="10600000" cy="1000000"/>
          </a:xfrm>
          <a:prstGeom prst="roundRect">
            <a:avLst>
              <a:gd name="adj" fmla="val 109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4" name="Número 1"/>
          <p:cNvSpPr/>
          <p:nvPr/>
        </p:nvSpPr>
        <p:spPr>
          <a:xfrm>
            <a:off x="1042000" y="2590000"/>
            <a:ext cx="520000" cy="52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5" name="Número 1 texto"/>
          <p:cNvSpPr txBox="1"/>
          <p:nvPr/>
        </p:nvSpPr>
        <p:spPr>
          <a:xfrm>
            <a:off x="1042000" y="259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0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</a:t>
            </a:r>
          </a:p>
        </p:txBody>
      </p:sp>
      <p:sp>
        <p:nvSpPr>
          <p:cNvPr id="106" name="Problema 1 texto"/>
          <p:cNvSpPr txBox="1"/>
          <p:nvPr/>
        </p:nvSpPr>
        <p:spPr>
          <a:xfrm>
            <a:off x="1862000" y="2500000"/>
            <a:ext cx="93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2000" b="1" dirty="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Tabela complexa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500" dirty="0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Sem uma lógica clara de margem por canal e categoria</a:t>
            </a:r>
          </a:p>
        </p:txBody>
      </p:sp>
      <p:sp>
        <p:nvSpPr>
          <p:cNvPr id="107" name="Seta 1"/>
          <p:cNvSpPr/>
          <p:nvPr/>
        </p:nvSpPr>
        <p:spPr>
          <a:xfrm>
            <a:off x="11560000" y="2690000"/>
            <a:ext cx="560000" cy="320000"/>
          </a:xfrm>
          <a:prstGeom prst="rightArrow">
            <a:avLst/>
          </a:prstGeom>
          <a:solidFill>
            <a:srgbClr val="C3D3F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8" name="Frente 1 pílula"/>
          <p:cNvSpPr/>
          <p:nvPr/>
        </p:nvSpPr>
        <p:spPr>
          <a:xfrm>
            <a:off x="12300000" y="2350000"/>
            <a:ext cx="5226000" cy="1000000"/>
          </a:xfrm>
          <a:prstGeom prst="rect">
            <a:avLst/>
          </a:prstGeom>
          <a:solidFill>
            <a:srgbClr val="7BA0E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9" name="Frente 1 pílula texto"/>
          <p:cNvSpPr txBox="1"/>
          <p:nvPr/>
        </p:nvSpPr>
        <p:spPr>
          <a:xfrm>
            <a:off x="12600000" y="2500000"/>
            <a:ext cx="4726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1250" b="1" spc="100">
                <a:solidFill>
                  <a:srgbClr val="D6E2F5"/>
                </a:solidFill>
                <a:latin typeface="Arial" pitchFamily="34" charset="0"/>
                <a:cs typeface="Arial" pitchFamily="34" charset="-120"/>
              </a:rPr>
              <a:t>FRENTE 1  ·  13/10  ·  ESTA APRESENTAÇÃO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900" b="1">
                <a:solidFill>
                  <a:srgbClr val="0A1D5C"/>
                </a:solidFill>
                <a:latin typeface="Arial" pitchFamily="34" charset="0"/>
                <a:cs typeface="Arial" pitchFamily="34" charset="-120"/>
              </a:rPr>
              <a:t>Política comercial</a:t>
            </a:r>
          </a:p>
        </p:txBody>
      </p:sp>
      <p:sp>
        <p:nvSpPr>
          <p:cNvPr id="110" name="Problema 2"/>
          <p:cNvSpPr/>
          <p:nvPr/>
        </p:nvSpPr>
        <p:spPr>
          <a:xfrm>
            <a:off x="762000" y="3480000"/>
            <a:ext cx="10600000" cy="1000000"/>
          </a:xfrm>
          <a:prstGeom prst="roundRect">
            <a:avLst>
              <a:gd name="adj" fmla="val 109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1" name="Número 2"/>
          <p:cNvSpPr/>
          <p:nvPr/>
        </p:nvSpPr>
        <p:spPr>
          <a:xfrm>
            <a:off x="1042000" y="3720000"/>
            <a:ext cx="520000" cy="52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2" name="Número 2 texto"/>
          <p:cNvSpPr txBox="1"/>
          <p:nvPr/>
        </p:nvSpPr>
        <p:spPr>
          <a:xfrm>
            <a:off x="1042000" y="372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0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2</a:t>
            </a:r>
          </a:p>
        </p:txBody>
      </p:sp>
      <p:sp>
        <p:nvSpPr>
          <p:cNvPr id="113" name="Problema 2 texto"/>
          <p:cNvSpPr txBox="1"/>
          <p:nvPr/>
        </p:nvSpPr>
        <p:spPr>
          <a:xfrm>
            <a:off x="1862000" y="3630000"/>
            <a:ext cx="93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2000" b="1" dirty="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A lógica de desconto é confusa, com foco prioritário em </a:t>
            </a:r>
            <a:r>
              <a:rPr lang="pt-BR" sz="2000" b="1" dirty="0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sell</a:t>
            </a:r>
            <a:r>
              <a:rPr lang="pt-BR" sz="2000" b="1" dirty="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-in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500" dirty="0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Cerca de 30 tipos de desconto diferentes, difíceis de explicar</a:t>
            </a:r>
          </a:p>
        </p:txBody>
      </p:sp>
      <p:sp>
        <p:nvSpPr>
          <p:cNvPr id="114" name="Seta 2"/>
          <p:cNvSpPr/>
          <p:nvPr/>
        </p:nvSpPr>
        <p:spPr>
          <a:xfrm>
            <a:off x="11560000" y="3820000"/>
            <a:ext cx="560000" cy="320000"/>
          </a:xfrm>
          <a:prstGeom prst="rightArrow">
            <a:avLst/>
          </a:prstGeom>
          <a:solidFill>
            <a:srgbClr val="C3D3F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5" name="Frente 2 pílula"/>
          <p:cNvSpPr/>
          <p:nvPr/>
        </p:nvSpPr>
        <p:spPr>
          <a:xfrm>
            <a:off x="12300000" y="3480000"/>
            <a:ext cx="5226000" cy="1000000"/>
          </a:xfrm>
          <a:prstGeom prst="rect">
            <a:avLst/>
          </a:prstGeom>
          <a:solidFill>
            <a:srgbClr val="7BA0E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6" name="Frente 2 pílula texto"/>
          <p:cNvSpPr txBox="1"/>
          <p:nvPr/>
        </p:nvSpPr>
        <p:spPr>
          <a:xfrm>
            <a:off x="12600000" y="3630000"/>
            <a:ext cx="4726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1250" b="1" spc="100">
                <a:solidFill>
                  <a:srgbClr val="D6E2F5"/>
                </a:solidFill>
                <a:latin typeface="Arial" pitchFamily="34" charset="0"/>
                <a:cs typeface="Arial" pitchFamily="34" charset="-120"/>
              </a:rPr>
              <a:t>FRENTE 1  ·  13/10  ·  ESTA APRESENTAÇÃO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900" b="1">
                <a:solidFill>
                  <a:srgbClr val="0A1D5C"/>
                </a:solidFill>
                <a:latin typeface="Arial" pitchFamily="34" charset="0"/>
                <a:cs typeface="Arial" pitchFamily="34" charset="-120"/>
              </a:rPr>
              <a:t>Política comercial</a:t>
            </a:r>
          </a:p>
        </p:txBody>
      </p:sp>
      <p:sp>
        <p:nvSpPr>
          <p:cNvPr id="117" name="Problema 3"/>
          <p:cNvSpPr/>
          <p:nvPr/>
        </p:nvSpPr>
        <p:spPr>
          <a:xfrm>
            <a:off x="762000" y="4610000"/>
            <a:ext cx="10600000" cy="1000000"/>
          </a:xfrm>
          <a:prstGeom prst="roundRect">
            <a:avLst>
              <a:gd name="adj" fmla="val 109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8" name="Número 3"/>
          <p:cNvSpPr/>
          <p:nvPr/>
        </p:nvSpPr>
        <p:spPr>
          <a:xfrm>
            <a:off x="1042000" y="4850000"/>
            <a:ext cx="520000" cy="52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9" name="Número 3 texto"/>
          <p:cNvSpPr txBox="1"/>
          <p:nvPr/>
        </p:nvSpPr>
        <p:spPr>
          <a:xfrm>
            <a:off x="1042000" y="485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0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3</a:t>
            </a:r>
          </a:p>
        </p:txBody>
      </p:sp>
      <p:sp>
        <p:nvSpPr>
          <p:cNvPr id="120" name="Problema 3 texto"/>
          <p:cNvSpPr txBox="1"/>
          <p:nvPr/>
        </p:nvSpPr>
        <p:spPr>
          <a:xfrm>
            <a:off x="1862000" y="4760000"/>
            <a:ext cx="93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2000" b="1" dirty="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O distribuidor reclama que não tem margem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500" dirty="0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Foco prioritário em volume e não em margem, gerando inventários e conflito entre canais.</a:t>
            </a:r>
          </a:p>
        </p:txBody>
      </p:sp>
      <p:sp>
        <p:nvSpPr>
          <p:cNvPr id="121" name="Seta 3"/>
          <p:cNvSpPr/>
          <p:nvPr/>
        </p:nvSpPr>
        <p:spPr>
          <a:xfrm>
            <a:off x="11560000" y="4950000"/>
            <a:ext cx="560000" cy="320000"/>
          </a:xfrm>
          <a:prstGeom prst="rightArrow">
            <a:avLst/>
          </a:prstGeom>
          <a:solidFill>
            <a:srgbClr val="C3D3F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2" name="Frente 3 pílula"/>
          <p:cNvSpPr/>
          <p:nvPr/>
        </p:nvSpPr>
        <p:spPr>
          <a:xfrm>
            <a:off x="12300000" y="4610000"/>
            <a:ext cx="5226000" cy="100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3" name="Frente 3 pílula texto"/>
          <p:cNvSpPr txBox="1"/>
          <p:nvPr/>
        </p:nvSpPr>
        <p:spPr>
          <a:xfrm>
            <a:off x="12600000" y="4760000"/>
            <a:ext cx="4726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1250" b="1" spc="100">
                <a:solidFill>
                  <a:srgbClr val="D6E2F5"/>
                </a:solidFill>
                <a:latin typeface="Arial" pitchFamily="34" charset="0"/>
                <a:cs typeface="Arial" pitchFamily="34" charset="-120"/>
              </a:rPr>
              <a:t>FRENTE 2  ·  14/10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9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Economia dos canais</a:t>
            </a:r>
          </a:p>
        </p:txBody>
      </p:sp>
      <p:sp>
        <p:nvSpPr>
          <p:cNvPr id="124" name="Problema 4"/>
          <p:cNvSpPr/>
          <p:nvPr/>
        </p:nvSpPr>
        <p:spPr>
          <a:xfrm>
            <a:off x="762000" y="5740000"/>
            <a:ext cx="10600000" cy="1000000"/>
          </a:xfrm>
          <a:prstGeom prst="roundRect">
            <a:avLst>
              <a:gd name="adj" fmla="val 109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5" name="Número 4"/>
          <p:cNvSpPr/>
          <p:nvPr/>
        </p:nvSpPr>
        <p:spPr>
          <a:xfrm>
            <a:off x="1042000" y="5980000"/>
            <a:ext cx="520000" cy="52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6" name="Número 4 texto"/>
          <p:cNvSpPr txBox="1"/>
          <p:nvPr/>
        </p:nvSpPr>
        <p:spPr>
          <a:xfrm>
            <a:off x="1042000" y="598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0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4</a:t>
            </a:r>
          </a:p>
        </p:txBody>
      </p:sp>
      <p:sp>
        <p:nvSpPr>
          <p:cNvPr id="127" name="Problema 4 texto"/>
          <p:cNvSpPr txBox="1"/>
          <p:nvPr/>
        </p:nvSpPr>
        <p:spPr>
          <a:xfrm>
            <a:off x="1862000" y="5890000"/>
            <a:ext cx="968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2000" b="1" dirty="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Conflitos de preços entre canais e clientes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500" dirty="0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KA com visibilidade de preço nacional. 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500" dirty="0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Hoje a condição chega ao cliente sem regra clara de repasse ao </a:t>
            </a:r>
            <a:r>
              <a:rPr lang="pt-BR" sz="1500" dirty="0" err="1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shopper</a:t>
            </a:r>
            <a:endParaRPr lang="pt-BR" sz="1500" dirty="0">
              <a:solidFill>
                <a:srgbClr val="5B6472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28" name="Seta 4"/>
          <p:cNvSpPr/>
          <p:nvPr/>
        </p:nvSpPr>
        <p:spPr>
          <a:xfrm>
            <a:off x="11560000" y="6080000"/>
            <a:ext cx="560000" cy="320000"/>
          </a:xfrm>
          <a:prstGeom prst="rightArrow">
            <a:avLst/>
          </a:prstGeom>
          <a:solidFill>
            <a:srgbClr val="C3D3F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9" name="Frente 4 pílula"/>
          <p:cNvSpPr/>
          <p:nvPr/>
        </p:nvSpPr>
        <p:spPr>
          <a:xfrm>
            <a:off x="12300000" y="5740000"/>
            <a:ext cx="5226000" cy="100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0" name="Frente 4 pílula texto"/>
          <p:cNvSpPr txBox="1"/>
          <p:nvPr/>
        </p:nvSpPr>
        <p:spPr>
          <a:xfrm>
            <a:off x="12600000" y="5890000"/>
            <a:ext cx="4726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1250" b="1" spc="100">
                <a:solidFill>
                  <a:srgbClr val="D6E2F5"/>
                </a:solidFill>
                <a:latin typeface="Arial" pitchFamily="34" charset="0"/>
                <a:cs typeface="Arial" pitchFamily="34" charset="-120"/>
              </a:rPr>
              <a:t>FRENTE 3  ·  21/10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9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Banda, RTP e incentivo ao shopper</a:t>
            </a:r>
          </a:p>
        </p:txBody>
      </p:sp>
      <p:sp>
        <p:nvSpPr>
          <p:cNvPr id="131" name="Problema 5"/>
          <p:cNvSpPr/>
          <p:nvPr/>
        </p:nvSpPr>
        <p:spPr>
          <a:xfrm>
            <a:off x="762000" y="6870000"/>
            <a:ext cx="10600000" cy="1000000"/>
          </a:xfrm>
          <a:prstGeom prst="roundRect">
            <a:avLst>
              <a:gd name="adj" fmla="val 109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2" name="Número 5"/>
          <p:cNvSpPr/>
          <p:nvPr/>
        </p:nvSpPr>
        <p:spPr>
          <a:xfrm>
            <a:off x="1042000" y="7110000"/>
            <a:ext cx="520000" cy="52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3" name="Número 5 texto"/>
          <p:cNvSpPr txBox="1"/>
          <p:nvPr/>
        </p:nvSpPr>
        <p:spPr>
          <a:xfrm>
            <a:off x="1042000" y="7110000"/>
            <a:ext cx="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0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5</a:t>
            </a:r>
          </a:p>
        </p:txBody>
      </p:sp>
      <p:sp>
        <p:nvSpPr>
          <p:cNvPr id="134" name="Problema 5 texto"/>
          <p:cNvSpPr txBox="1"/>
          <p:nvPr/>
        </p:nvSpPr>
        <p:spPr>
          <a:xfrm>
            <a:off x="1862000" y="7020000"/>
            <a:ext cx="93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2000" b="1" dirty="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Governança limitada com baixa utilização de dados e sistemas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500" dirty="0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Alçadas, apuração e pagamento sem um fluxo definido. 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500" dirty="0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Processo fortemente manual, com baixa integração sistêmica</a:t>
            </a:r>
          </a:p>
          <a:p>
            <a:pPr marL="0" indent="0" algn="l">
              <a:spcAft>
                <a:spcPts val="0"/>
              </a:spcAft>
              <a:buNone/>
            </a:pPr>
            <a:endParaRPr lang="pt-BR" sz="1500" dirty="0">
              <a:solidFill>
                <a:srgbClr val="5B6472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35" name="Seta 5"/>
          <p:cNvSpPr/>
          <p:nvPr/>
        </p:nvSpPr>
        <p:spPr>
          <a:xfrm>
            <a:off x="11560000" y="7210000"/>
            <a:ext cx="560000" cy="320000"/>
          </a:xfrm>
          <a:prstGeom prst="rightArrow">
            <a:avLst/>
          </a:prstGeom>
          <a:solidFill>
            <a:srgbClr val="C3D3F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6" name="Frente 5 pílula"/>
          <p:cNvSpPr/>
          <p:nvPr/>
        </p:nvSpPr>
        <p:spPr>
          <a:xfrm>
            <a:off x="12300000" y="6870000"/>
            <a:ext cx="5226000" cy="100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7" name="Frente 5 pílula texto"/>
          <p:cNvSpPr txBox="1"/>
          <p:nvPr/>
        </p:nvSpPr>
        <p:spPr>
          <a:xfrm>
            <a:off x="12600000" y="7020000"/>
            <a:ext cx="4726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1250" b="1" spc="100">
                <a:solidFill>
                  <a:srgbClr val="D6E2F5"/>
                </a:solidFill>
                <a:latin typeface="Arial" pitchFamily="34" charset="0"/>
                <a:cs typeface="Arial" pitchFamily="34" charset="-120"/>
              </a:rPr>
              <a:t>FRENTE 4  ·  29/10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9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Governança e operação</a:t>
            </a:r>
          </a:p>
        </p:txBody>
      </p:sp>
      <p:sp>
        <p:nvSpPr>
          <p:cNvPr id="138" name="Business case barra"/>
          <p:cNvSpPr/>
          <p:nvPr/>
        </p:nvSpPr>
        <p:spPr>
          <a:xfrm>
            <a:off x="762000" y="8080000"/>
            <a:ext cx="16764000" cy="880000"/>
          </a:xfrm>
          <a:prstGeom prst="roundRect">
            <a:avLst>
              <a:gd name="adj" fmla="val 1246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9" name="Business case texto"/>
          <p:cNvSpPr txBox="1"/>
          <p:nvPr/>
        </p:nvSpPr>
        <p:spPr>
          <a:xfrm>
            <a:off x="1062000" y="8080000"/>
            <a:ext cx="16164000" cy="8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900" b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Business case  ·  30/10   </a:t>
            </a:r>
            <a:r>
              <a:rPr lang="pt-BR" sz="1700">
                <a:solidFill>
                  <a:srgbClr val="5B6472"/>
                </a:solidFill>
                <a:latin typeface="Arial" pitchFamily="34" charset="0"/>
                <a:cs typeface="Arial" pitchFamily="34" charset="-120"/>
              </a:rPr>
              <a:t>Confirma se a economia da Premier fecha, depois que os problemas acima estiverem resolvidos</a:t>
            </a:r>
          </a:p>
        </p:txBody>
      </p:sp>
      <p:sp>
        <p:nvSpPr>
          <p:cNvPr id="25" name="Text 23"/>
          <p:cNvSpPr/>
          <p:nvPr/>
        </p:nvSpPr>
        <p:spPr>
          <a:xfrm>
            <a:off x="762000" y="9729788"/>
            <a:ext cx="154411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levantados nas discussões do projeto. Frentes e datas conforme o slide anterior.</a:t>
            </a:r>
            <a:endParaRPr lang="en-US" sz="1125"/>
          </a:p>
        </p:txBody>
      </p:sp>
      <p:pic>
        <p:nvPicPr>
          <p:cNvPr id="5034" name="Logo PremieRpet" descr="Logo PremieRp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035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36" name="Logo DOC Consulting" descr="Logo DOC Consul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037" name="Número da página"/>
          <p:cNvSpPr txBox="1"/>
          <p:nvPr/>
        </p:nvSpPr>
        <p:spPr>
          <a:xfrm>
            <a:off x="16340328" y="972978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125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ítulo"/>
          <p:cNvSpPr txBox="1"/>
          <p:nvPr/>
        </p:nvSpPr>
        <p:spPr>
          <a:xfrm>
            <a:off x="758952" y="747356"/>
            <a:ext cx="13368528" cy="620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4000" b="1" kern="0" spc="-6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atual | Hoje o preço, não o mix, separa clientes</a:t>
            </a:r>
          </a:p>
        </p:txBody>
      </p:sp>
      <p:sp>
        <p:nvSpPr>
          <p:cNvPr id="102" name="Subtítulo 1"/>
          <p:cNvSpPr txBox="1"/>
          <p:nvPr/>
        </p:nvSpPr>
        <p:spPr>
          <a:xfrm>
            <a:off x="762000" y="1395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do mesmo canal, o mix muda a margem de tabela do cliente em ~1 p.p.; o preço que cada cliente paga muda em até 10 p.p.</a:t>
            </a:r>
          </a:p>
        </p:txBody>
      </p:sp>
      <p:sp>
        <p:nvSpPr>
          <p:cNvPr id="103" name="Subtítulo 2"/>
          <p:cNvSpPr txBox="1"/>
          <p:nvPr/>
        </p:nvSpPr>
        <p:spPr>
          <a:xfrm>
            <a:off x="762000" y="1750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VD, a faixa p10–p90 vai de </a:t>
            </a:r>
            <a:r>
              <a:rPr lang="pt-BR" sz="1800" b="1" dirty="0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 p.p.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só com o mix para </a:t>
            </a:r>
            <a:r>
              <a:rPr lang="pt-BR" sz="1800" b="1" dirty="0" i="1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10,1 p.p.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o preço pago. É essa diferença que a Tabela Nova elimina.</a:t>
            </a:r>
          </a:p>
        </p:txBody>
      </p:sp>
      <p:sp>
        <p:nvSpPr>
          <p:cNvPr id="5042" name="Card gráfico"/>
          <p:cNvSpPr/>
          <p:nvPr/>
        </p:nvSpPr>
        <p:spPr>
          <a:xfrm>
            <a:off x="762000" y="2420000"/>
            <a:ext cx="10900000" cy="6169811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105" name="Gráfico dispersão por cliente" descr="Dispersão da margem líquida por cliente: só mix vs mix + preço pago, por ca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79" y="2584592"/>
            <a:ext cx="10318442" cy="5840627"/>
          </a:xfrm>
          <a:prstGeom prst="rect">
            <a:avLst/>
          </a:prstGeom>
        </p:spPr>
      </p:pic>
      <p:sp>
        <p:nvSpPr>
          <p:cNvPr id="106" name="Cab. painel"/>
          <p:cNvSpPr txBox="1"/>
          <p:nvPr/>
        </p:nvSpPr>
        <p:spPr>
          <a:xfrm>
            <a:off x="12000000" y="2480000"/>
            <a:ext cx="5526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DADO MOSTRA</a:t>
            </a:r>
          </a:p>
        </p:txBody>
      </p:sp>
      <p:sp>
        <p:nvSpPr>
          <p:cNvPr id="107" name="Card"/>
          <p:cNvSpPr/>
          <p:nvPr/>
        </p:nvSpPr>
        <p:spPr>
          <a:xfrm>
            <a:off x="12000000" y="2850000"/>
            <a:ext cx="5526000" cy="1780000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8" name="Card texto"/>
          <p:cNvSpPr txBox="1"/>
          <p:nvPr/>
        </p:nvSpPr>
        <p:spPr>
          <a:xfrm>
            <a:off x="12200000" y="3020000"/>
            <a:ext cx="5126000" cy="1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pt-BR" sz="16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Mix: diferença pequena e desejada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pt-BR" sz="13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VD, o mix move a margem de tabela em 1,4 p.p. (p10–p90). Ex.: em SP, IVESS (5% Premier) tem 21,9%; LAIÇÃO (55% Premier, metade pacoteira) tem 24,1%.</a:t>
            </a:r>
          </a:p>
        </p:txBody>
      </p:sp>
      <p:sp>
        <p:nvSpPr>
          <p:cNvPr id="109" name="Card"/>
          <p:cNvSpPr/>
          <p:nvPr/>
        </p:nvSpPr>
        <p:spPr>
          <a:xfrm>
            <a:off x="12000000" y="4750000"/>
            <a:ext cx="5526000" cy="1780000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0" name="Card texto"/>
          <p:cNvSpPr txBox="1"/>
          <p:nvPr/>
        </p:nvSpPr>
        <p:spPr>
          <a:xfrm>
            <a:off x="12200000" y="4920000"/>
            <a:ext cx="5126000" cy="1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pt-BR" sz="1600" b="1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Preço: diferença grande e sem regra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pt-BR" sz="13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preço pago, a faixa vai a 10,1 p.p. Ex.: no RJ, SEPPA compra 9% abaixo da mediana e SEROPEC 5% acima: 29,3% contra 18,4% de margem implícita.</a:t>
            </a:r>
          </a:p>
        </p:txBody>
      </p:sp>
      <p:sp>
        <p:nvSpPr>
          <p:cNvPr id="111" name="Card"/>
          <p:cNvSpPr/>
          <p:nvPr/>
        </p:nvSpPr>
        <p:spPr>
          <a:xfrm>
            <a:off x="12000000" y="6650000"/>
            <a:ext cx="5526000" cy="1780000"/>
          </a:xfrm>
          <a:prstGeom prst="roundRect">
            <a:avLst>
              <a:gd name="adj" fmla="val 6164"/>
            </a:avLst>
          </a:prstGeom>
          <a:solidFill>
            <a:srgbClr val="FFF4E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2" name="Card texto"/>
          <p:cNvSpPr txBox="1"/>
          <p:nvPr/>
        </p:nvSpPr>
        <p:spPr>
          <a:xfrm>
            <a:off x="12200000" y="6820000"/>
            <a:ext cx="5126000" cy="1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pt-BR" sz="16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Tabela Nova resolve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pt-BR" sz="13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Fixa a margem por categoria × canal: o mix segue diferenciando (de propósito) e o preço deixa de diferenciar. Hoje, 27% da receita do VD é comprada a mais de ±5% da mediana.</a:t>
            </a:r>
          </a:p>
        </p:txBody>
      </p:sp>
      <p:sp>
        <p:nvSpPr>
          <p:cNvPr id="114" name="Rodapé"/>
          <p:cNvSpPr txBox="1"/>
          <p:nvPr/>
        </p:nvSpPr>
        <p:spPr>
          <a:xfrm>
            <a:off x="762000" y="9740000"/>
            <a:ext cx="15441168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sell-in DataSul jan–mai/26 (VD &gt; R$ 50 mil; distribuidor e KA &gt; R$ 200 mil). Só o mix = margem líquida da tabela 26/05 pelo mix de SKU do cliente (VD na régua G/M). Mix + preço = 1 − (1 − ML do mix) × índice de preço; índice = receita líquida por unidade vs. mediana do SKU × UF × mês no canal; supõe o mesmo preço de revenda. Itens -PP somados ao SKU base.</a:t>
            </a:r>
          </a:p>
        </p:txBody>
      </p:sp>
      <p:pic>
        <p:nvPicPr>
          <p:cNvPr id="5038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039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40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041" name="Número da página"/>
          <p:cNvSpPr txBox="1"/>
          <p:nvPr/>
        </p:nvSpPr>
        <p:spPr>
          <a:xfrm>
            <a:off x="16340328" y="974000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ítulo"/>
          <p:cNvSpPr txBox="1"/>
          <p:nvPr/>
        </p:nvSpPr>
        <p:spPr>
          <a:xfrm>
            <a:off x="758952" y="747356"/>
            <a:ext cx="13368528" cy="620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4100" b="1" kern="0" spc="-6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cluster | Quanto menor o cliente, maior a dispersão</a:t>
            </a:r>
          </a:p>
        </p:txBody>
      </p:sp>
      <p:sp>
        <p:nvSpPr>
          <p:cNvPr id="102" name="Subtítulo 1"/>
          <p:cNvSpPr txBox="1"/>
          <p:nvPr/>
        </p:nvSpPr>
        <p:spPr>
          <a:xfrm>
            <a:off x="762000" y="1395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leitura do slide anterior, agora com cada cliente na tabela e na mediana de preço do seu próprio cluster.</a:t>
            </a:r>
          </a:p>
        </p:txBody>
      </p:sp>
      <p:sp>
        <p:nvSpPr>
          <p:cNvPr id="103" name="Subtítulo 2"/>
          <p:cNvSpPr txBox="1"/>
          <p:nvPr/>
        </p:nvSpPr>
        <p:spPr>
          <a:xfrm>
            <a:off x="762000" y="1750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efeito do mix fica entre 1,2 e 1,7 p.p. em todos os clusters; o efeito do preço vai de </a:t>
            </a:r>
            <a:r>
              <a:rPr lang="pt-BR" sz="1800" b="1" dirty="0" i="1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 p.p.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(Super GG/GG) a </a:t>
            </a:r>
            <a:r>
              <a:rPr lang="pt-BR" sz="1800" b="1" dirty="0" i="1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10,7 p.p.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(P).</a:t>
            </a:r>
          </a:p>
        </p:txBody>
      </p:sp>
      <p:sp>
        <p:nvSpPr>
          <p:cNvPr id="5048" name="Card gráfico"/>
          <p:cNvSpPr/>
          <p:nvPr/>
        </p:nvSpPr>
        <p:spPr>
          <a:xfrm>
            <a:off x="762000" y="2420000"/>
            <a:ext cx="10900000" cy="6375471"/>
          </a:xfrm>
          <a:prstGeom prst="roundRect">
            <a:avLst>
              <a:gd name="adj" fmla="val 172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105" name="Gráfico dispersão por cliente" descr="Dispersão da margem líquida por cliente: só mix vs mix + preço pago, por ca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99" y="2584592"/>
            <a:ext cx="10337201" cy="6046287"/>
          </a:xfrm>
          <a:prstGeom prst="rect">
            <a:avLst/>
          </a:prstGeom>
        </p:spPr>
      </p:pic>
      <p:sp>
        <p:nvSpPr>
          <p:cNvPr id="106" name="Cab. painel"/>
          <p:cNvSpPr txBox="1"/>
          <p:nvPr/>
        </p:nvSpPr>
        <p:spPr>
          <a:xfrm>
            <a:off x="12000000" y="2480000"/>
            <a:ext cx="5526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p10–p90 DA MARGEM LÍQUIDA POR CLUSTER</a:t>
            </a:r>
          </a:p>
        </p:txBody>
      </p:sp>
      <p:sp>
        <p:nvSpPr>
          <p:cNvPr id="107" name="Tab fundo"/>
          <p:cNvSpPr/>
          <p:nvPr/>
        </p:nvSpPr>
        <p:spPr>
          <a:xfrm>
            <a:off x="12000000" y="2850000"/>
            <a:ext cx="5526000" cy="4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47" name="Linha cabeçalho"/>
          <p:cNvSpPr/>
          <p:nvPr/>
        </p:nvSpPr>
        <p:spPr>
          <a:xfrm>
            <a:off x="12000000" y="3240856"/>
            <a:ext cx="5526000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8" name="Tab cel"/>
          <p:cNvSpPr txBox="1"/>
          <p:nvPr/>
        </p:nvSpPr>
        <p:spPr>
          <a:xfrm>
            <a:off x="12080000" y="2850000"/>
            <a:ext cx="123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</a:p>
        </p:txBody>
      </p:sp>
      <p:sp>
        <p:nvSpPr>
          <p:cNvPr id="109" name="Tab cel"/>
          <p:cNvSpPr txBox="1"/>
          <p:nvPr/>
        </p:nvSpPr>
        <p:spPr>
          <a:xfrm>
            <a:off x="13430000" y="28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+ preço</a:t>
            </a:r>
          </a:p>
        </p:txBody>
      </p:sp>
      <p:sp>
        <p:nvSpPr>
          <p:cNvPr id="110" name="Tab cel"/>
          <p:cNvSpPr txBox="1"/>
          <p:nvPr/>
        </p:nvSpPr>
        <p:spPr>
          <a:xfrm>
            <a:off x="14430000" y="28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mix</a:t>
            </a:r>
          </a:p>
        </p:txBody>
      </p:sp>
      <p:sp>
        <p:nvSpPr>
          <p:cNvPr id="111" name="Tab cel"/>
          <p:cNvSpPr txBox="1"/>
          <p:nvPr/>
        </p:nvSpPr>
        <p:spPr>
          <a:xfrm>
            <a:off x="15430000" y="2850000"/>
            <a:ext cx="9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</a:p>
        </p:txBody>
      </p:sp>
      <p:sp>
        <p:nvSpPr>
          <p:cNvPr id="112" name="Tab cel"/>
          <p:cNvSpPr txBox="1"/>
          <p:nvPr/>
        </p:nvSpPr>
        <p:spPr>
          <a:xfrm>
            <a:off x="16530000" y="2850000"/>
            <a:ext cx="956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de ±3 p.p.</a:t>
            </a:r>
          </a:p>
        </p:txBody>
      </p:sp>
      <p:sp>
        <p:nvSpPr>
          <p:cNvPr id="113" name="Tab fundo"/>
          <p:cNvSpPr/>
          <p:nvPr/>
        </p:nvSpPr>
        <p:spPr>
          <a:xfrm>
            <a:off x="12000000" y="3250000"/>
            <a:ext cx="5526000" cy="400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4" name="Tab cel"/>
          <p:cNvSpPr txBox="1"/>
          <p:nvPr/>
        </p:nvSpPr>
        <p:spPr>
          <a:xfrm>
            <a:off x="12080000" y="3250000"/>
            <a:ext cx="123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GG/GG</a:t>
            </a:r>
          </a:p>
        </p:txBody>
      </p:sp>
      <p:sp>
        <p:nvSpPr>
          <p:cNvPr id="115" name="Tab cel"/>
          <p:cNvSpPr txBox="1"/>
          <p:nvPr/>
        </p:nvSpPr>
        <p:spPr>
          <a:xfrm>
            <a:off x="13430000" y="32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 p.p.</a:t>
            </a:r>
          </a:p>
        </p:txBody>
      </p:sp>
      <p:sp>
        <p:nvSpPr>
          <p:cNvPr id="116" name="Tab cel"/>
          <p:cNvSpPr txBox="1"/>
          <p:nvPr/>
        </p:nvSpPr>
        <p:spPr>
          <a:xfrm>
            <a:off x="14430000" y="32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 p.p.</a:t>
            </a:r>
          </a:p>
        </p:txBody>
      </p:sp>
      <p:sp>
        <p:nvSpPr>
          <p:cNvPr id="117" name="Tab cel"/>
          <p:cNvSpPr txBox="1"/>
          <p:nvPr/>
        </p:nvSpPr>
        <p:spPr>
          <a:xfrm>
            <a:off x="15430000" y="3250000"/>
            <a:ext cx="9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</a:p>
        </p:txBody>
      </p:sp>
      <p:sp>
        <p:nvSpPr>
          <p:cNvPr id="118" name="Tab cel"/>
          <p:cNvSpPr txBox="1"/>
          <p:nvPr/>
        </p:nvSpPr>
        <p:spPr>
          <a:xfrm>
            <a:off x="16530000" y="3250000"/>
            <a:ext cx="956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</a:p>
        </p:txBody>
      </p:sp>
      <p:sp>
        <p:nvSpPr>
          <p:cNvPr id="119" name="Tab fundo"/>
          <p:cNvSpPr/>
          <p:nvPr/>
        </p:nvSpPr>
        <p:spPr>
          <a:xfrm>
            <a:off x="12000000" y="3650000"/>
            <a:ext cx="5526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0" name="Tab cel"/>
          <p:cNvSpPr txBox="1"/>
          <p:nvPr/>
        </p:nvSpPr>
        <p:spPr>
          <a:xfrm>
            <a:off x="12080000" y="3650000"/>
            <a:ext cx="123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</a:p>
        </p:txBody>
      </p:sp>
      <p:sp>
        <p:nvSpPr>
          <p:cNvPr id="121" name="Tab cel"/>
          <p:cNvSpPr txBox="1"/>
          <p:nvPr/>
        </p:nvSpPr>
        <p:spPr>
          <a:xfrm>
            <a:off x="13430000" y="36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 p.p.</a:t>
            </a:r>
          </a:p>
        </p:txBody>
      </p:sp>
      <p:sp>
        <p:nvSpPr>
          <p:cNvPr id="122" name="Tab cel"/>
          <p:cNvSpPr txBox="1"/>
          <p:nvPr/>
        </p:nvSpPr>
        <p:spPr>
          <a:xfrm>
            <a:off x="14430000" y="36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 p.p.</a:t>
            </a:r>
          </a:p>
        </p:txBody>
      </p:sp>
      <p:sp>
        <p:nvSpPr>
          <p:cNvPr id="123" name="Tab cel"/>
          <p:cNvSpPr txBox="1"/>
          <p:nvPr/>
        </p:nvSpPr>
        <p:spPr>
          <a:xfrm>
            <a:off x="15430000" y="3650000"/>
            <a:ext cx="9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536</a:t>
            </a:r>
          </a:p>
        </p:txBody>
      </p:sp>
      <p:sp>
        <p:nvSpPr>
          <p:cNvPr id="124" name="Tab cel"/>
          <p:cNvSpPr txBox="1"/>
          <p:nvPr/>
        </p:nvSpPr>
        <p:spPr>
          <a:xfrm>
            <a:off x="16530000" y="3650000"/>
            <a:ext cx="956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</a:p>
        </p:txBody>
      </p:sp>
      <p:sp>
        <p:nvSpPr>
          <p:cNvPr id="125" name="Tab fundo"/>
          <p:cNvSpPr/>
          <p:nvPr/>
        </p:nvSpPr>
        <p:spPr>
          <a:xfrm>
            <a:off x="12000000" y="4050000"/>
            <a:ext cx="5526000" cy="400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6" name="Tab cel"/>
          <p:cNvSpPr txBox="1"/>
          <p:nvPr/>
        </p:nvSpPr>
        <p:spPr>
          <a:xfrm>
            <a:off x="12080000" y="4050000"/>
            <a:ext cx="123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</a:p>
        </p:txBody>
      </p:sp>
      <p:sp>
        <p:nvSpPr>
          <p:cNvPr id="127" name="Tab cel"/>
          <p:cNvSpPr txBox="1"/>
          <p:nvPr/>
        </p:nvSpPr>
        <p:spPr>
          <a:xfrm>
            <a:off x="13430000" y="40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 p.p.</a:t>
            </a:r>
          </a:p>
        </p:txBody>
      </p:sp>
      <p:sp>
        <p:nvSpPr>
          <p:cNvPr id="128" name="Tab cel"/>
          <p:cNvSpPr txBox="1"/>
          <p:nvPr/>
        </p:nvSpPr>
        <p:spPr>
          <a:xfrm>
            <a:off x="14430000" y="40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 p.p.</a:t>
            </a:r>
          </a:p>
        </p:txBody>
      </p:sp>
      <p:sp>
        <p:nvSpPr>
          <p:cNvPr id="129" name="Tab cel"/>
          <p:cNvSpPr txBox="1"/>
          <p:nvPr/>
        </p:nvSpPr>
        <p:spPr>
          <a:xfrm>
            <a:off x="15430000" y="4050000"/>
            <a:ext cx="9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1.521</a:t>
            </a:r>
          </a:p>
        </p:txBody>
      </p:sp>
      <p:sp>
        <p:nvSpPr>
          <p:cNvPr id="130" name="Tab cel"/>
          <p:cNvSpPr txBox="1"/>
          <p:nvPr/>
        </p:nvSpPr>
        <p:spPr>
          <a:xfrm>
            <a:off x="16530000" y="4050000"/>
            <a:ext cx="956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</a:p>
        </p:txBody>
      </p:sp>
      <p:sp>
        <p:nvSpPr>
          <p:cNvPr id="131" name="Tab fundo"/>
          <p:cNvSpPr/>
          <p:nvPr/>
        </p:nvSpPr>
        <p:spPr>
          <a:xfrm>
            <a:off x="12000000" y="4450000"/>
            <a:ext cx="5526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2" name="Tab cel"/>
          <p:cNvSpPr txBox="1"/>
          <p:nvPr/>
        </p:nvSpPr>
        <p:spPr>
          <a:xfrm>
            <a:off x="12080000" y="4450000"/>
            <a:ext cx="123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</a:p>
        </p:txBody>
      </p:sp>
      <p:sp>
        <p:nvSpPr>
          <p:cNvPr id="133" name="Tab cel"/>
          <p:cNvSpPr txBox="1"/>
          <p:nvPr/>
        </p:nvSpPr>
        <p:spPr>
          <a:xfrm>
            <a:off x="13430000" y="44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10,7 p.p.</a:t>
            </a:r>
          </a:p>
        </p:txBody>
      </p:sp>
      <p:sp>
        <p:nvSpPr>
          <p:cNvPr id="134" name="Tab cel"/>
          <p:cNvSpPr txBox="1"/>
          <p:nvPr/>
        </p:nvSpPr>
        <p:spPr>
          <a:xfrm>
            <a:off x="14430000" y="44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 p.p.</a:t>
            </a:r>
          </a:p>
        </p:txBody>
      </p:sp>
      <p:sp>
        <p:nvSpPr>
          <p:cNvPr id="135" name="Tab cel"/>
          <p:cNvSpPr txBox="1"/>
          <p:nvPr/>
        </p:nvSpPr>
        <p:spPr>
          <a:xfrm>
            <a:off x="15430000" y="4450000"/>
            <a:ext cx="9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2.367</a:t>
            </a:r>
          </a:p>
        </p:txBody>
      </p:sp>
      <p:sp>
        <p:nvSpPr>
          <p:cNvPr id="136" name="Tab cel"/>
          <p:cNvSpPr txBox="1"/>
          <p:nvPr/>
        </p:nvSpPr>
        <p:spPr>
          <a:xfrm>
            <a:off x="16530000" y="4450000"/>
            <a:ext cx="956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</a:p>
        </p:txBody>
      </p:sp>
      <p:sp>
        <p:nvSpPr>
          <p:cNvPr id="137" name="Card"/>
          <p:cNvSpPr/>
          <p:nvPr/>
        </p:nvSpPr>
        <p:spPr>
          <a:xfrm>
            <a:off x="12000000" y="5000000"/>
            <a:ext cx="5526000" cy="1735000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8" name="Card texto"/>
          <p:cNvSpPr txBox="1"/>
          <p:nvPr/>
        </p:nvSpPr>
        <p:spPr>
          <a:xfrm>
            <a:off x="12200000" y="5150000"/>
            <a:ext cx="5126000" cy="148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os maiores escapam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Super GG/GG, 26% dos clientes estão a mais de 3 p.p. da margem típica do cluster. No P, quase metade (48%).</a:t>
            </a:r>
          </a:p>
        </p:txBody>
      </p:sp>
      <p:sp>
        <p:nvSpPr>
          <p:cNvPr id="139" name="Card"/>
          <p:cNvSpPr/>
          <p:nvPr/>
        </p:nvSpPr>
        <p:spPr>
          <a:xfrm>
            <a:off x="12000000" y="6855000"/>
            <a:ext cx="5526000" cy="1735000"/>
          </a:xfrm>
          <a:prstGeom prst="roundRect">
            <a:avLst>
              <a:gd name="adj" fmla="val 6324"/>
            </a:avLst>
          </a:prstGeom>
          <a:solidFill>
            <a:srgbClr val="FFF4E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0" name="Card texto"/>
          <p:cNvSpPr txBox="1"/>
          <p:nvPr/>
        </p:nvSpPr>
        <p:spPr>
          <a:xfrm>
            <a:off x="12200000" y="7005000"/>
            <a:ext cx="5126000" cy="148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é de preço em todos os tiers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mix explica a mesma fração pequena em todos os clusters. O que cresce do grande para o pequeno é a dispersão do preço pago.</a:t>
            </a:r>
          </a:p>
        </p:txBody>
      </p:sp>
      <p:sp>
        <p:nvSpPr>
          <p:cNvPr id="142" name="Rodapé"/>
          <p:cNvSpPr txBox="1"/>
          <p:nvPr/>
        </p:nvSpPr>
        <p:spPr>
          <a:xfrm>
            <a:off x="762000" y="9740000"/>
            <a:ext cx="15441168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sell-in DataSul jan–mai/26 × Lista de Clientes VD 2026 (cluster por ton/mês: P &lt; 2 · M 2–5 · G 5–12 · GG 12–50 · Super GG ≥ 50). Clientes com receita &gt; R$ 10 mil. Tabela 26/05 do próprio cluster (Super GG/GG; G e M na régua G/M; P). Preço comparado à mediana do SKU × UF × mês dentro do cluster. Eixo Y limitado a 6–44%.</a:t>
            </a:r>
          </a:p>
        </p:txBody>
      </p:sp>
      <p:pic>
        <p:nvPicPr>
          <p:cNvPr id="5043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044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45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046" name="Número da página"/>
          <p:cNvSpPr txBox="1"/>
          <p:nvPr/>
        </p:nvSpPr>
        <p:spPr>
          <a:xfrm>
            <a:off x="16340328" y="974000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62000" y="2966219"/>
            <a:ext cx="16764000" cy="1781175"/>
          </a:xfrm>
          <a:prstGeom prst="roundRect">
            <a:avLst>
              <a:gd name="adj" fmla="val 6160"/>
            </a:avLst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181100" y="3328169"/>
            <a:ext cx="1227963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100">
                <a:solidFill>
                  <a:srgbClr val="DC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CAMADA 1 · TABELA</a:t>
            </a:r>
            <a:endParaRPr lang="en-US" sz="1275"/>
          </a:p>
        </p:txBody>
      </p:sp>
      <p:sp>
        <p:nvSpPr>
          <p:cNvPr id="7" name="Text 5"/>
          <p:cNvSpPr/>
          <p:nvPr/>
        </p:nvSpPr>
        <p:spPr>
          <a:xfrm>
            <a:off x="1181100" y="3571056"/>
            <a:ext cx="1227963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Tabela — papel do canal</a:t>
            </a: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endParaRPr lang="en-US" sz="3000"/>
          </a:p>
        </p:txBody>
      </p:sp>
      <p:sp>
        <p:nvSpPr>
          <p:cNvPr id="8" name="Text 6"/>
          <p:cNvSpPr/>
          <p:nvPr/>
        </p:nvSpPr>
        <p:spPr>
          <a:xfrm>
            <a:off x="1181100" y="4104456"/>
            <a:ext cx="1227963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>
                <a:solidFill>
                  <a:srgbClr val="DC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líquida por categoria × canal. Incondicional. Não é verba: é preço.</a:t>
            </a:r>
            <a:endParaRPr lang="en-US" sz="1800"/>
          </a:p>
        </p:txBody>
      </p:sp>
      <p:sp>
        <p:nvSpPr>
          <p:cNvPr id="11" name="Shape 9"/>
          <p:cNvSpPr/>
          <p:nvPr/>
        </p:nvSpPr>
        <p:spPr>
          <a:xfrm>
            <a:off x="762000" y="4918844"/>
            <a:ext cx="16764000" cy="1781175"/>
          </a:xfrm>
          <a:prstGeom prst="roundRect">
            <a:avLst>
              <a:gd name="adj" fmla="val 6160"/>
            </a:avLst>
          </a:prstGeom>
          <a:solidFill>
            <a:srgbClr val="7BA0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81100" y="5280794"/>
            <a:ext cx="1227963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100">
                <a:solidFill>
                  <a:srgbClr val="0A1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CAMADA 2 · INCENTIVO AO CLIENTE</a:t>
            </a:r>
            <a:endParaRPr lang="en-US" sz="1275"/>
          </a:p>
        </p:txBody>
      </p:sp>
      <p:sp>
        <p:nvSpPr>
          <p:cNvPr id="13" name="Text 11"/>
          <p:cNvSpPr/>
          <p:nvPr/>
        </p:nvSpPr>
        <p:spPr>
          <a:xfrm>
            <a:off x="1181100" y="5523681"/>
            <a:ext cx="1227963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>
                <a:solidFill>
                  <a:srgbClr val="0A1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Incentivo ao cliente — performance</a:t>
            </a:r>
            <a:r>
              <a:rPr lang="en-US" sz="3000" b="1" err="1">
                <a:solidFill>
                  <a:srgbClr val="0A1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r>
              <a:rPr lang="en-US" sz="3000" b="1">
                <a:solidFill>
                  <a:srgbClr val="0A1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endParaRPr lang="en-US" sz="3000"/>
          </a:p>
        </p:txBody>
      </p:sp>
      <p:sp>
        <p:nvSpPr>
          <p:cNvPr id="14" name="Text 12"/>
          <p:cNvSpPr/>
          <p:nvPr/>
        </p:nvSpPr>
        <p:spPr>
          <a:xfrm>
            <a:off x="1181100" y="6057081"/>
            <a:ext cx="1227963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>
                <a:solidFill>
                  <a:srgbClr val="0A1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Percentual condicional a meta, on invoice por elegibilidade. Remunera o incremental.</a:t>
            </a:r>
            <a:endParaRPr lang="en-US" sz="1800"/>
          </a:p>
        </p:txBody>
      </p:sp>
      <p:sp>
        <p:nvSpPr>
          <p:cNvPr id="17" name="Shape 15"/>
          <p:cNvSpPr/>
          <p:nvPr/>
        </p:nvSpPr>
        <p:spPr>
          <a:xfrm>
            <a:off x="762000" y="6871469"/>
            <a:ext cx="16764000" cy="1781175"/>
          </a:xfrm>
          <a:prstGeom prst="roundRect">
            <a:avLst>
              <a:gd name="adj" fmla="val 616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62000" y="6871469"/>
            <a:ext cx="133350" cy="1781175"/>
          </a:xfrm>
          <a:prstGeom prst="rect">
            <a:avLst/>
          </a:prstGeom>
          <a:solidFill>
            <a:srgbClr val="C3D3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314450" y="7233419"/>
            <a:ext cx="1213294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10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CAMADA 3 · INCENTIVO AO SHOPPER</a:t>
            </a:r>
            <a:endParaRPr lang="en-US" sz="1275"/>
          </a:p>
        </p:txBody>
      </p:sp>
      <p:sp>
        <p:nvSpPr>
          <p:cNvPr id="20" name="Text 18"/>
          <p:cNvSpPr/>
          <p:nvPr/>
        </p:nvSpPr>
        <p:spPr>
          <a:xfrm>
            <a:off x="1314450" y="7476306"/>
            <a:ext cx="1213294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Incentivo ao shopper — investimento visível</a:t>
            </a:r>
            <a:endParaRPr lang="en-US" sz="3000"/>
          </a:p>
        </p:txBody>
      </p:sp>
      <p:sp>
        <p:nvSpPr>
          <p:cNvPr id="21" name="Text 19"/>
          <p:cNvSpPr/>
          <p:nvPr/>
        </p:nvSpPr>
        <p:spPr>
          <a:xfrm>
            <a:off x="1314450" y="8009706"/>
            <a:ext cx="1213294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 </a:t>
            </a:r>
            <a:r>
              <a:rPr lang="en-US" sz="1800" dirty="0" err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cuja</a:t>
            </a:r>
            <a:r>
              <a:rPr lang="en-US" sz="1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r>
              <a:rPr lang="en-US" sz="1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</a:t>
            </a:r>
            <a:r>
              <a:rPr lang="en-US" sz="1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chegar</a:t>
            </a:r>
            <a:r>
              <a:rPr lang="en-US" sz="1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à gondola</a:t>
            </a:r>
            <a:r>
              <a:rPr lang="en-US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</a:t>
            </a:r>
            <a:r>
              <a:rPr lang="en-US" sz="1800" dirty="0" err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</a:t>
            </a:r>
            <a:r>
              <a:rPr lang="en-US" sz="1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800" dirty="0" err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</a:t>
            </a:r>
            <a:r>
              <a:rPr lang="en-US" sz="1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B2B0B262-9E65-2563-5290-04F5F206B605}"/>
              </a:ext>
            </a:extLst>
          </p:cNvPr>
          <p:cNvSpPr/>
          <p:nvPr/>
        </p:nvSpPr>
        <p:spPr>
          <a:xfrm>
            <a:off x="758952" y="747356"/>
            <a:ext cx="13368528" cy="629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4200" b="1" kern="0" spc="-63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 xml:space="preserve">As 3 camadas da política comercial</a:t>
            </a:r>
            <a:endParaRPr lang="en-US" sz="4200"/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9BD51BF2-ADCC-BCFC-A011-BEA80D94C0B8}"/>
              </a:ext>
            </a:extLst>
          </p:cNvPr>
          <p:cNvSpPr/>
          <p:nvPr/>
        </p:nvSpPr>
        <p:spPr>
          <a:xfrm>
            <a:off x="762000" y="1404581"/>
            <a:ext cx="163449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312"/>
              </a:lnSpc>
              <a:buNone/>
            </a:pPr>
            <a:r>
              <a:rPr lang="pt-BR" sz="1650" i="1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camada soma um pedaço do desconto e tem a sua própria regra de pagamento</a:t>
            </a:r>
          </a:p>
          <a:p>
            <a:pPr marL="0" indent="0" algn="l">
              <a:lnSpc>
                <a:spcPct val="120312"/>
              </a:lnSpc>
              <a:buNone/>
            </a:pPr>
            <a:endParaRPr lang="pt-BR" sz="1650" i="1" dirty="0">
              <a:solidFill>
                <a:srgbClr val="888D9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5049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050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51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052" name="Número da página"/>
          <p:cNvSpPr txBox="1"/>
          <p:nvPr/>
        </p:nvSpPr>
        <p:spPr>
          <a:xfrm>
            <a:off x="16340328" y="971092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609600" y="1244203"/>
            <a:ext cx="142875" cy="142875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38200" y="1222772"/>
            <a:ext cx="200000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1 · Tabela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3000000" y="1244203"/>
            <a:ext cx="142875" cy="142875"/>
          </a:xfrm>
          <a:prstGeom prst="rect">
            <a:avLst/>
          </a:prstGeom>
          <a:solidFill>
            <a:srgbClr val="7BA0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228600" y="1222772"/>
            <a:ext cx="300000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2 · Incentivo ao cliente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6400000" y="1244203"/>
            <a:ext cx="142875" cy="142875"/>
          </a:xfrm>
          <a:prstGeom prst="rect">
            <a:avLst/>
          </a:prstGeom>
          <a:solidFill>
            <a:srgbClr val="C3D3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628600" y="1222772"/>
            <a:ext cx="320000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3 · Incentivo ao shopper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647700" y="1503759"/>
            <a:ext cx="1892275" cy="309563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42950" y="1570434"/>
            <a:ext cx="17779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48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2539975" y="1503759"/>
            <a:ext cx="1892275" cy="309563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635225" y="1570434"/>
            <a:ext cx="17779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4432250" y="1503759"/>
            <a:ext cx="1892275" cy="309563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489400" y="1570434"/>
            <a:ext cx="17779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Super GG / GG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6324526" y="1503759"/>
            <a:ext cx="1892275" cy="309563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381676" y="1570434"/>
            <a:ext cx="17779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G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8216801" y="1503759"/>
            <a:ext cx="1892275" cy="309563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273951" y="1570434"/>
            <a:ext cx="17779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M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10109076" y="1503759"/>
            <a:ext cx="1892275" cy="309563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0166226" y="1570434"/>
            <a:ext cx="17779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P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12001351" y="1503759"/>
            <a:ext cx="1892275" cy="309563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2058501" y="1570434"/>
            <a:ext cx="17779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Distribuidor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13893626" y="1503759"/>
            <a:ext cx="1892275" cy="309563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3950776" y="1570434"/>
            <a:ext cx="17779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Pet shop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15785902" y="1503759"/>
            <a:ext cx="1892498" cy="309563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5057" name="Linha cabeçalho"/>
          <p:cNvSpPr/>
          <p:nvPr/>
        </p:nvSpPr>
        <p:spPr>
          <a:xfrm>
            <a:off x="647700" y="1804178"/>
            <a:ext cx="17030700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5881152" y="1570434"/>
            <a:ext cx="177819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647700" y="227528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47699" y="1813322"/>
            <a:ext cx="171451" cy="471488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819150" y="1851422"/>
            <a:ext cx="17017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1 · Tabela</a:t>
            </a:r>
            <a:endParaRPr lang="en-US" sz="1275"/>
          </a:p>
        </p:txBody>
      </p:sp>
      <p:sp>
        <p:nvSpPr>
          <p:cNvPr id="34" name="Shape 32"/>
          <p:cNvSpPr/>
          <p:nvPr/>
        </p:nvSpPr>
        <p:spPr>
          <a:xfrm>
            <a:off x="2539975" y="227528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2635225" y="1851422"/>
            <a:ext cx="17779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</a:t>
            </a:r>
            <a:r>
              <a:rPr lang="en-US" sz="1275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75" dirty="0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líquida</a:t>
            </a:r>
            <a:r>
              <a:rPr lang="en-US" sz="1275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275" dirty="0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</a:t>
            </a:r>
            <a:endParaRPr lang="en-US" sz="1275" dirty="0"/>
          </a:p>
        </p:txBody>
      </p:sp>
      <p:sp>
        <p:nvSpPr>
          <p:cNvPr id="36" name="Shape 34"/>
          <p:cNvSpPr/>
          <p:nvPr/>
        </p:nvSpPr>
        <p:spPr>
          <a:xfrm>
            <a:off x="4432250" y="227528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489400" y="1851422"/>
            <a:ext cx="17779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/>
            <a:r>
              <a:rPr lang="en-US" sz="14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21,9</a:t>
            </a:r>
            <a:r>
              <a:rPr lang="en-US" sz="13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29,0%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324526" y="227528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381676" y="1851422"/>
            <a:ext cx="17779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 / 29,0%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216801" y="227528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8273951" y="1851422"/>
            <a:ext cx="17779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/>
            <a:r>
              <a:rPr lang="en-US" sz="13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 / 29,0%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0109076" y="227528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0166226" y="1851422"/>
            <a:ext cx="17779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/>
            <a:r>
              <a:rPr lang="en-US" sz="14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20,9</a:t>
            </a:r>
            <a:r>
              <a:rPr lang="en-US" sz="13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27,1%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12001351" y="227528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12058501" y="1851422"/>
            <a:ext cx="17779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16,3 / 22,0%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13893626" y="227528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13950776" y="1851422"/>
            <a:ext cx="177797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mark-up 35 / 50%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15785902" y="2275284"/>
            <a:ext cx="1892498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15900202" y="1908572"/>
            <a:ext cx="174009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</a:t>
            </a:r>
            <a:endParaRPr lang="en-US" sz="1350"/>
          </a:p>
        </p:txBody>
      </p:sp>
      <p:sp>
        <p:nvSpPr>
          <p:cNvPr id="50" name="Shape 48"/>
          <p:cNvSpPr/>
          <p:nvPr/>
        </p:nvSpPr>
        <p:spPr>
          <a:xfrm>
            <a:off x="647700" y="2284809"/>
            <a:ext cx="17030700" cy="619125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647700" y="2894409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819150" y="2322909"/>
            <a:ext cx="17017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2 · Incentivo ao cliente</a:t>
            </a:r>
            <a:r>
              <a:rPr lang="en-US" sz="127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275" b="1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27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275" b="1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75"/>
          </a:p>
        </p:txBody>
      </p:sp>
      <p:sp>
        <p:nvSpPr>
          <p:cNvPr id="54" name="Shape 52"/>
          <p:cNvSpPr/>
          <p:nvPr/>
        </p:nvSpPr>
        <p:spPr>
          <a:xfrm>
            <a:off x="2539975" y="2894409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2635225" y="2322909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Sell-in Volume (meta trimestral)</a:t>
            </a:r>
            <a:endParaRPr lang="en-US" sz="1275"/>
          </a:p>
        </p:txBody>
      </p:sp>
      <p:sp>
        <p:nvSpPr>
          <p:cNvPr id="56" name="Shape 54"/>
          <p:cNvSpPr/>
          <p:nvPr/>
        </p:nvSpPr>
        <p:spPr>
          <a:xfrm>
            <a:off x="4432250" y="2894409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4489400" y="2322909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350"/>
          </a:p>
        </p:txBody>
      </p:sp>
      <p:sp>
        <p:nvSpPr>
          <p:cNvPr id="58" name="Shape 56"/>
          <p:cNvSpPr/>
          <p:nvPr/>
        </p:nvSpPr>
        <p:spPr>
          <a:xfrm>
            <a:off x="6324526" y="2894409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6381676" y="2322909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350"/>
          </a:p>
        </p:txBody>
      </p:sp>
      <p:sp>
        <p:nvSpPr>
          <p:cNvPr id="60" name="Shape 58"/>
          <p:cNvSpPr/>
          <p:nvPr/>
        </p:nvSpPr>
        <p:spPr>
          <a:xfrm>
            <a:off x="8216801" y="2894409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8273951" y="2322909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350"/>
          </a:p>
        </p:txBody>
      </p:sp>
      <p:sp>
        <p:nvSpPr>
          <p:cNvPr id="62" name="Shape 60"/>
          <p:cNvSpPr/>
          <p:nvPr/>
        </p:nvSpPr>
        <p:spPr>
          <a:xfrm>
            <a:off x="10109076" y="2894409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10166226" y="2322909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350"/>
          </a:p>
        </p:txBody>
      </p:sp>
      <p:sp>
        <p:nvSpPr>
          <p:cNvPr id="64" name="Shape 62"/>
          <p:cNvSpPr/>
          <p:nvPr/>
        </p:nvSpPr>
        <p:spPr>
          <a:xfrm>
            <a:off x="12001351" y="2894409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12058501" y="2322909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66" name="Shape 64"/>
          <p:cNvSpPr/>
          <p:nvPr/>
        </p:nvSpPr>
        <p:spPr>
          <a:xfrm>
            <a:off x="13893626" y="2894409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13950776" y="2322909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68" name="Shape 66"/>
          <p:cNvSpPr/>
          <p:nvPr/>
        </p:nvSpPr>
        <p:spPr>
          <a:xfrm>
            <a:off x="15785902" y="2894409"/>
            <a:ext cx="1892498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15900202" y="2380059"/>
            <a:ext cx="174009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invoice · elegibilidade</a:t>
            </a:r>
            <a:endParaRPr lang="en-US" sz="1350"/>
          </a:p>
        </p:txBody>
      </p:sp>
      <p:sp>
        <p:nvSpPr>
          <p:cNvPr id="70" name="Shape 68"/>
          <p:cNvSpPr/>
          <p:nvPr/>
        </p:nvSpPr>
        <p:spPr>
          <a:xfrm>
            <a:off x="647700" y="351353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Shape 70"/>
          <p:cNvSpPr/>
          <p:nvPr/>
        </p:nvSpPr>
        <p:spPr>
          <a:xfrm>
            <a:off x="2539975" y="351353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Text 71"/>
          <p:cNvSpPr/>
          <p:nvPr/>
        </p:nvSpPr>
        <p:spPr>
          <a:xfrm>
            <a:off x="2635225" y="2942034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Sell-in Mix (subfamílias-alvo)</a:t>
            </a:r>
            <a:endParaRPr lang="en-US" sz="1275"/>
          </a:p>
        </p:txBody>
      </p:sp>
      <p:sp>
        <p:nvSpPr>
          <p:cNvPr id="74" name="Shape 72"/>
          <p:cNvSpPr/>
          <p:nvPr/>
        </p:nvSpPr>
        <p:spPr>
          <a:xfrm>
            <a:off x="4432250" y="351353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4489400" y="2942034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350"/>
          </a:p>
        </p:txBody>
      </p:sp>
      <p:sp>
        <p:nvSpPr>
          <p:cNvPr id="76" name="Shape 74"/>
          <p:cNvSpPr/>
          <p:nvPr/>
        </p:nvSpPr>
        <p:spPr>
          <a:xfrm>
            <a:off x="6324526" y="351353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7" name="Text 75"/>
          <p:cNvSpPr/>
          <p:nvPr/>
        </p:nvSpPr>
        <p:spPr>
          <a:xfrm>
            <a:off x="6381676" y="2942034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350"/>
          </a:p>
        </p:txBody>
      </p:sp>
      <p:sp>
        <p:nvSpPr>
          <p:cNvPr id="78" name="Shape 76"/>
          <p:cNvSpPr/>
          <p:nvPr/>
        </p:nvSpPr>
        <p:spPr>
          <a:xfrm>
            <a:off x="8216801" y="351353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9" name="Text 77"/>
          <p:cNvSpPr/>
          <p:nvPr/>
        </p:nvSpPr>
        <p:spPr>
          <a:xfrm>
            <a:off x="8273951" y="2942034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350"/>
          </a:p>
        </p:txBody>
      </p:sp>
      <p:sp>
        <p:nvSpPr>
          <p:cNvPr id="80" name="Shape 78"/>
          <p:cNvSpPr/>
          <p:nvPr/>
        </p:nvSpPr>
        <p:spPr>
          <a:xfrm>
            <a:off x="10109076" y="351353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1" name="Text 79"/>
          <p:cNvSpPr/>
          <p:nvPr/>
        </p:nvSpPr>
        <p:spPr>
          <a:xfrm>
            <a:off x="10166226" y="2942034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350"/>
          </a:p>
        </p:txBody>
      </p:sp>
      <p:sp>
        <p:nvSpPr>
          <p:cNvPr id="82" name="Shape 80"/>
          <p:cNvSpPr/>
          <p:nvPr/>
        </p:nvSpPr>
        <p:spPr>
          <a:xfrm>
            <a:off x="12001351" y="351353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Text 81"/>
          <p:cNvSpPr/>
          <p:nvPr/>
        </p:nvSpPr>
        <p:spPr>
          <a:xfrm>
            <a:off x="12058501" y="2942034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84" name="Shape 82"/>
          <p:cNvSpPr/>
          <p:nvPr/>
        </p:nvSpPr>
        <p:spPr>
          <a:xfrm>
            <a:off x="13893626" y="351353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5" name="Text 83"/>
          <p:cNvSpPr/>
          <p:nvPr/>
        </p:nvSpPr>
        <p:spPr>
          <a:xfrm>
            <a:off x="13950776" y="2942034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86" name="Shape 84"/>
          <p:cNvSpPr/>
          <p:nvPr/>
        </p:nvSpPr>
        <p:spPr>
          <a:xfrm>
            <a:off x="15785902" y="3513534"/>
            <a:ext cx="1892498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7" name="Text 85"/>
          <p:cNvSpPr/>
          <p:nvPr/>
        </p:nvSpPr>
        <p:spPr>
          <a:xfrm>
            <a:off x="15900202" y="2999184"/>
            <a:ext cx="174009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invoice · elegibilidade</a:t>
            </a:r>
            <a:endParaRPr lang="en-US" sz="1350"/>
          </a:p>
        </p:txBody>
      </p:sp>
      <p:sp>
        <p:nvSpPr>
          <p:cNvPr id="88" name="Shape 86"/>
          <p:cNvSpPr/>
          <p:nvPr/>
        </p:nvSpPr>
        <p:spPr>
          <a:xfrm>
            <a:off x="647700" y="3523059"/>
            <a:ext cx="17030700" cy="619125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9" name="Shape 87"/>
          <p:cNvSpPr/>
          <p:nvPr/>
        </p:nvSpPr>
        <p:spPr>
          <a:xfrm>
            <a:off x="647700" y="4132659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1" name="Shape 89"/>
          <p:cNvSpPr/>
          <p:nvPr/>
        </p:nvSpPr>
        <p:spPr>
          <a:xfrm>
            <a:off x="2539975" y="4132659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2" name="Text 90"/>
          <p:cNvSpPr/>
          <p:nvPr/>
        </p:nvSpPr>
        <p:spPr>
          <a:xfrm>
            <a:off x="2635225" y="3561159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JBP (Super GG/GG) · Especialista (G, M)</a:t>
            </a:r>
            <a:endParaRPr lang="en-US" sz="1275"/>
          </a:p>
        </p:txBody>
      </p:sp>
      <p:sp>
        <p:nvSpPr>
          <p:cNvPr id="93" name="Shape 91"/>
          <p:cNvSpPr/>
          <p:nvPr/>
        </p:nvSpPr>
        <p:spPr>
          <a:xfrm>
            <a:off x="4432250" y="4132659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4" name="Text 92"/>
          <p:cNvSpPr/>
          <p:nvPr/>
        </p:nvSpPr>
        <p:spPr>
          <a:xfrm>
            <a:off x="4489400" y="3561159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350"/>
          </a:p>
        </p:txBody>
      </p:sp>
      <p:sp>
        <p:nvSpPr>
          <p:cNvPr id="95" name="Shape 93"/>
          <p:cNvSpPr/>
          <p:nvPr/>
        </p:nvSpPr>
        <p:spPr>
          <a:xfrm>
            <a:off x="6324526" y="4132659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6" name="Text 94"/>
          <p:cNvSpPr/>
          <p:nvPr/>
        </p:nvSpPr>
        <p:spPr>
          <a:xfrm>
            <a:off x="6381676" y="3561159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350"/>
          </a:p>
        </p:txBody>
      </p:sp>
      <p:sp>
        <p:nvSpPr>
          <p:cNvPr id="97" name="Shape 95"/>
          <p:cNvSpPr/>
          <p:nvPr/>
        </p:nvSpPr>
        <p:spPr>
          <a:xfrm>
            <a:off x="8216801" y="4132659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8" name="Text 96"/>
          <p:cNvSpPr/>
          <p:nvPr/>
        </p:nvSpPr>
        <p:spPr>
          <a:xfrm>
            <a:off x="8273951" y="3561159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350"/>
          </a:p>
        </p:txBody>
      </p:sp>
      <p:sp>
        <p:nvSpPr>
          <p:cNvPr id="99" name="Shape 97"/>
          <p:cNvSpPr/>
          <p:nvPr/>
        </p:nvSpPr>
        <p:spPr>
          <a:xfrm>
            <a:off x="10109076" y="4132659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0" name="Text 98"/>
          <p:cNvSpPr/>
          <p:nvPr/>
        </p:nvSpPr>
        <p:spPr>
          <a:xfrm>
            <a:off x="10166226" y="3561159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101" name="Shape 99"/>
          <p:cNvSpPr/>
          <p:nvPr/>
        </p:nvSpPr>
        <p:spPr>
          <a:xfrm>
            <a:off x="12001351" y="4132659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2" name="Text 100"/>
          <p:cNvSpPr/>
          <p:nvPr/>
        </p:nvSpPr>
        <p:spPr>
          <a:xfrm>
            <a:off x="12058501" y="3561159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103" name="Shape 101"/>
          <p:cNvSpPr/>
          <p:nvPr/>
        </p:nvSpPr>
        <p:spPr>
          <a:xfrm>
            <a:off x="13893626" y="4132659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4" name="Text 102"/>
          <p:cNvSpPr/>
          <p:nvPr/>
        </p:nvSpPr>
        <p:spPr>
          <a:xfrm>
            <a:off x="13950776" y="3561159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105" name="Shape 103"/>
          <p:cNvSpPr/>
          <p:nvPr/>
        </p:nvSpPr>
        <p:spPr>
          <a:xfrm>
            <a:off x="15785902" y="4132659"/>
            <a:ext cx="1892498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6" name="Text 104"/>
          <p:cNvSpPr/>
          <p:nvPr/>
        </p:nvSpPr>
        <p:spPr>
          <a:xfrm>
            <a:off x="15900202" y="3618309"/>
            <a:ext cx="174009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invoice · elegibilidade</a:t>
            </a:r>
            <a:endParaRPr lang="en-US" sz="1350"/>
          </a:p>
        </p:txBody>
      </p:sp>
      <p:sp>
        <p:nvSpPr>
          <p:cNvPr id="107" name="Shape 105"/>
          <p:cNvSpPr/>
          <p:nvPr/>
        </p:nvSpPr>
        <p:spPr>
          <a:xfrm>
            <a:off x="647700" y="475178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8" name="Shape 106"/>
          <p:cNvSpPr/>
          <p:nvPr/>
        </p:nvSpPr>
        <p:spPr>
          <a:xfrm>
            <a:off x="647700" y="2284810"/>
            <a:ext cx="171450" cy="2476500"/>
          </a:xfrm>
          <a:prstGeom prst="rect">
            <a:avLst/>
          </a:prstGeom>
          <a:solidFill>
            <a:srgbClr val="7BA0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9" name="Shape 107"/>
          <p:cNvSpPr/>
          <p:nvPr/>
        </p:nvSpPr>
        <p:spPr>
          <a:xfrm>
            <a:off x="2539975" y="475178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0" name="Text 108"/>
          <p:cNvSpPr/>
          <p:nvPr/>
        </p:nvSpPr>
        <p:spPr>
          <a:xfrm>
            <a:off x="2635225" y="4180284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Volume + Mix (sell-through mensal)</a:t>
            </a:r>
            <a:endParaRPr lang="en-US" sz="1275"/>
          </a:p>
        </p:txBody>
      </p:sp>
      <p:sp>
        <p:nvSpPr>
          <p:cNvPr id="111" name="Shape 109"/>
          <p:cNvSpPr/>
          <p:nvPr/>
        </p:nvSpPr>
        <p:spPr>
          <a:xfrm>
            <a:off x="4432250" y="475178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2" name="Text 110"/>
          <p:cNvSpPr/>
          <p:nvPr/>
        </p:nvSpPr>
        <p:spPr>
          <a:xfrm>
            <a:off x="4489400" y="4180284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113" name="Shape 111"/>
          <p:cNvSpPr/>
          <p:nvPr/>
        </p:nvSpPr>
        <p:spPr>
          <a:xfrm>
            <a:off x="6324526" y="475178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4" name="Text 112"/>
          <p:cNvSpPr/>
          <p:nvPr/>
        </p:nvSpPr>
        <p:spPr>
          <a:xfrm>
            <a:off x="6381676" y="4180284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115" name="Shape 113"/>
          <p:cNvSpPr/>
          <p:nvPr/>
        </p:nvSpPr>
        <p:spPr>
          <a:xfrm>
            <a:off x="8216801" y="475178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6" name="Text 114"/>
          <p:cNvSpPr/>
          <p:nvPr/>
        </p:nvSpPr>
        <p:spPr>
          <a:xfrm>
            <a:off x="8273951" y="4180284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117" name="Shape 115"/>
          <p:cNvSpPr/>
          <p:nvPr/>
        </p:nvSpPr>
        <p:spPr>
          <a:xfrm>
            <a:off x="10109076" y="475178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8" name="Text 116"/>
          <p:cNvSpPr/>
          <p:nvPr/>
        </p:nvSpPr>
        <p:spPr>
          <a:xfrm>
            <a:off x="10166226" y="4180284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119" name="Shape 117"/>
          <p:cNvSpPr/>
          <p:nvPr/>
        </p:nvSpPr>
        <p:spPr>
          <a:xfrm>
            <a:off x="12001351" y="475178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0" name="Text 118"/>
          <p:cNvSpPr/>
          <p:nvPr/>
        </p:nvSpPr>
        <p:spPr>
          <a:xfrm>
            <a:off x="12058501" y="4180284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+ 1%</a:t>
            </a:r>
            <a:endParaRPr lang="en-US" sz="1350"/>
          </a:p>
        </p:txBody>
      </p:sp>
      <p:sp>
        <p:nvSpPr>
          <p:cNvPr id="121" name="Shape 119"/>
          <p:cNvSpPr/>
          <p:nvPr/>
        </p:nvSpPr>
        <p:spPr>
          <a:xfrm>
            <a:off x="13893626" y="4751784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2" name="Text 120"/>
          <p:cNvSpPr/>
          <p:nvPr/>
        </p:nvSpPr>
        <p:spPr>
          <a:xfrm>
            <a:off x="13950776" y="4180284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123" name="Shape 121"/>
          <p:cNvSpPr/>
          <p:nvPr/>
        </p:nvSpPr>
        <p:spPr>
          <a:xfrm>
            <a:off x="15785902" y="4751784"/>
            <a:ext cx="1892498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4" name="Text 122"/>
          <p:cNvSpPr/>
          <p:nvPr/>
        </p:nvSpPr>
        <p:spPr>
          <a:xfrm>
            <a:off x="15900202" y="4237434"/>
            <a:ext cx="174009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invoice · elegibilidade</a:t>
            </a:r>
            <a:endParaRPr lang="en-US" sz="1350"/>
          </a:p>
        </p:txBody>
      </p:sp>
      <p:sp>
        <p:nvSpPr>
          <p:cNvPr id="125" name="Shape 123"/>
          <p:cNvSpPr/>
          <p:nvPr/>
        </p:nvSpPr>
        <p:spPr>
          <a:xfrm>
            <a:off x="647700" y="4761309"/>
            <a:ext cx="17030700" cy="671513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6" name="Shape 124"/>
          <p:cNvSpPr/>
          <p:nvPr/>
        </p:nvSpPr>
        <p:spPr>
          <a:xfrm>
            <a:off x="647700" y="5423297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7" name="Shape 125"/>
          <p:cNvSpPr/>
          <p:nvPr/>
        </p:nvSpPr>
        <p:spPr>
          <a:xfrm>
            <a:off x="647700" y="4761309"/>
            <a:ext cx="171450" cy="671513"/>
          </a:xfrm>
          <a:prstGeom prst="rect">
            <a:avLst/>
          </a:prstGeom>
          <a:solidFill>
            <a:srgbClr val="7BA0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8" name="Shape 126"/>
          <p:cNvSpPr/>
          <p:nvPr/>
        </p:nvSpPr>
        <p:spPr>
          <a:xfrm>
            <a:off x="2539975" y="5423297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9" name="Text 127"/>
          <p:cNvSpPr/>
          <p:nvPr/>
        </p:nvSpPr>
        <p:spPr>
          <a:xfrm>
            <a:off x="2635225" y="4799409"/>
            <a:ext cx="1777975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Incentivo condicional (mix + sell-in, via distribuidor)</a:t>
            </a:r>
            <a:endParaRPr lang="en-US" sz="1275"/>
          </a:p>
        </p:txBody>
      </p:sp>
      <p:sp>
        <p:nvSpPr>
          <p:cNvPr id="130" name="Shape 128"/>
          <p:cNvSpPr/>
          <p:nvPr/>
        </p:nvSpPr>
        <p:spPr>
          <a:xfrm>
            <a:off x="4432250" y="5423297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1" name="Text 129"/>
          <p:cNvSpPr/>
          <p:nvPr/>
        </p:nvSpPr>
        <p:spPr>
          <a:xfrm>
            <a:off x="4489400" y="4799409"/>
            <a:ext cx="1777975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132" name="Shape 130"/>
          <p:cNvSpPr/>
          <p:nvPr/>
        </p:nvSpPr>
        <p:spPr>
          <a:xfrm>
            <a:off x="6324526" y="5423297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3" name="Text 131"/>
          <p:cNvSpPr/>
          <p:nvPr/>
        </p:nvSpPr>
        <p:spPr>
          <a:xfrm>
            <a:off x="6381676" y="4799409"/>
            <a:ext cx="1777975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134" name="Shape 132"/>
          <p:cNvSpPr/>
          <p:nvPr/>
        </p:nvSpPr>
        <p:spPr>
          <a:xfrm>
            <a:off x="8216801" y="5423297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5" name="Text 133"/>
          <p:cNvSpPr/>
          <p:nvPr/>
        </p:nvSpPr>
        <p:spPr>
          <a:xfrm>
            <a:off x="8273951" y="4799409"/>
            <a:ext cx="1777975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136" name="Shape 134"/>
          <p:cNvSpPr/>
          <p:nvPr/>
        </p:nvSpPr>
        <p:spPr>
          <a:xfrm>
            <a:off x="10109076" y="5423297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7" name="Text 135"/>
          <p:cNvSpPr/>
          <p:nvPr/>
        </p:nvSpPr>
        <p:spPr>
          <a:xfrm>
            <a:off x="10166226" y="4799409"/>
            <a:ext cx="1777975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138" name="Shape 136"/>
          <p:cNvSpPr/>
          <p:nvPr/>
        </p:nvSpPr>
        <p:spPr>
          <a:xfrm>
            <a:off x="12001351" y="5423297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9" name="Text 137"/>
          <p:cNvSpPr/>
          <p:nvPr/>
        </p:nvSpPr>
        <p:spPr>
          <a:xfrm>
            <a:off x="12058501" y="4799409"/>
            <a:ext cx="1777975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140" name="Shape 138"/>
          <p:cNvSpPr/>
          <p:nvPr/>
        </p:nvSpPr>
        <p:spPr>
          <a:xfrm>
            <a:off x="13893626" y="5423297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1" name="Text 139"/>
          <p:cNvSpPr/>
          <p:nvPr/>
        </p:nvSpPr>
        <p:spPr>
          <a:xfrm>
            <a:off x="13950776" y="4799409"/>
            <a:ext cx="1777975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350"/>
          </a:p>
        </p:txBody>
      </p:sp>
      <p:sp>
        <p:nvSpPr>
          <p:cNvPr id="142" name="Shape 140"/>
          <p:cNvSpPr/>
          <p:nvPr/>
        </p:nvSpPr>
        <p:spPr>
          <a:xfrm>
            <a:off x="15785902" y="5423297"/>
            <a:ext cx="1892498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3" name="Text 141"/>
          <p:cNvSpPr/>
          <p:nvPr/>
        </p:nvSpPr>
        <p:spPr>
          <a:xfrm>
            <a:off x="15900202" y="4856559"/>
            <a:ext cx="17400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invoice · repasse</a:t>
            </a:r>
            <a:endParaRPr lang="en-US" sz="1350"/>
          </a:p>
        </p:txBody>
      </p:sp>
      <p:sp>
        <p:nvSpPr>
          <p:cNvPr id="144" name="Shape 142"/>
          <p:cNvSpPr/>
          <p:nvPr/>
        </p:nvSpPr>
        <p:spPr>
          <a:xfrm>
            <a:off x="647700" y="6042422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5" name="Shape 143"/>
          <p:cNvSpPr/>
          <p:nvPr/>
        </p:nvSpPr>
        <p:spPr>
          <a:xfrm>
            <a:off x="647700" y="5432822"/>
            <a:ext cx="171450" cy="619125"/>
          </a:xfrm>
          <a:prstGeom prst="rect">
            <a:avLst/>
          </a:prstGeom>
          <a:solidFill>
            <a:srgbClr val="C3D3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6" name="Text 144"/>
          <p:cNvSpPr/>
          <p:nvPr/>
        </p:nvSpPr>
        <p:spPr>
          <a:xfrm>
            <a:off x="819150" y="5470922"/>
            <a:ext cx="17017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3 · Incentivo ao shopper</a:t>
            </a:r>
            <a:endParaRPr lang="en-US" sz="1275"/>
          </a:p>
        </p:txBody>
      </p:sp>
      <p:sp>
        <p:nvSpPr>
          <p:cNvPr id="147" name="Shape 145"/>
          <p:cNvSpPr/>
          <p:nvPr/>
        </p:nvSpPr>
        <p:spPr>
          <a:xfrm>
            <a:off x="2539975" y="6042422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8" name="Text 146"/>
          <p:cNvSpPr/>
          <p:nvPr/>
        </p:nvSpPr>
        <p:spPr>
          <a:xfrm>
            <a:off x="2635225" y="5470922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RTP (rebaixa temporária de preço)</a:t>
            </a:r>
            <a:endParaRPr lang="en-US" sz="1275"/>
          </a:p>
        </p:txBody>
      </p:sp>
      <p:sp>
        <p:nvSpPr>
          <p:cNvPr id="149" name="Shape 147"/>
          <p:cNvSpPr/>
          <p:nvPr/>
        </p:nvSpPr>
        <p:spPr>
          <a:xfrm>
            <a:off x="4432250" y="6042422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0" name="Text 148"/>
          <p:cNvSpPr/>
          <p:nvPr/>
        </p:nvSpPr>
        <p:spPr>
          <a:xfrm>
            <a:off x="4489400" y="5470922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350"/>
          </a:p>
        </p:txBody>
      </p:sp>
      <p:sp>
        <p:nvSpPr>
          <p:cNvPr id="151" name="Shape 149"/>
          <p:cNvSpPr/>
          <p:nvPr/>
        </p:nvSpPr>
        <p:spPr>
          <a:xfrm>
            <a:off x="6324526" y="6042422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2" name="Text 150"/>
          <p:cNvSpPr/>
          <p:nvPr/>
        </p:nvSpPr>
        <p:spPr>
          <a:xfrm>
            <a:off x="6381676" y="5470922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350"/>
          </a:p>
        </p:txBody>
      </p:sp>
      <p:sp>
        <p:nvSpPr>
          <p:cNvPr id="153" name="Shape 151"/>
          <p:cNvSpPr/>
          <p:nvPr/>
        </p:nvSpPr>
        <p:spPr>
          <a:xfrm>
            <a:off x="8216801" y="6042422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4" name="Text 152"/>
          <p:cNvSpPr/>
          <p:nvPr/>
        </p:nvSpPr>
        <p:spPr>
          <a:xfrm>
            <a:off x="8273951" y="5470922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350"/>
          </a:p>
        </p:txBody>
      </p:sp>
      <p:sp>
        <p:nvSpPr>
          <p:cNvPr id="155" name="Shape 153"/>
          <p:cNvSpPr/>
          <p:nvPr/>
        </p:nvSpPr>
        <p:spPr>
          <a:xfrm>
            <a:off x="10109076" y="6042422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6" name="Text 154"/>
          <p:cNvSpPr/>
          <p:nvPr/>
        </p:nvSpPr>
        <p:spPr>
          <a:xfrm>
            <a:off x="10166226" y="5470922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350"/>
          </a:p>
        </p:txBody>
      </p:sp>
      <p:sp>
        <p:nvSpPr>
          <p:cNvPr id="157" name="Shape 155"/>
          <p:cNvSpPr/>
          <p:nvPr/>
        </p:nvSpPr>
        <p:spPr>
          <a:xfrm>
            <a:off x="12001351" y="6042422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8" name="Text 156"/>
          <p:cNvSpPr/>
          <p:nvPr/>
        </p:nvSpPr>
        <p:spPr>
          <a:xfrm>
            <a:off x="12058501" y="5470922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159" name="Shape 157"/>
          <p:cNvSpPr/>
          <p:nvPr/>
        </p:nvSpPr>
        <p:spPr>
          <a:xfrm>
            <a:off x="13893626" y="6042422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0" name="Text 158"/>
          <p:cNvSpPr/>
          <p:nvPr/>
        </p:nvSpPr>
        <p:spPr>
          <a:xfrm>
            <a:off x="13950776" y="5470922"/>
            <a:ext cx="17779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350"/>
          </a:p>
        </p:txBody>
      </p:sp>
      <p:sp>
        <p:nvSpPr>
          <p:cNvPr id="161" name="Shape 159"/>
          <p:cNvSpPr/>
          <p:nvPr/>
        </p:nvSpPr>
        <p:spPr>
          <a:xfrm>
            <a:off x="15785902" y="6042422"/>
            <a:ext cx="1892498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2" name="Text 160"/>
          <p:cNvSpPr/>
          <p:nvPr/>
        </p:nvSpPr>
        <p:spPr>
          <a:xfrm>
            <a:off x="15900202" y="5528072"/>
            <a:ext cx="174009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invoice (VD) · </a:t>
            </a:r>
            <a:r>
              <a:rPr lang="en-US" sz="1350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r>
              <a:rPr lang="en-US" sz="13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</a:t>
            </a:r>
            <a:r>
              <a:rPr lang="en-US" sz="13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(VI)</a:t>
            </a:r>
            <a:endParaRPr lang="en-US" sz="1350" dirty="0"/>
          </a:p>
        </p:txBody>
      </p:sp>
      <p:sp>
        <p:nvSpPr>
          <p:cNvPr id="163" name="Shape 161"/>
          <p:cNvSpPr/>
          <p:nvPr/>
        </p:nvSpPr>
        <p:spPr>
          <a:xfrm>
            <a:off x="647700" y="6051947"/>
            <a:ext cx="17030700" cy="47625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4" name="Shape 162"/>
          <p:cNvSpPr/>
          <p:nvPr/>
        </p:nvSpPr>
        <p:spPr>
          <a:xfrm>
            <a:off x="647700" y="6518672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5" name="Shape 163"/>
          <p:cNvSpPr/>
          <p:nvPr/>
        </p:nvSpPr>
        <p:spPr>
          <a:xfrm>
            <a:off x="647700" y="6051946"/>
            <a:ext cx="171450" cy="1135067"/>
          </a:xfrm>
          <a:prstGeom prst="rect">
            <a:avLst/>
          </a:prstGeom>
          <a:solidFill>
            <a:srgbClr val="C3D3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7" name="Text 165"/>
          <p:cNvSpPr/>
          <p:nvPr/>
        </p:nvSpPr>
        <p:spPr>
          <a:xfrm>
            <a:off x="2635225" y="6090047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Tático do gerente (máx. 5% no cliente)</a:t>
            </a:r>
            <a:endParaRPr lang="en-US" sz="1275"/>
          </a:p>
        </p:txBody>
      </p:sp>
      <p:sp>
        <p:nvSpPr>
          <p:cNvPr id="169" name="Text 167"/>
          <p:cNvSpPr/>
          <p:nvPr/>
        </p:nvSpPr>
        <p:spPr>
          <a:xfrm>
            <a:off x="4489400" y="6090047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1%</a:t>
            </a:r>
            <a:endParaRPr lang="en-US" sz="1350"/>
          </a:p>
        </p:txBody>
      </p:sp>
      <p:sp>
        <p:nvSpPr>
          <p:cNvPr id="171" name="Text 169"/>
          <p:cNvSpPr/>
          <p:nvPr/>
        </p:nvSpPr>
        <p:spPr>
          <a:xfrm>
            <a:off x="6381676" y="6090047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1%</a:t>
            </a:r>
            <a:endParaRPr lang="en-US" sz="1350"/>
          </a:p>
        </p:txBody>
      </p:sp>
      <p:sp>
        <p:nvSpPr>
          <p:cNvPr id="173" name="Text 171"/>
          <p:cNvSpPr/>
          <p:nvPr/>
        </p:nvSpPr>
        <p:spPr>
          <a:xfrm>
            <a:off x="8273951" y="6090047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1%</a:t>
            </a:r>
            <a:endParaRPr lang="en-US" sz="1350"/>
          </a:p>
        </p:txBody>
      </p:sp>
      <p:sp>
        <p:nvSpPr>
          <p:cNvPr id="175" name="Text 173"/>
          <p:cNvSpPr/>
          <p:nvPr/>
        </p:nvSpPr>
        <p:spPr>
          <a:xfrm>
            <a:off x="10166226" y="6090047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1%</a:t>
            </a:r>
            <a:endParaRPr lang="en-US" sz="1350"/>
          </a:p>
        </p:txBody>
      </p:sp>
      <p:sp>
        <p:nvSpPr>
          <p:cNvPr id="177" name="Text 175"/>
          <p:cNvSpPr/>
          <p:nvPr/>
        </p:nvSpPr>
        <p:spPr>
          <a:xfrm>
            <a:off x="12058501" y="6090047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179" name="Text 177"/>
          <p:cNvSpPr/>
          <p:nvPr/>
        </p:nvSpPr>
        <p:spPr>
          <a:xfrm>
            <a:off x="13950776" y="6090047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181" name="Text 179"/>
          <p:cNvSpPr/>
          <p:nvPr/>
        </p:nvSpPr>
        <p:spPr>
          <a:xfrm>
            <a:off x="15900202" y="6147197"/>
            <a:ext cx="17400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invoice · budget</a:t>
            </a:r>
            <a:endParaRPr lang="en-US" sz="1350" dirty="0"/>
          </a:p>
        </p:txBody>
      </p:sp>
      <p:sp>
        <p:nvSpPr>
          <p:cNvPr id="204" name="Shape 202"/>
          <p:cNvSpPr/>
          <p:nvPr/>
        </p:nvSpPr>
        <p:spPr>
          <a:xfrm>
            <a:off x="2539975" y="7174426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5" name="Text 203"/>
          <p:cNvSpPr/>
          <p:nvPr/>
        </p:nvSpPr>
        <p:spPr>
          <a:xfrm>
            <a:off x="2635225" y="6512705"/>
            <a:ext cx="1777975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dirty="0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Bateu-Levou</a:t>
            </a:r>
            <a:r>
              <a:rPr lang="en-US" sz="1275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275" dirty="0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prêmios</a:t>
            </a:r>
            <a:r>
              <a:rPr lang="en-US" sz="1275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JBP </a:t>
            </a:r>
            <a:r>
              <a:rPr lang="en-US" sz="1275" dirty="0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exposição</a:t>
            </a:r>
            <a:r>
              <a:rPr lang="en-US" sz="1275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1%</a:t>
            </a:r>
            <a:endParaRPr lang="en-US" sz="1275" dirty="0"/>
          </a:p>
        </p:txBody>
      </p:sp>
      <p:sp>
        <p:nvSpPr>
          <p:cNvPr id="206" name="Shape 204"/>
          <p:cNvSpPr/>
          <p:nvPr/>
        </p:nvSpPr>
        <p:spPr>
          <a:xfrm>
            <a:off x="4432250" y="7174426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7" name="Text 205"/>
          <p:cNvSpPr/>
          <p:nvPr/>
        </p:nvSpPr>
        <p:spPr>
          <a:xfrm>
            <a:off x="4489400" y="6512705"/>
            <a:ext cx="1777975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prêmios</a:t>
            </a:r>
            <a:r>
              <a:rPr lang="en-US" sz="13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+ 1%</a:t>
            </a:r>
            <a:endParaRPr lang="en-US" sz="1350" dirty="0"/>
          </a:p>
        </p:txBody>
      </p:sp>
      <p:sp>
        <p:nvSpPr>
          <p:cNvPr id="208" name="Shape 206"/>
          <p:cNvSpPr/>
          <p:nvPr/>
        </p:nvSpPr>
        <p:spPr>
          <a:xfrm>
            <a:off x="6324526" y="7174426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9" name="Text 207"/>
          <p:cNvSpPr/>
          <p:nvPr/>
        </p:nvSpPr>
        <p:spPr>
          <a:xfrm>
            <a:off x="6381676" y="6512705"/>
            <a:ext cx="1777975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prêmios</a:t>
            </a:r>
            <a:endParaRPr lang="en-US" sz="1350"/>
          </a:p>
        </p:txBody>
      </p:sp>
      <p:sp>
        <p:nvSpPr>
          <p:cNvPr id="210" name="Shape 208"/>
          <p:cNvSpPr/>
          <p:nvPr/>
        </p:nvSpPr>
        <p:spPr>
          <a:xfrm>
            <a:off x="8216801" y="7174426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1" name="Text 209"/>
          <p:cNvSpPr/>
          <p:nvPr/>
        </p:nvSpPr>
        <p:spPr>
          <a:xfrm>
            <a:off x="8273951" y="6512705"/>
            <a:ext cx="1777975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prêmios</a:t>
            </a:r>
            <a:endParaRPr lang="en-US" sz="1350"/>
          </a:p>
        </p:txBody>
      </p:sp>
      <p:sp>
        <p:nvSpPr>
          <p:cNvPr id="212" name="Shape 210"/>
          <p:cNvSpPr/>
          <p:nvPr/>
        </p:nvSpPr>
        <p:spPr>
          <a:xfrm>
            <a:off x="10109076" y="7174426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3" name="Text 211"/>
          <p:cNvSpPr/>
          <p:nvPr/>
        </p:nvSpPr>
        <p:spPr>
          <a:xfrm>
            <a:off x="10166226" y="6512705"/>
            <a:ext cx="1777975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prêmios</a:t>
            </a:r>
            <a:endParaRPr lang="en-US" sz="1350"/>
          </a:p>
        </p:txBody>
      </p:sp>
      <p:sp>
        <p:nvSpPr>
          <p:cNvPr id="214" name="Shape 212"/>
          <p:cNvSpPr/>
          <p:nvPr/>
        </p:nvSpPr>
        <p:spPr>
          <a:xfrm>
            <a:off x="12001351" y="7174426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5" name="Text 213"/>
          <p:cNvSpPr/>
          <p:nvPr/>
        </p:nvSpPr>
        <p:spPr>
          <a:xfrm>
            <a:off x="12058501" y="6512705"/>
            <a:ext cx="1777975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JBP · data sharing</a:t>
            </a:r>
            <a:endParaRPr lang="en-US" sz="1275"/>
          </a:p>
        </p:txBody>
      </p:sp>
      <p:sp>
        <p:nvSpPr>
          <p:cNvPr id="216" name="Shape 214"/>
          <p:cNvSpPr/>
          <p:nvPr/>
        </p:nvSpPr>
        <p:spPr>
          <a:xfrm>
            <a:off x="13893626" y="7174426"/>
            <a:ext cx="1892275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7" name="Text 215"/>
          <p:cNvSpPr/>
          <p:nvPr/>
        </p:nvSpPr>
        <p:spPr>
          <a:xfrm>
            <a:off x="13950776" y="6598164"/>
            <a:ext cx="1777975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350"/>
          </a:p>
        </p:txBody>
      </p:sp>
      <p:sp>
        <p:nvSpPr>
          <p:cNvPr id="218" name="Shape 216"/>
          <p:cNvSpPr/>
          <p:nvPr/>
        </p:nvSpPr>
        <p:spPr>
          <a:xfrm>
            <a:off x="15785902" y="7174426"/>
            <a:ext cx="1892498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9" name="Text 217"/>
          <p:cNvSpPr/>
          <p:nvPr/>
        </p:nvSpPr>
        <p:spPr>
          <a:xfrm>
            <a:off x="15900202" y="6569855"/>
            <a:ext cx="1740098" cy="461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de trade / contrato</a:t>
            </a:r>
            <a:endParaRPr lang="en-US" sz="1350"/>
          </a:p>
        </p:txBody>
      </p:sp>
      <p:sp>
        <p:nvSpPr>
          <p:cNvPr id="220" name="Shape 218"/>
          <p:cNvSpPr/>
          <p:nvPr/>
        </p:nvSpPr>
        <p:spPr>
          <a:xfrm>
            <a:off x="647700" y="7183951"/>
            <a:ext cx="1892275" cy="1905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1" name="Shape 219"/>
          <p:cNvSpPr/>
          <p:nvPr/>
        </p:nvSpPr>
        <p:spPr>
          <a:xfrm>
            <a:off x="647700" y="7243769"/>
            <a:ext cx="76200" cy="533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2" name="Text 220"/>
          <p:cNvSpPr/>
          <p:nvPr/>
        </p:nvSpPr>
        <p:spPr>
          <a:xfrm>
            <a:off x="819150" y="7329494"/>
            <a:ext cx="17017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275"/>
          </a:p>
        </p:txBody>
      </p:sp>
      <p:sp>
        <p:nvSpPr>
          <p:cNvPr id="223" name="Shape 221"/>
          <p:cNvSpPr/>
          <p:nvPr/>
        </p:nvSpPr>
        <p:spPr>
          <a:xfrm>
            <a:off x="2539975" y="7183951"/>
            <a:ext cx="1892275" cy="1905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4" name="Text 222"/>
          <p:cNvSpPr/>
          <p:nvPr/>
        </p:nvSpPr>
        <p:spPr>
          <a:xfrm>
            <a:off x="2635225" y="7329494"/>
            <a:ext cx="17779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Condicional on invoice (Vol + Mix + JBP/PPP)</a:t>
            </a:r>
            <a:endParaRPr lang="en-US" sz="1275"/>
          </a:p>
        </p:txBody>
      </p:sp>
      <p:sp>
        <p:nvSpPr>
          <p:cNvPr id="225" name="Shape 223"/>
          <p:cNvSpPr/>
          <p:nvPr/>
        </p:nvSpPr>
        <p:spPr>
          <a:xfrm>
            <a:off x="4432250" y="7183951"/>
            <a:ext cx="1892275" cy="1905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6" name="Text 224"/>
          <p:cNvSpPr/>
          <p:nvPr/>
        </p:nvSpPr>
        <p:spPr>
          <a:xfrm>
            <a:off x="4489400" y="7329494"/>
            <a:ext cx="17779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425"/>
          </a:p>
        </p:txBody>
      </p:sp>
      <p:sp>
        <p:nvSpPr>
          <p:cNvPr id="227" name="Shape 225"/>
          <p:cNvSpPr/>
          <p:nvPr/>
        </p:nvSpPr>
        <p:spPr>
          <a:xfrm>
            <a:off x="6324526" y="7183951"/>
            <a:ext cx="1892275" cy="1905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8" name="Text 226"/>
          <p:cNvSpPr/>
          <p:nvPr/>
        </p:nvSpPr>
        <p:spPr>
          <a:xfrm>
            <a:off x="6381676" y="7329494"/>
            <a:ext cx="17779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425"/>
          </a:p>
        </p:txBody>
      </p:sp>
      <p:sp>
        <p:nvSpPr>
          <p:cNvPr id="229" name="Shape 227"/>
          <p:cNvSpPr/>
          <p:nvPr/>
        </p:nvSpPr>
        <p:spPr>
          <a:xfrm>
            <a:off x="8216801" y="7183951"/>
            <a:ext cx="1892275" cy="1905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0" name="Text 228"/>
          <p:cNvSpPr/>
          <p:nvPr/>
        </p:nvSpPr>
        <p:spPr>
          <a:xfrm>
            <a:off x="8273951" y="7329494"/>
            <a:ext cx="17779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425"/>
          </a:p>
        </p:txBody>
      </p:sp>
      <p:sp>
        <p:nvSpPr>
          <p:cNvPr id="231" name="Shape 229"/>
          <p:cNvSpPr/>
          <p:nvPr/>
        </p:nvSpPr>
        <p:spPr>
          <a:xfrm>
            <a:off x="10109076" y="7183951"/>
            <a:ext cx="1892275" cy="1905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2" name="Text 230"/>
          <p:cNvSpPr/>
          <p:nvPr/>
        </p:nvSpPr>
        <p:spPr>
          <a:xfrm>
            <a:off x="10166226" y="7329494"/>
            <a:ext cx="17779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425"/>
          </a:p>
        </p:txBody>
      </p:sp>
      <p:sp>
        <p:nvSpPr>
          <p:cNvPr id="233" name="Shape 231"/>
          <p:cNvSpPr/>
          <p:nvPr/>
        </p:nvSpPr>
        <p:spPr>
          <a:xfrm>
            <a:off x="12001351" y="7183951"/>
            <a:ext cx="1892275" cy="1905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4" name="Text 232"/>
          <p:cNvSpPr/>
          <p:nvPr/>
        </p:nvSpPr>
        <p:spPr>
          <a:xfrm>
            <a:off x="12058501" y="7329494"/>
            <a:ext cx="17779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425"/>
          </a:p>
        </p:txBody>
      </p:sp>
      <p:sp>
        <p:nvSpPr>
          <p:cNvPr id="235" name="Shape 233"/>
          <p:cNvSpPr/>
          <p:nvPr/>
        </p:nvSpPr>
        <p:spPr>
          <a:xfrm>
            <a:off x="13893626" y="7183951"/>
            <a:ext cx="1892275" cy="1905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6" name="Text 234"/>
          <p:cNvSpPr/>
          <p:nvPr/>
        </p:nvSpPr>
        <p:spPr>
          <a:xfrm>
            <a:off x="13950776" y="7329494"/>
            <a:ext cx="17779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425"/>
          </a:p>
        </p:txBody>
      </p:sp>
      <p:sp>
        <p:nvSpPr>
          <p:cNvPr id="237" name="Shape 235"/>
          <p:cNvSpPr/>
          <p:nvPr/>
        </p:nvSpPr>
        <p:spPr>
          <a:xfrm>
            <a:off x="15785902" y="7183951"/>
            <a:ext cx="1892498" cy="1905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8" name="Shape 236"/>
          <p:cNvSpPr/>
          <p:nvPr/>
        </p:nvSpPr>
        <p:spPr>
          <a:xfrm>
            <a:off x="647700" y="7777169"/>
            <a:ext cx="76200" cy="466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9" name="Text 237"/>
          <p:cNvSpPr/>
          <p:nvPr/>
        </p:nvSpPr>
        <p:spPr>
          <a:xfrm>
            <a:off x="2635225" y="7815269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RTP (com RTP </a:t>
            </a:r>
            <a:r>
              <a:rPr lang="en-US" sz="1275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retida</a:t>
            </a:r>
            <a:r>
              <a:rPr lang="en-US" sz="12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limite superior)</a:t>
            </a:r>
            <a:endParaRPr lang="en-US" sz="1275"/>
          </a:p>
        </p:txBody>
      </p:sp>
      <p:sp>
        <p:nvSpPr>
          <p:cNvPr id="240" name="Text 238"/>
          <p:cNvSpPr/>
          <p:nvPr/>
        </p:nvSpPr>
        <p:spPr>
          <a:xfrm>
            <a:off x="4489400" y="7815269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425"/>
          </a:p>
        </p:txBody>
      </p:sp>
      <p:sp>
        <p:nvSpPr>
          <p:cNvPr id="241" name="Text 239"/>
          <p:cNvSpPr/>
          <p:nvPr/>
        </p:nvSpPr>
        <p:spPr>
          <a:xfrm>
            <a:off x="6381676" y="7815269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425"/>
          </a:p>
        </p:txBody>
      </p:sp>
      <p:sp>
        <p:nvSpPr>
          <p:cNvPr id="242" name="Text 240"/>
          <p:cNvSpPr/>
          <p:nvPr/>
        </p:nvSpPr>
        <p:spPr>
          <a:xfrm>
            <a:off x="8273951" y="7815269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425"/>
          </a:p>
        </p:txBody>
      </p:sp>
      <p:sp>
        <p:nvSpPr>
          <p:cNvPr id="243" name="Text 241"/>
          <p:cNvSpPr/>
          <p:nvPr/>
        </p:nvSpPr>
        <p:spPr>
          <a:xfrm>
            <a:off x="10166226" y="7815269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425"/>
          </a:p>
        </p:txBody>
      </p:sp>
      <p:sp>
        <p:nvSpPr>
          <p:cNvPr id="244" name="Text 242"/>
          <p:cNvSpPr/>
          <p:nvPr/>
        </p:nvSpPr>
        <p:spPr>
          <a:xfrm>
            <a:off x="12058501" y="7815269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425"/>
          </a:p>
        </p:txBody>
      </p:sp>
      <p:sp>
        <p:nvSpPr>
          <p:cNvPr id="245" name="Text 243"/>
          <p:cNvSpPr/>
          <p:nvPr/>
        </p:nvSpPr>
        <p:spPr>
          <a:xfrm>
            <a:off x="13950776" y="7815269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425"/>
          </a:p>
        </p:txBody>
      </p:sp>
      <p:sp>
        <p:nvSpPr>
          <p:cNvPr id="246" name="Shape 244"/>
          <p:cNvSpPr/>
          <p:nvPr/>
        </p:nvSpPr>
        <p:spPr>
          <a:xfrm>
            <a:off x="647700" y="8243894"/>
            <a:ext cx="76200" cy="466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7" name="Text 245"/>
          <p:cNvSpPr/>
          <p:nvPr/>
        </p:nvSpPr>
        <p:spPr>
          <a:xfrm>
            <a:off x="2635225" y="8281994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275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Tático</a:t>
            </a:r>
            <a:r>
              <a:rPr lang="en-US" sz="127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275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possibilidade</a:t>
            </a:r>
            <a:r>
              <a:rPr lang="en-US" sz="127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75"/>
          </a:p>
        </p:txBody>
      </p:sp>
      <p:sp>
        <p:nvSpPr>
          <p:cNvPr id="248" name="Text 246"/>
          <p:cNvSpPr/>
          <p:nvPr/>
        </p:nvSpPr>
        <p:spPr>
          <a:xfrm>
            <a:off x="4489400" y="8281994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425" dirty="0"/>
          </a:p>
        </p:txBody>
      </p:sp>
      <p:sp>
        <p:nvSpPr>
          <p:cNvPr id="249" name="Text 247"/>
          <p:cNvSpPr/>
          <p:nvPr/>
        </p:nvSpPr>
        <p:spPr>
          <a:xfrm>
            <a:off x="6381676" y="8281994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425"/>
          </a:p>
        </p:txBody>
      </p:sp>
      <p:sp>
        <p:nvSpPr>
          <p:cNvPr id="250" name="Text 248"/>
          <p:cNvSpPr/>
          <p:nvPr/>
        </p:nvSpPr>
        <p:spPr>
          <a:xfrm>
            <a:off x="8273951" y="8281994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25"/>
          </a:p>
        </p:txBody>
      </p:sp>
      <p:sp>
        <p:nvSpPr>
          <p:cNvPr id="251" name="Text 249"/>
          <p:cNvSpPr/>
          <p:nvPr/>
        </p:nvSpPr>
        <p:spPr>
          <a:xfrm>
            <a:off x="10166226" y="8281994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425"/>
          </a:p>
        </p:txBody>
      </p:sp>
      <p:sp>
        <p:nvSpPr>
          <p:cNvPr id="252" name="Text 250"/>
          <p:cNvSpPr/>
          <p:nvPr/>
        </p:nvSpPr>
        <p:spPr>
          <a:xfrm>
            <a:off x="12058501" y="8281994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425"/>
          </a:p>
        </p:txBody>
      </p:sp>
      <p:sp>
        <p:nvSpPr>
          <p:cNvPr id="253" name="Text 251"/>
          <p:cNvSpPr/>
          <p:nvPr/>
        </p:nvSpPr>
        <p:spPr>
          <a:xfrm>
            <a:off x="13950776" y="8281994"/>
            <a:ext cx="177797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425"/>
          </a:p>
        </p:txBody>
      </p:sp>
      <p:sp>
        <p:nvSpPr>
          <p:cNvPr id="257" name="Text 255"/>
          <p:cNvSpPr/>
          <p:nvPr/>
        </p:nvSpPr>
        <p:spPr>
          <a:xfrm>
            <a:off x="609600" y="9863138"/>
            <a:ext cx="155935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Política Comercial VD (validada) e VI (design); tabela 26/05 para a margem líquida. Visibilidade e Bateu-Levou são budget, não </a:t>
            </a:r>
            <a:r>
              <a:rPr lang="en-US" sz="1125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</a:t>
            </a:r>
            <a:r>
              <a:rPr lang="en-US" sz="11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não entram nos totais.</a:t>
            </a:r>
            <a:endParaRPr lang="en-US" sz="1125"/>
          </a:p>
        </p:txBody>
      </p:sp>
      <p:sp>
        <p:nvSpPr>
          <p:cNvPr id="267" name="Text 1">
            <a:extLst>
              <a:ext uri="{FF2B5EF4-FFF2-40B4-BE49-F238E27FC236}">
                <a16:creationId xmlns:a16="http://schemas.microsoft.com/office/drawing/2014/main" id="{9F7C7F9F-39AE-89B3-602C-F5B021344B96}"/>
              </a:ext>
            </a:extLst>
          </p:cNvPr>
          <p:cNvSpPr/>
          <p:nvPr/>
        </p:nvSpPr>
        <p:spPr>
          <a:xfrm>
            <a:off x="758952" y="406480"/>
            <a:ext cx="13368528" cy="788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4200" b="1" kern="0" spc="-63" dirty="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Política </a:t>
            </a:r>
            <a:r>
              <a:rPr lang="en-US" sz="4200" b="1" kern="0" spc="-63" dirty="0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Comericial</a:t>
            </a:r>
            <a:r>
              <a:rPr lang="en-US" sz="4200" b="1" kern="0" spc="-63" dirty="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4200" b="1" kern="0" spc="-63" dirty="0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por</a:t>
            </a:r>
            <a:r>
              <a:rPr lang="en-US" sz="4200" b="1" kern="0" spc="-63" dirty="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 cluster</a:t>
            </a:r>
            <a:endParaRPr lang="en-US" sz="4200" dirty="0"/>
          </a:p>
        </p:txBody>
      </p:sp>
      <p:pic>
        <p:nvPicPr>
          <p:cNvPr id="5053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054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55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056" name="Número da página"/>
          <p:cNvSpPr txBox="1"/>
          <p:nvPr/>
        </p:nvSpPr>
        <p:spPr>
          <a:xfrm>
            <a:off x="16340328" y="986313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125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08</a:t>
            </a:r>
          </a:p>
        </p:txBody>
      </p:sp>
    </p:spTree>
    <p:extLst>
      <p:ext uri="{BB962C8B-B14F-4D97-AF65-F5344CB8AC3E}">
        <p14:creationId xmlns:p14="http://schemas.microsoft.com/office/powerpoint/2010/main" val="2322010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ítulo"/>
          <p:cNvSpPr txBox="1"/>
          <p:nvPr/>
        </p:nvSpPr>
        <p:spPr>
          <a:xfrm>
            <a:off x="758952" y="747356"/>
            <a:ext cx="13368528" cy="620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4100" b="1" kern="0" spc="-6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escada do desconto | Super GG/GG, degrau a degrau</a:t>
            </a:r>
          </a:p>
        </p:txBody>
      </p:sp>
      <p:sp>
        <p:nvSpPr>
          <p:cNvPr id="102" name="Subtítulo 1"/>
          <p:cNvSpPr txBox="1"/>
          <p:nvPr/>
        </p:nvSpPr>
        <p:spPr>
          <a:xfrm>
            <a:off x="762000" y="1395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camada soma um pedaço do desconto e tem uma regra de pagamento. A margem do cliente sobe a cada degrau, até perto do teto.</a:t>
            </a:r>
          </a:p>
        </p:txBody>
      </p:sp>
      <p:sp>
        <p:nvSpPr>
          <p:cNvPr id="103" name="Subtítulo 2"/>
          <p:cNvSpPr txBox="1"/>
          <p:nvPr/>
        </p:nvSpPr>
        <p:spPr>
          <a:xfrm>
            <a:off x="762000" y="1750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Da Camada 1 (28,1%) à margem final (36,7%): +5,8 p.p. vêm da Camada 2 (performance) e +2,9 p.p. da Camada 3 (shopper).</a:t>
            </a:r>
            <a:r>
              <a:rPr lang="pt-BR" sz="1800" b="1" dirty="0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r>
              <a:rPr lang="pt-BR" sz="1800" b="1" dirty="0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</a:p>
        </p:txBody>
      </p:sp>
      <p:sp>
        <p:nvSpPr>
          <p:cNvPr id="5062" name="Card gráfico"/>
          <p:cNvSpPr/>
          <p:nvPr/>
        </p:nvSpPr>
        <p:spPr>
          <a:xfrm>
            <a:off x="762000" y="2420000"/>
            <a:ext cx="10900000" cy="6169811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105" name="Gráfico dispersão por cliente" descr="Dispersão da margem líquida por cliente: só mix vs mix + preço pago, por ca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79" y="2584592"/>
            <a:ext cx="10318442" cy="5840627"/>
          </a:xfrm>
          <a:prstGeom prst="rect">
            <a:avLst/>
          </a:prstGeom>
        </p:spPr>
      </p:pic>
      <p:sp>
        <p:nvSpPr>
          <p:cNvPr id="106" name="Cab. painel"/>
          <p:cNvSpPr txBox="1"/>
          <p:nvPr/>
        </p:nvSpPr>
        <p:spPr>
          <a:xfrm>
            <a:off x="12000000" y="2480000"/>
            <a:ext cx="5526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LER A ESCADA</a:t>
            </a:r>
          </a:p>
        </p:txBody>
      </p:sp>
      <p:sp>
        <p:nvSpPr>
          <p:cNvPr id="107" name="Card"/>
          <p:cNvSpPr/>
          <p:nvPr/>
        </p:nvSpPr>
        <p:spPr>
          <a:xfrm>
            <a:off x="12000000" y="2850000"/>
            <a:ext cx="5526000" cy="1833333"/>
          </a:xfrm>
          <a:prstGeom prst="roundRect">
            <a:avLst>
              <a:gd name="adj" fmla="val 598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8" name="Card texto"/>
          <p:cNvSpPr txBox="1"/>
          <p:nvPr/>
        </p:nvSpPr>
        <p:spPr>
          <a:xfrm>
            <a:off x="12200000" y="3000000"/>
            <a:ext cx="5126000" cy="1583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1 · Tabela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Incondicional: é preço, não verba. Define a margem por categoria × canal e é o piso de todos os clientes do cluster.</a:t>
            </a:r>
          </a:p>
        </p:txBody>
      </p:sp>
      <p:sp>
        <p:nvSpPr>
          <p:cNvPr id="109" name="Card"/>
          <p:cNvSpPr/>
          <p:nvPr/>
        </p:nvSpPr>
        <p:spPr>
          <a:xfrm>
            <a:off x="12000000" y="4803333"/>
            <a:ext cx="5526000" cy="1833333"/>
          </a:xfrm>
          <a:prstGeom prst="roundRect">
            <a:avLst>
              <a:gd name="adj" fmla="val 598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0" name="Card texto"/>
          <p:cNvSpPr txBox="1"/>
          <p:nvPr/>
        </p:nvSpPr>
        <p:spPr>
          <a:xfrm>
            <a:off x="12200000" y="4953333"/>
            <a:ext cx="5126000" cy="1583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2 · Incentivo ao cliente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3% + Mix 1% + JBP 4%: pagos por meta, com gate de 80% e régua linear. Remuneram o incremental.</a:t>
            </a:r>
          </a:p>
        </p:txBody>
      </p:sp>
      <p:sp>
        <p:nvSpPr>
          <p:cNvPr id="111" name="Card"/>
          <p:cNvSpPr/>
          <p:nvPr/>
        </p:nvSpPr>
        <p:spPr>
          <a:xfrm>
            <a:off x="12000000" y="6756666"/>
            <a:ext cx="5526000" cy="1833333"/>
          </a:xfrm>
          <a:prstGeom prst="roundRect">
            <a:avLst>
              <a:gd name="adj" fmla="val 598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2" name="Card texto"/>
          <p:cNvSpPr txBox="1"/>
          <p:nvPr/>
        </p:nvSpPr>
        <p:spPr>
          <a:xfrm>
            <a:off x="12200000" y="6906666"/>
            <a:ext cx="5126000" cy="1583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5B8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3 · Incentivo ao shopper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RTP 3% precisa chegar à gôndola, com prova de repasse. O tático (até 1%) é budget do gerente, fora da régua.</a:t>
            </a:r>
          </a:p>
        </p:txBody>
      </p:sp>
      <p:sp>
        <p:nvSpPr>
          <p:cNvPr id="114" name="Rodapé"/>
          <p:cNvSpPr txBox="1"/>
          <p:nvPr/>
        </p:nvSpPr>
        <p:spPr>
          <a:xfrm>
            <a:off x="762000" y="9740000"/>
            <a:ext cx="15441168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GG/GG. Margem bruta de tabela ponderada por SKU × UF (sell-in jan–mai/26, tabela 26/05). Margem resultante = 1 − (1 − MB tabela) × (1 − desconto acumulado), com o preço ao shopper igual ao de hoje (RTP retido). Teto recomendado 38,0% (MB).</a:t>
            </a:r>
          </a:p>
        </p:txBody>
      </p:sp>
      <p:pic>
        <p:nvPicPr>
          <p:cNvPr id="5058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059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60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061" name="Número da página"/>
          <p:cNvSpPr txBox="1"/>
          <p:nvPr/>
        </p:nvSpPr>
        <p:spPr>
          <a:xfrm>
            <a:off x="16340328" y="974000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ítulo"/>
          <p:cNvSpPr txBox="1"/>
          <p:nvPr/>
        </p:nvSpPr>
        <p:spPr>
          <a:xfrm>
            <a:off x="758952" y="747356"/>
            <a:ext cx="13368528" cy="620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3500" b="1" kern="0" spc="-52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escada por cluster | O desconto cresce com o papel do cliente</a:t>
            </a:r>
          </a:p>
        </p:txBody>
      </p:sp>
      <p:sp>
        <p:nvSpPr>
          <p:cNvPr id="102" name="Subtítulo 1"/>
          <p:cNvSpPr txBox="1"/>
          <p:nvPr/>
        </p:nvSpPr>
        <p:spPr>
          <a:xfrm>
            <a:off x="762000" y="1395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construção para todos os clusters e para o canal indireto: o total vai de 3% (distribuidor) a 12% (Super GG/GG e G).</a:t>
            </a:r>
          </a:p>
        </p:txBody>
      </p:sp>
      <p:sp>
        <p:nvSpPr>
          <p:cNvPr id="103" name="Subtítulo 2"/>
          <p:cNvSpPr txBox="1"/>
          <p:nvPr/>
        </p:nvSpPr>
        <p:spPr>
          <a:xfrm>
            <a:off x="762000" y="1750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política inteira, todos ficam </a:t>
            </a:r>
            <a:r>
              <a:rPr lang="pt-BR" sz="1800" b="1" dirty="0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perto do teto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de 97% a 104% no VD, 99% no distribuidor e 101% no pet shop.</a:t>
            </a:r>
          </a:p>
        </p:txBody>
      </p:sp>
      <p:sp>
        <p:nvSpPr>
          <p:cNvPr id="5067" name="Card gráfico"/>
          <p:cNvSpPr/>
          <p:nvPr/>
        </p:nvSpPr>
        <p:spPr>
          <a:xfrm>
            <a:off x="762000" y="2420000"/>
            <a:ext cx="10900000" cy="6169811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105" name="Gráfico dispersão por cliente" descr="Dispersão da margem líquida por cliente: só mix vs mix + preço pago, por ca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79" y="2584592"/>
            <a:ext cx="10318442" cy="5840627"/>
          </a:xfrm>
          <a:prstGeom prst="rect">
            <a:avLst/>
          </a:prstGeom>
        </p:spPr>
      </p:pic>
      <p:sp>
        <p:nvSpPr>
          <p:cNvPr id="106" name="Cab. painel"/>
          <p:cNvSpPr txBox="1"/>
          <p:nvPr/>
        </p:nvSpPr>
        <p:spPr>
          <a:xfrm>
            <a:off x="12000000" y="2480000"/>
            <a:ext cx="5526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LER</a:t>
            </a:r>
          </a:p>
        </p:txBody>
      </p:sp>
      <p:sp>
        <p:nvSpPr>
          <p:cNvPr id="107" name="Card"/>
          <p:cNvSpPr/>
          <p:nvPr/>
        </p:nvSpPr>
        <p:spPr>
          <a:xfrm>
            <a:off x="12000000" y="2850000"/>
            <a:ext cx="5526000" cy="2810000"/>
          </a:xfrm>
          <a:prstGeom prst="roundRect">
            <a:avLst>
              <a:gd name="adj" fmla="val 390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8" name="Card texto"/>
          <p:cNvSpPr txBox="1"/>
          <p:nvPr/>
        </p:nvSpPr>
        <p:spPr>
          <a:xfrm>
            <a:off x="12200000" y="3000000"/>
            <a:ext cx="5126000" cy="2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 entre clusters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Volume, Mix, RTP e tático são iguais para todo o VD. O que diferencia é o JBP/Especialista: 4% (Super GG/GG e G), 2% (M) e 0% (P).</a:t>
            </a:r>
          </a:p>
        </p:txBody>
      </p:sp>
      <p:sp>
        <p:nvSpPr>
          <p:cNvPr id="109" name="Card"/>
          <p:cNvSpPr/>
          <p:nvPr/>
        </p:nvSpPr>
        <p:spPr>
          <a:xfrm>
            <a:off x="12000000" y="5780000"/>
            <a:ext cx="5526000" cy="2810000"/>
          </a:xfrm>
          <a:prstGeom prst="roundRect">
            <a:avLst>
              <a:gd name="adj" fmla="val 390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0" name="Card texto"/>
          <p:cNvSpPr txBox="1"/>
          <p:nvPr/>
        </p:nvSpPr>
        <p:spPr>
          <a:xfrm>
            <a:off x="12200000" y="5930000"/>
            <a:ext cx="5126000" cy="2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canal indireto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distribuidor recebe PPP de 3% (2% volume + 1% mix, sell-through). Os 5% do pet shop (3% condicional + 2% RTP) passam pelo distribuidor e não alteram a margem dele.</a:t>
            </a:r>
          </a:p>
        </p:txBody>
      </p:sp>
      <p:sp>
        <p:nvSpPr>
          <p:cNvPr id="112" name="Rodapé"/>
          <p:cNvSpPr txBox="1"/>
          <p:nvPr/>
        </p:nvSpPr>
        <p:spPr>
          <a:xfrm>
            <a:off x="762000" y="9740000"/>
            <a:ext cx="15441168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superior: 100% de aproveitamento do condicional e tático cheio. MB final com o preço ao shopper igual ao de hoje (RTP retido). Tetos de MB: 38 / 35 / 35 / 33% (VD), 25% (distribuidor), 30% (pet shop). Política Comercial VD (validada) e VI (design).</a:t>
            </a:r>
          </a:p>
        </p:txBody>
      </p:sp>
      <p:pic>
        <p:nvPicPr>
          <p:cNvPr id="5063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064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65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066" name="Número da página"/>
          <p:cNvSpPr txBox="1"/>
          <p:nvPr/>
        </p:nvSpPr>
        <p:spPr>
          <a:xfrm>
            <a:off x="16340328" y="974000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62000" y="1190774"/>
            <a:ext cx="184404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de </a:t>
            </a:r>
            <a:r>
              <a:rPr lang="en-US" sz="1600" dirty="0" err="1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</a:t>
            </a:r>
            <a:r>
              <a:rPr lang="en-US" sz="16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jan-mai</a:t>
            </a:r>
            <a:r>
              <a:rPr lang="en-US" sz="16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/26: </a:t>
            </a:r>
            <a:r>
              <a:rPr lang="en-US" sz="1600" b="1" dirty="0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61% · Premier 34% · Nattu 3% · </a:t>
            </a:r>
            <a:r>
              <a:rPr lang="en-US" sz="1600" b="1" dirty="0" err="1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secos</a:t>
            </a:r>
            <a:r>
              <a:rPr lang="en-US" sz="1600" b="1" dirty="0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96%</a:t>
            </a:r>
            <a:r>
              <a:rPr lang="en-US" sz="16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Cada 10 p.p. </a:t>
            </a:r>
            <a:r>
              <a:rPr lang="en-US" sz="1600" dirty="0" err="1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migrando</a:t>
            </a:r>
            <a:r>
              <a:rPr lang="en-US" sz="16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Golden para Premier vale ~+0,2 p.p. de </a:t>
            </a:r>
            <a:r>
              <a:rPr lang="en-US" sz="1600" dirty="0" err="1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</a:t>
            </a:r>
            <a:r>
              <a:rPr lang="en-US" sz="16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canal.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33711"/>
            <a:ext cx="16764000" cy="709613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52500" y="1929980"/>
            <a:ext cx="164343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125" b="1" kern="0" spc="13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CADEIA DE PREÇO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52500" y="2115717"/>
            <a:ext cx="1192411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kern="0" spc="13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ÂNCORA 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3143250" y="1833711"/>
            <a:ext cx="14382750" cy="709613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143250" y="1833711"/>
            <a:ext cx="2868885" cy="709613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295650" y="1948011"/>
            <a:ext cx="282049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Premier</a:t>
            </a:r>
            <a:endParaRPr lang="en-US" sz="1275"/>
          </a:p>
        </p:txBody>
      </p:sp>
      <p:sp>
        <p:nvSpPr>
          <p:cNvPr id="12" name="Text 10"/>
          <p:cNvSpPr/>
          <p:nvPr/>
        </p:nvSpPr>
        <p:spPr>
          <a:xfrm>
            <a:off x="3295650" y="2143274"/>
            <a:ext cx="28204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R$ 98,73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021660" y="1833711"/>
            <a:ext cx="2868960" cy="709613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174060" y="1948011"/>
            <a:ext cx="282057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PPP 3%  5% lojista</a:t>
            </a:r>
            <a:endParaRPr lang="en-US" sz="1275"/>
          </a:p>
        </p:txBody>
      </p:sp>
      <p:sp>
        <p:nvSpPr>
          <p:cNvPr id="15" name="Text 13"/>
          <p:cNvSpPr/>
          <p:nvPr/>
        </p:nvSpPr>
        <p:spPr>
          <a:xfrm>
            <a:off x="6174060" y="2143274"/>
            <a:ext cx="28205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R$ 90,90</a:t>
            </a:r>
            <a:endParaRPr lang="en-US" sz="1950"/>
          </a:p>
        </p:txBody>
      </p:sp>
      <p:sp>
        <p:nvSpPr>
          <p:cNvPr id="16" name="Shape 14"/>
          <p:cNvSpPr/>
          <p:nvPr/>
        </p:nvSpPr>
        <p:spPr>
          <a:xfrm>
            <a:off x="8900145" y="1833711"/>
            <a:ext cx="2868885" cy="709613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052545" y="1948011"/>
            <a:ext cx="282049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dist. → pet shop</a:t>
            </a:r>
            <a:endParaRPr lang="en-US" sz="1275"/>
          </a:p>
        </p:txBody>
      </p:sp>
      <p:sp>
        <p:nvSpPr>
          <p:cNvPr id="18" name="Text 16"/>
          <p:cNvSpPr/>
          <p:nvPr/>
        </p:nvSpPr>
        <p:spPr>
          <a:xfrm>
            <a:off x="9052545" y="2143274"/>
            <a:ext cx="28204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R$ 123,63</a:t>
            </a:r>
            <a:endParaRPr lang="en-US" sz="1950"/>
          </a:p>
        </p:txBody>
      </p:sp>
      <p:sp>
        <p:nvSpPr>
          <p:cNvPr id="19" name="Shape 17"/>
          <p:cNvSpPr/>
          <p:nvPr/>
        </p:nvSpPr>
        <p:spPr>
          <a:xfrm>
            <a:off x="11778555" y="1833711"/>
            <a:ext cx="2868960" cy="709613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1930955" y="1948011"/>
            <a:ext cx="282057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5% (2% RTP + 3% cond.)</a:t>
            </a:r>
            <a:endParaRPr lang="en-US" sz="1275"/>
          </a:p>
        </p:txBody>
      </p:sp>
      <p:sp>
        <p:nvSpPr>
          <p:cNvPr id="21" name="Text 19"/>
          <p:cNvSpPr/>
          <p:nvPr/>
        </p:nvSpPr>
        <p:spPr>
          <a:xfrm>
            <a:off x="11930955" y="2143274"/>
            <a:ext cx="28205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R$ 117,45</a:t>
            </a:r>
            <a:endParaRPr lang="en-US" sz="1950"/>
          </a:p>
        </p:txBody>
      </p:sp>
      <p:sp>
        <p:nvSpPr>
          <p:cNvPr id="22" name="Shape 20"/>
          <p:cNvSpPr/>
          <p:nvPr/>
        </p:nvSpPr>
        <p:spPr>
          <a:xfrm>
            <a:off x="14657040" y="1833711"/>
            <a:ext cx="2868960" cy="709613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4809440" y="1948011"/>
            <a:ext cx="282057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PDV sugerido</a:t>
            </a:r>
            <a:endParaRPr lang="en-US" sz="1275"/>
          </a:p>
        </p:txBody>
      </p:sp>
      <p:sp>
        <p:nvSpPr>
          <p:cNvPr id="24" name="Text 22"/>
          <p:cNvSpPr/>
          <p:nvPr/>
        </p:nvSpPr>
        <p:spPr>
          <a:xfrm>
            <a:off x="14809440" y="2143274"/>
            <a:ext cx="282057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R$ 166,90</a:t>
            </a:r>
            <a:endParaRPr lang="en-US" sz="1950"/>
          </a:p>
        </p:txBody>
      </p:sp>
      <p:sp>
        <p:nvSpPr>
          <p:cNvPr id="25" name="Shape 23"/>
          <p:cNvSpPr/>
          <p:nvPr/>
        </p:nvSpPr>
        <p:spPr>
          <a:xfrm>
            <a:off x="762000" y="2752874"/>
            <a:ext cx="2394793" cy="647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95350" y="2876699"/>
            <a:ext cx="220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 (segmento · marca · embalagem)</a:t>
            </a:r>
            <a:endParaRPr lang="en-US" sz="1350"/>
          </a:p>
        </p:txBody>
      </p:sp>
      <p:sp>
        <p:nvSpPr>
          <p:cNvPr id="27" name="Shape 25"/>
          <p:cNvSpPr/>
          <p:nvPr/>
        </p:nvSpPr>
        <p:spPr>
          <a:xfrm>
            <a:off x="3156793" y="2752874"/>
            <a:ext cx="2394793" cy="647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252043" y="2876699"/>
            <a:ext cx="220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Account</a:t>
            </a:r>
            <a:endParaRPr lang="en-US" sz="1350"/>
          </a:p>
        </p:txBody>
      </p:sp>
      <p:sp>
        <p:nvSpPr>
          <p:cNvPr id="29" name="Shape 27"/>
          <p:cNvSpPr/>
          <p:nvPr/>
        </p:nvSpPr>
        <p:spPr>
          <a:xfrm>
            <a:off x="5551587" y="2752874"/>
            <a:ext cx="2394793" cy="647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646837" y="2876699"/>
            <a:ext cx="220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Super GG / GG</a:t>
            </a:r>
            <a:endParaRPr lang="en-US" sz="1350"/>
          </a:p>
        </p:txBody>
      </p:sp>
      <p:sp>
        <p:nvSpPr>
          <p:cNvPr id="31" name="Shape 29"/>
          <p:cNvSpPr/>
          <p:nvPr/>
        </p:nvSpPr>
        <p:spPr>
          <a:xfrm>
            <a:off x="7946380" y="2752874"/>
            <a:ext cx="2394793" cy="647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041630" y="2876699"/>
            <a:ext cx="220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G / M</a:t>
            </a:r>
            <a:endParaRPr lang="en-US" sz="1350"/>
          </a:p>
        </p:txBody>
      </p:sp>
      <p:sp>
        <p:nvSpPr>
          <p:cNvPr id="33" name="Shape 31"/>
          <p:cNvSpPr/>
          <p:nvPr/>
        </p:nvSpPr>
        <p:spPr>
          <a:xfrm>
            <a:off x="10341173" y="2752874"/>
            <a:ext cx="2394793" cy="647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10436423" y="2876699"/>
            <a:ext cx="220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P</a:t>
            </a:r>
            <a:endParaRPr lang="en-US" sz="1350"/>
          </a:p>
        </p:txBody>
      </p:sp>
      <p:sp>
        <p:nvSpPr>
          <p:cNvPr id="35" name="Shape 33"/>
          <p:cNvSpPr/>
          <p:nvPr/>
        </p:nvSpPr>
        <p:spPr>
          <a:xfrm>
            <a:off x="12735967" y="2752874"/>
            <a:ext cx="2394793" cy="647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12831217" y="2876699"/>
            <a:ext cx="220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 (1º tier)</a:t>
            </a:r>
            <a:endParaRPr lang="en-US" sz="1350"/>
          </a:p>
        </p:txBody>
      </p:sp>
      <p:sp>
        <p:nvSpPr>
          <p:cNvPr id="37" name="Shape 35"/>
          <p:cNvSpPr/>
          <p:nvPr/>
        </p:nvSpPr>
        <p:spPr>
          <a:xfrm>
            <a:off x="15130760" y="2752874"/>
            <a:ext cx="2395240" cy="647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5072" name="Linha cabeçalho"/>
          <p:cNvSpPr/>
          <p:nvPr/>
        </p:nvSpPr>
        <p:spPr>
          <a:xfrm>
            <a:off x="762000" y="3391430"/>
            <a:ext cx="16764000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15226010" y="2876699"/>
            <a:ext cx="22047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shop (mark-up)</a:t>
            </a:r>
            <a:endParaRPr lang="en-US" sz="1350"/>
          </a:p>
        </p:txBody>
      </p:sp>
      <p:sp>
        <p:nvSpPr>
          <p:cNvPr id="39" name="Shape 37"/>
          <p:cNvSpPr/>
          <p:nvPr/>
        </p:nvSpPr>
        <p:spPr>
          <a:xfrm>
            <a:off x="762000" y="40911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895350" y="3505349"/>
            <a:ext cx="2204293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0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Alimentos secos · Premier · sacaria / pacoteira</a:t>
            </a:r>
            <a:endParaRPr lang="en-US" sz="1400"/>
          </a:p>
        </p:txBody>
      </p:sp>
      <p:sp>
        <p:nvSpPr>
          <p:cNvPr id="41" name="Shape 39"/>
          <p:cNvSpPr/>
          <p:nvPr/>
        </p:nvSpPr>
        <p:spPr>
          <a:xfrm>
            <a:off x="3156793" y="40911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3252043" y="3505349"/>
            <a:ext cx="2204293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32,7% / 34,6%</a:t>
            </a:r>
            <a:endParaRPr lang="en-US" sz="1575"/>
          </a:p>
        </p:txBody>
      </p:sp>
      <p:sp>
        <p:nvSpPr>
          <p:cNvPr id="43" name="Shape 41"/>
          <p:cNvSpPr/>
          <p:nvPr/>
        </p:nvSpPr>
        <p:spPr>
          <a:xfrm>
            <a:off x="5551587" y="40911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5646837" y="3505349"/>
            <a:ext cx="2204293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23,7% / 25,2%</a:t>
            </a:r>
            <a:endParaRPr lang="en-US" sz="1575" dirty="0"/>
          </a:p>
        </p:txBody>
      </p:sp>
      <p:sp>
        <p:nvSpPr>
          <p:cNvPr id="45" name="Shape 43"/>
          <p:cNvSpPr/>
          <p:nvPr/>
        </p:nvSpPr>
        <p:spPr>
          <a:xfrm>
            <a:off x="7946380" y="40911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8041630" y="3505349"/>
            <a:ext cx="2204293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22,8% / 24,3%</a:t>
            </a:r>
            <a:endParaRPr lang="en-US" sz="1575"/>
          </a:p>
        </p:txBody>
      </p:sp>
      <p:sp>
        <p:nvSpPr>
          <p:cNvPr id="47" name="Shape 45"/>
          <p:cNvSpPr/>
          <p:nvPr/>
        </p:nvSpPr>
        <p:spPr>
          <a:xfrm>
            <a:off x="10341173" y="40911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10436423" y="3505349"/>
            <a:ext cx="2204293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21,8% / 23,4%</a:t>
            </a:r>
            <a:endParaRPr lang="en-US" sz="1575"/>
          </a:p>
        </p:txBody>
      </p:sp>
      <p:sp>
        <p:nvSpPr>
          <p:cNvPr id="49" name="Shape 47"/>
          <p:cNvSpPr/>
          <p:nvPr/>
        </p:nvSpPr>
        <p:spPr>
          <a:xfrm>
            <a:off x="12735967" y="40911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12831217" y="3505349"/>
            <a:ext cx="2204293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18,1% / 19,6%</a:t>
            </a:r>
            <a:endParaRPr lang="en-US" sz="1575"/>
          </a:p>
        </p:txBody>
      </p:sp>
      <p:sp>
        <p:nvSpPr>
          <p:cNvPr id="51" name="Shape 49"/>
          <p:cNvSpPr/>
          <p:nvPr/>
        </p:nvSpPr>
        <p:spPr>
          <a:xfrm>
            <a:off x="15130760" y="4091136"/>
            <a:ext cx="239524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15226010" y="3505349"/>
            <a:ext cx="220474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 / 39%</a:t>
            </a:r>
            <a:endParaRPr lang="en-US" sz="1575"/>
          </a:p>
        </p:txBody>
      </p:sp>
      <p:sp>
        <p:nvSpPr>
          <p:cNvPr id="53" name="Shape 51"/>
          <p:cNvSpPr/>
          <p:nvPr/>
        </p:nvSpPr>
        <p:spPr>
          <a:xfrm>
            <a:off x="762000" y="4100661"/>
            <a:ext cx="16764000" cy="70485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762000" y="47959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895350" y="42054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Alimentos </a:t>
            </a:r>
            <a:r>
              <a:rPr lang="en-US" sz="1400" dirty="0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secos</a:t>
            </a:r>
            <a:r>
              <a:rPr lang="en-US" sz="14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Golden · </a:t>
            </a:r>
            <a:r>
              <a:rPr lang="en-US" sz="1400" dirty="0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sacaria</a:t>
            </a:r>
            <a:r>
              <a:rPr lang="en-US" sz="14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400" dirty="0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pacoteira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3156793" y="47959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3252043" y="42054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30,9% / 32,7%</a:t>
            </a:r>
            <a:endParaRPr lang="en-US" sz="1575"/>
          </a:p>
        </p:txBody>
      </p:sp>
      <p:sp>
        <p:nvSpPr>
          <p:cNvPr id="58" name="Shape 56"/>
          <p:cNvSpPr/>
          <p:nvPr/>
        </p:nvSpPr>
        <p:spPr>
          <a:xfrm>
            <a:off x="5551587" y="47959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5646837" y="42054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21,9% / 23,4%</a:t>
            </a:r>
            <a:endParaRPr lang="en-US" sz="1575"/>
          </a:p>
        </p:txBody>
      </p:sp>
      <p:sp>
        <p:nvSpPr>
          <p:cNvPr id="60" name="Shape 58"/>
          <p:cNvSpPr/>
          <p:nvPr/>
        </p:nvSpPr>
        <p:spPr>
          <a:xfrm>
            <a:off x="7946380" y="47959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8041630" y="42054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21,8% / 23,4%</a:t>
            </a:r>
            <a:endParaRPr lang="en-US" sz="1575"/>
          </a:p>
        </p:txBody>
      </p:sp>
      <p:sp>
        <p:nvSpPr>
          <p:cNvPr id="62" name="Shape 60"/>
          <p:cNvSpPr/>
          <p:nvPr/>
        </p:nvSpPr>
        <p:spPr>
          <a:xfrm>
            <a:off x="10341173" y="47959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10436423" y="42054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20,9% / 22,4%</a:t>
            </a:r>
            <a:endParaRPr lang="en-US" sz="1575" dirty="0"/>
          </a:p>
        </p:txBody>
      </p:sp>
      <p:sp>
        <p:nvSpPr>
          <p:cNvPr id="64" name="Shape 62"/>
          <p:cNvSpPr/>
          <p:nvPr/>
        </p:nvSpPr>
        <p:spPr>
          <a:xfrm>
            <a:off x="12735967" y="47959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12831217" y="42054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16,3% / 17,7%</a:t>
            </a:r>
            <a:endParaRPr lang="en-US" sz="1575"/>
          </a:p>
        </p:txBody>
      </p:sp>
      <p:sp>
        <p:nvSpPr>
          <p:cNvPr id="66" name="Shape 64"/>
          <p:cNvSpPr/>
          <p:nvPr/>
        </p:nvSpPr>
        <p:spPr>
          <a:xfrm>
            <a:off x="15130760" y="4795986"/>
            <a:ext cx="239524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15226010" y="4205436"/>
            <a:ext cx="220474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38%</a:t>
            </a:r>
            <a:endParaRPr lang="en-US" sz="1575"/>
          </a:p>
        </p:txBody>
      </p:sp>
      <p:sp>
        <p:nvSpPr>
          <p:cNvPr id="68" name="Shape 66"/>
          <p:cNvSpPr/>
          <p:nvPr/>
        </p:nvSpPr>
        <p:spPr>
          <a:xfrm>
            <a:off x="762000" y="55008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895350" y="491028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Alimentos </a:t>
            </a:r>
            <a:r>
              <a:rPr lang="en-US" sz="1575" dirty="0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secos</a:t>
            </a:r>
            <a:r>
              <a:rPr lang="en-US" sz="1575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Vitta · </a:t>
            </a:r>
            <a:r>
              <a:rPr lang="en-US" sz="1575" dirty="0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sacaria</a:t>
            </a:r>
            <a:r>
              <a:rPr lang="en-US" sz="1575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575" dirty="0" err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pacoteira</a:t>
            </a:r>
            <a:endParaRPr lang="en-US" sz="1575" dirty="0"/>
          </a:p>
        </p:txBody>
      </p:sp>
      <p:sp>
        <p:nvSpPr>
          <p:cNvPr id="70" name="Shape 68"/>
          <p:cNvSpPr/>
          <p:nvPr/>
        </p:nvSpPr>
        <p:spPr>
          <a:xfrm>
            <a:off x="3156793" y="55008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3252043" y="491028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30,8% / 32,5%</a:t>
            </a:r>
            <a:endParaRPr lang="en-US" sz="1575"/>
          </a:p>
        </p:txBody>
      </p:sp>
      <p:sp>
        <p:nvSpPr>
          <p:cNvPr id="72" name="Shape 70"/>
          <p:cNvSpPr/>
          <p:nvPr/>
        </p:nvSpPr>
        <p:spPr>
          <a:xfrm>
            <a:off x="5551587" y="55008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Text 71"/>
          <p:cNvSpPr/>
          <p:nvPr/>
        </p:nvSpPr>
        <p:spPr>
          <a:xfrm>
            <a:off x="5646837" y="491028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21,9% / 23,4%</a:t>
            </a:r>
            <a:endParaRPr lang="en-US" sz="1575" dirty="0"/>
          </a:p>
        </p:txBody>
      </p:sp>
      <p:sp>
        <p:nvSpPr>
          <p:cNvPr id="74" name="Shape 72"/>
          <p:cNvSpPr/>
          <p:nvPr/>
        </p:nvSpPr>
        <p:spPr>
          <a:xfrm>
            <a:off x="7946380" y="55008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8041630" y="491028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21,8% / 23,4%</a:t>
            </a:r>
            <a:endParaRPr lang="en-US" sz="1575"/>
          </a:p>
        </p:txBody>
      </p:sp>
      <p:sp>
        <p:nvSpPr>
          <p:cNvPr id="76" name="Shape 74"/>
          <p:cNvSpPr/>
          <p:nvPr/>
        </p:nvSpPr>
        <p:spPr>
          <a:xfrm>
            <a:off x="10341173" y="55008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7" name="Text 75"/>
          <p:cNvSpPr/>
          <p:nvPr/>
        </p:nvSpPr>
        <p:spPr>
          <a:xfrm>
            <a:off x="10436423" y="491028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20,9% / 22,4%</a:t>
            </a:r>
            <a:endParaRPr lang="en-US" sz="1575"/>
          </a:p>
        </p:txBody>
      </p:sp>
      <p:sp>
        <p:nvSpPr>
          <p:cNvPr id="78" name="Shape 76"/>
          <p:cNvSpPr/>
          <p:nvPr/>
        </p:nvSpPr>
        <p:spPr>
          <a:xfrm>
            <a:off x="12735967" y="55008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9" name="Text 77"/>
          <p:cNvSpPr/>
          <p:nvPr/>
        </p:nvSpPr>
        <p:spPr>
          <a:xfrm>
            <a:off x="12831217" y="491028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16,3% / 17,7%</a:t>
            </a:r>
            <a:endParaRPr lang="en-US" sz="1575"/>
          </a:p>
        </p:txBody>
      </p:sp>
      <p:sp>
        <p:nvSpPr>
          <p:cNvPr id="80" name="Shape 78"/>
          <p:cNvSpPr/>
          <p:nvPr/>
        </p:nvSpPr>
        <p:spPr>
          <a:xfrm>
            <a:off x="15130760" y="5500836"/>
            <a:ext cx="239524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1" name="Text 79"/>
          <p:cNvSpPr/>
          <p:nvPr/>
        </p:nvSpPr>
        <p:spPr>
          <a:xfrm>
            <a:off x="15226010" y="4910286"/>
            <a:ext cx="220474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/ 38%</a:t>
            </a:r>
            <a:endParaRPr lang="en-US" sz="1575"/>
          </a:p>
        </p:txBody>
      </p:sp>
      <p:sp>
        <p:nvSpPr>
          <p:cNvPr id="82" name="Shape 80"/>
          <p:cNvSpPr/>
          <p:nvPr/>
        </p:nvSpPr>
        <p:spPr>
          <a:xfrm>
            <a:off x="762000" y="5510361"/>
            <a:ext cx="16764000" cy="70485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Shape 81"/>
          <p:cNvSpPr/>
          <p:nvPr/>
        </p:nvSpPr>
        <p:spPr>
          <a:xfrm>
            <a:off x="762000" y="62056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4" name="Text 82"/>
          <p:cNvSpPr/>
          <p:nvPr/>
        </p:nvSpPr>
        <p:spPr>
          <a:xfrm>
            <a:off x="895350" y="56151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Alimentos secos · Nattu · sacaria / pacoteira</a:t>
            </a:r>
            <a:endParaRPr lang="en-US" sz="1575"/>
          </a:p>
        </p:txBody>
      </p:sp>
      <p:sp>
        <p:nvSpPr>
          <p:cNvPr id="85" name="Shape 83"/>
          <p:cNvSpPr/>
          <p:nvPr/>
        </p:nvSpPr>
        <p:spPr>
          <a:xfrm>
            <a:off x="3156793" y="62056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6" name="Text 84"/>
          <p:cNvSpPr/>
          <p:nvPr/>
        </p:nvSpPr>
        <p:spPr>
          <a:xfrm>
            <a:off x="3252043" y="56151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34,6% / 36,5%</a:t>
            </a:r>
            <a:endParaRPr lang="en-US" sz="1575"/>
          </a:p>
        </p:txBody>
      </p:sp>
      <p:sp>
        <p:nvSpPr>
          <p:cNvPr id="87" name="Shape 85"/>
          <p:cNvSpPr/>
          <p:nvPr/>
        </p:nvSpPr>
        <p:spPr>
          <a:xfrm>
            <a:off x="5551587" y="62056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8" name="Text 86"/>
          <p:cNvSpPr/>
          <p:nvPr/>
        </p:nvSpPr>
        <p:spPr>
          <a:xfrm>
            <a:off x="5646837" y="56151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27,4% / 29,0%</a:t>
            </a:r>
            <a:endParaRPr lang="en-US" sz="1575" dirty="0"/>
          </a:p>
        </p:txBody>
      </p:sp>
      <p:sp>
        <p:nvSpPr>
          <p:cNvPr id="89" name="Shape 87"/>
          <p:cNvSpPr/>
          <p:nvPr/>
        </p:nvSpPr>
        <p:spPr>
          <a:xfrm>
            <a:off x="7946380" y="62056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0" name="Text 88"/>
          <p:cNvSpPr/>
          <p:nvPr/>
        </p:nvSpPr>
        <p:spPr>
          <a:xfrm>
            <a:off x="8041630" y="56151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27,4% / 29,0%</a:t>
            </a:r>
            <a:endParaRPr lang="en-US" sz="1575"/>
          </a:p>
        </p:txBody>
      </p:sp>
      <p:sp>
        <p:nvSpPr>
          <p:cNvPr id="91" name="Shape 89"/>
          <p:cNvSpPr/>
          <p:nvPr/>
        </p:nvSpPr>
        <p:spPr>
          <a:xfrm>
            <a:off x="10341173" y="62056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2" name="Text 90"/>
          <p:cNvSpPr/>
          <p:nvPr/>
        </p:nvSpPr>
        <p:spPr>
          <a:xfrm>
            <a:off x="10436423" y="56151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25,6% / 27,1%</a:t>
            </a:r>
            <a:endParaRPr lang="en-US" sz="1575"/>
          </a:p>
        </p:txBody>
      </p:sp>
      <p:sp>
        <p:nvSpPr>
          <p:cNvPr id="93" name="Shape 91"/>
          <p:cNvSpPr/>
          <p:nvPr/>
        </p:nvSpPr>
        <p:spPr>
          <a:xfrm>
            <a:off x="12735967" y="62056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4" name="Text 92"/>
          <p:cNvSpPr/>
          <p:nvPr/>
        </p:nvSpPr>
        <p:spPr>
          <a:xfrm>
            <a:off x="12831217" y="56151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 / 21,5%</a:t>
            </a:r>
            <a:endParaRPr lang="en-US" sz="1575"/>
          </a:p>
        </p:txBody>
      </p:sp>
      <p:sp>
        <p:nvSpPr>
          <p:cNvPr id="95" name="Shape 93"/>
          <p:cNvSpPr/>
          <p:nvPr/>
        </p:nvSpPr>
        <p:spPr>
          <a:xfrm>
            <a:off x="15130760" y="6205686"/>
            <a:ext cx="239524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6" name="Text 94"/>
          <p:cNvSpPr/>
          <p:nvPr/>
        </p:nvSpPr>
        <p:spPr>
          <a:xfrm>
            <a:off x="15226010" y="5615136"/>
            <a:ext cx="220474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 / 47%</a:t>
            </a:r>
            <a:endParaRPr lang="en-US" sz="1575"/>
          </a:p>
        </p:txBody>
      </p:sp>
      <p:sp>
        <p:nvSpPr>
          <p:cNvPr id="97" name="Shape 95"/>
          <p:cNvSpPr/>
          <p:nvPr/>
        </p:nvSpPr>
        <p:spPr>
          <a:xfrm>
            <a:off x="762000" y="69105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8" name="Text 96"/>
          <p:cNvSpPr/>
          <p:nvPr/>
        </p:nvSpPr>
        <p:spPr>
          <a:xfrm>
            <a:off x="895350" y="631998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Alimentos úmidos · Premier / Golden</a:t>
            </a:r>
            <a:endParaRPr lang="en-US" sz="1575"/>
          </a:p>
        </p:txBody>
      </p:sp>
      <p:sp>
        <p:nvSpPr>
          <p:cNvPr id="99" name="Shape 97"/>
          <p:cNvSpPr/>
          <p:nvPr/>
        </p:nvSpPr>
        <p:spPr>
          <a:xfrm>
            <a:off x="3156793" y="69105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0" name="Text 98"/>
          <p:cNvSpPr/>
          <p:nvPr/>
        </p:nvSpPr>
        <p:spPr>
          <a:xfrm>
            <a:off x="3252043" y="631998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36,5%</a:t>
            </a:r>
            <a:endParaRPr lang="en-US" sz="1575"/>
          </a:p>
        </p:txBody>
      </p:sp>
      <p:sp>
        <p:nvSpPr>
          <p:cNvPr id="101" name="Shape 99"/>
          <p:cNvSpPr/>
          <p:nvPr/>
        </p:nvSpPr>
        <p:spPr>
          <a:xfrm>
            <a:off x="5551587" y="69105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2" name="Text 100"/>
          <p:cNvSpPr/>
          <p:nvPr/>
        </p:nvSpPr>
        <p:spPr>
          <a:xfrm>
            <a:off x="5646837" y="631998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27,1%</a:t>
            </a:r>
            <a:endParaRPr lang="en-US" sz="1575"/>
          </a:p>
        </p:txBody>
      </p:sp>
      <p:sp>
        <p:nvSpPr>
          <p:cNvPr id="103" name="Shape 101"/>
          <p:cNvSpPr/>
          <p:nvPr/>
        </p:nvSpPr>
        <p:spPr>
          <a:xfrm>
            <a:off x="7946380" y="69105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4" name="Text 102"/>
          <p:cNvSpPr/>
          <p:nvPr/>
        </p:nvSpPr>
        <p:spPr>
          <a:xfrm>
            <a:off x="8041630" y="631998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27,1%</a:t>
            </a:r>
            <a:endParaRPr lang="en-US" sz="1575"/>
          </a:p>
        </p:txBody>
      </p:sp>
      <p:sp>
        <p:nvSpPr>
          <p:cNvPr id="105" name="Shape 103"/>
          <p:cNvSpPr/>
          <p:nvPr/>
        </p:nvSpPr>
        <p:spPr>
          <a:xfrm>
            <a:off x="10341173" y="69105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6" name="Text 104"/>
          <p:cNvSpPr/>
          <p:nvPr/>
        </p:nvSpPr>
        <p:spPr>
          <a:xfrm>
            <a:off x="10436423" y="631998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25,2%</a:t>
            </a:r>
            <a:endParaRPr lang="en-US" sz="1575"/>
          </a:p>
        </p:txBody>
      </p:sp>
      <p:sp>
        <p:nvSpPr>
          <p:cNvPr id="107" name="Shape 105"/>
          <p:cNvSpPr/>
          <p:nvPr/>
        </p:nvSpPr>
        <p:spPr>
          <a:xfrm>
            <a:off x="12735967" y="691053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8" name="Text 106"/>
          <p:cNvSpPr/>
          <p:nvPr/>
        </p:nvSpPr>
        <p:spPr>
          <a:xfrm>
            <a:off x="12831217" y="631998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21,5%</a:t>
            </a:r>
            <a:endParaRPr lang="en-US" sz="1575"/>
          </a:p>
        </p:txBody>
      </p:sp>
      <p:sp>
        <p:nvSpPr>
          <p:cNvPr id="109" name="Shape 107"/>
          <p:cNvSpPr/>
          <p:nvPr/>
        </p:nvSpPr>
        <p:spPr>
          <a:xfrm>
            <a:off x="15130760" y="6910536"/>
            <a:ext cx="239524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0" name="Text 108"/>
          <p:cNvSpPr/>
          <p:nvPr/>
        </p:nvSpPr>
        <p:spPr>
          <a:xfrm>
            <a:off x="15226010" y="6319986"/>
            <a:ext cx="220474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575"/>
          </a:p>
        </p:txBody>
      </p:sp>
      <p:sp>
        <p:nvSpPr>
          <p:cNvPr id="111" name="Shape 109"/>
          <p:cNvSpPr/>
          <p:nvPr/>
        </p:nvSpPr>
        <p:spPr>
          <a:xfrm>
            <a:off x="762000" y="6920061"/>
            <a:ext cx="16764000" cy="70485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2" name="Shape 110"/>
          <p:cNvSpPr/>
          <p:nvPr/>
        </p:nvSpPr>
        <p:spPr>
          <a:xfrm>
            <a:off x="762000" y="76153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3" name="Text 111"/>
          <p:cNvSpPr/>
          <p:nvPr/>
        </p:nvSpPr>
        <p:spPr>
          <a:xfrm>
            <a:off x="895350" y="70248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Cookies and Treats · Golden / Premier</a:t>
            </a:r>
            <a:endParaRPr lang="en-US" sz="1575"/>
          </a:p>
        </p:txBody>
      </p:sp>
      <p:sp>
        <p:nvSpPr>
          <p:cNvPr id="114" name="Shape 112"/>
          <p:cNvSpPr/>
          <p:nvPr/>
        </p:nvSpPr>
        <p:spPr>
          <a:xfrm>
            <a:off x="3156793" y="76153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5" name="Text 113"/>
          <p:cNvSpPr/>
          <p:nvPr/>
        </p:nvSpPr>
        <p:spPr>
          <a:xfrm>
            <a:off x="3252043" y="70248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30,3%</a:t>
            </a:r>
            <a:endParaRPr lang="en-US" sz="1575"/>
          </a:p>
        </p:txBody>
      </p:sp>
      <p:sp>
        <p:nvSpPr>
          <p:cNvPr id="116" name="Shape 114"/>
          <p:cNvSpPr/>
          <p:nvPr/>
        </p:nvSpPr>
        <p:spPr>
          <a:xfrm>
            <a:off x="5551587" y="76153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7" name="Text 115"/>
          <p:cNvSpPr/>
          <p:nvPr/>
        </p:nvSpPr>
        <p:spPr>
          <a:xfrm>
            <a:off x="5646837" y="70248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27,7%</a:t>
            </a:r>
            <a:endParaRPr lang="en-US" sz="1575"/>
          </a:p>
        </p:txBody>
      </p:sp>
      <p:sp>
        <p:nvSpPr>
          <p:cNvPr id="118" name="Shape 116"/>
          <p:cNvSpPr/>
          <p:nvPr/>
        </p:nvSpPr>
        <p:spPr>
          <a:xfrm>
            <a:off x="7946380" y="76153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9" name="Text 117"/>
          <p:cNvSpPr/>
          <p:nvPr/>
        </p:nvSpPr>
        <p:spPr>
          <a:xfrm>
            <a:off x="8041630" y="70248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26,9%</a:t>
            </a:r>
            <a:endParaRPr lang="en-US" sz="1575"/>
          </a:p>
        </p:txBody>
      </p:sp>
      <p:sp>
        <p:nvSpPr>
          <p:cNvPr id="120" name="Shape 118"/>
          <p:cNvSpPr/>
          <p:nvPr/>
        </p:nvSpPr>
        <p:spPr>
          <a:xfrm>
            <a:off x="10341173" y="76153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1" name="Text 119"/>
          <p:cNvSpPr/>
          <p:nvPr/>
        </p:nvSpPr>
        <p:spPr>
          <a:xfrm>
            <a:off x="10436423" y="70248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26,2%</a:t>
            </a:r>
            <a:endParaRPr lang="en-US" sz="1575"/>
          </a:p>
        </p:txBody>
      </p:sp>
      <p:sp>
        <p:nvSpPr>
          <p:cNvPr id="122" name="Shape 120"/>
          <p:cNvSpPr/>
          <p:nvPr/>
        </p:nvSpPr>
        <p:spPr>
          <a:xfrm>
            <a:off x="12735967" y="7615386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3" name="Text 121"/>
          <p:cNvSpPr/>
          <p:nvPr/>
        </p:nvSpPr>
        <p:spPr>
          <a:xfrm>
            <a:off x="12831217" y="7024836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22,0%</a:t>
            </a:r>
            <a:endParaRPr lang="en-US" sz="1575"/>
          </a:p>
        </p:txBody>
      </p:sp>
      <p:sp>
        <p:nvSpPr>
          <p:cNvPr id="124" name="Shape 122"/>
          <p:cNvSpPr/>
          <p:nvPr/>
        </p:nvSpPr>
        <p:spPr>
          <a:xfrm>
            <a:off x="15130760" y="7615386"/>
            <a:ext cx="239524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5" name="Text 123"/>
          <p:cNvSpPr/>
          <p:nvPr/>
        </p:nvSpPr>
        <p:spPr>
          <a:xfrm>
            <a:off x="15226010" y="7024836"/>
            <a:ext cx="220474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36,5%</a:t>
            </a:r>
            <a:endParaRPr lang="en-US" sz="1575"/>
          </a:p>
        </p:txBody>
      </p:sp>
      <p:sp>
        <p:nvSpPr>
          <p:cNvPr id="126" name="Shape 124"/>
          <p:cNvSpPr/>
          <p:nvPr/>
        </p:nvSpPr>
        <p:spPr>
          <a:xfrm>
            <a:off x="762000" y="8077349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7" name="Text 125"/>
          <p:cNvSpPr/>
          <p:nvPr/>
        </p:nvSpPr>
        <p:spPr>
          <a:xfrm>
            <a:off x="895350" y="7729686"/>
            <a:ext cx="2204293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Bifinho · Premier</a:t>
            </a:r>
            <a:endParaRPr lang="en-US" sz="1575"/>
          </a:p>
        </p:txBody>
      </p:sp>
      <p:sp>
        <p:nvSpPr>
          <p:cNvPr id="128" name="Shape 126"/>
          <p:cNvSpPr/>
          <p:nvPr/>
        </p:nvSpPr>
        <p:spPr>
          <a:xfrm>
            <a:off x="3156793" y="8077349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9" name="Text 127"/>
          <p:cNvSpPr/>
          <p:nvPr/>
        </p:nvSpPr>
        <p:spPr>
          <a:xfrm>
            <a:off x="3252043" y="7729686"/>
            <a:ext cx="2204293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31,2%</a:t>
            </a:r>
            <a:endParaRPr lang="en-US" sz="1575"/>
          </a:p>
        </p:txBody>
      </p:sp>
      <p:sp>
        <p:nvSpPr>
          <p:cNvPr id="130" name="Shape 128"/>
          <p:cNvSpPr/>
          <p:nvPr/>
        </p:nvSpPr>
        <p:spPr>
          <a:xfrm>
            <a:off x="5551587" y="8077349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1" name="Text 129"/>
          <p:cNvSpPr/>
          <p:nvPr/>
        </p:nvSpPr>
        <p:spPr>
          <a:xfrm>
            <a:off x="5646837" y="7729686"/>
            <a:ext cx="2204293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23,7%</a:t>
            </a:r>
            <a:endParaRPr lang="en-US" sz="1575"/>
          </a:p>
        </p:txBody>
      </p:sp>
      <p:sp>
        <p:nvSpPr>
          <p:cNvPr id="132" name="Shape 130"/>
          <p:cNvSpPr/>
          <p:nvPr/>
        </p:nvSpPr>
        <p:spPr>
          <a:xfrm>
            <a:off x="7946380" y="8077349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3" name="Text 131"/>
          <p:cNvSpPr/>
          <p:nvPr/>
        </p:nvSpPr>
        <p:spPr>
          <a:xfrm>
            <a:off x="8041630" y="7729686"/>
            <a:ext cx="2204293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23,8%</a:t>
            </a:r>
            <a:endParaRPr lang="en-US" sz="1575"/>
          </a:p>
        </p:txBody>
      </p:sp>
      <p:sp>
        <p:nvSpPr>
          <p:cNvPr id="134" name="Shape 132"/>
          <p:cNvSpPr/>
          <p:nvPr/>
        </p:nvSpPr>
        <p:spPr>
          <a:xfrm>
            <a:off x="10341173" y="8077349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5" name="Text 133"/>
          <p:cNvSpPr/>
          <p:nvPr/>
        </p:nvSpPr>
        <p:spPr>
          <a:xfrm>
            <a:off x="10436423" y="7729686"/>
            <a:ext cx="2204293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22,3%</a:t>
            </a:r>
            <a:endParaRPr lang="en-US" sz="1575"/>
          </a:p>
        </p:txBody>
      </p:sp>
      <p:sp>
        <p:nvSpPr>
          <p:cNvPr id="136" name="Shape 134"/>
          <p:cNvSpPr/>
          <p:nvPr/>
        </p:nvSpPr>
        <p:spPr>
          <a:xfrm>
            <a:off x="12735967" y="8077349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7" name="Text 135"/>
          <p:cNvSpPr/>
          <p:nvPr/>
        </p:nvSpPr>
        <p:spPr>
          <a:xfrm>
            <a:off x="12831217" y="7729686"/>
            <a:ext cx="2204293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19,4%</a:t>
            </a:r>
            <a:endParaRPr lang="en-US" sz="1575"/>
          </a:p>
        </p:txBody>
      </p:sp>
      <p:sp>
        <p:nvSpPr>
          <p:cNvPr id="138" name="Shape 136"/>
          <p:cNvSpPr/>
          <p:nvPr/>
        </p:nvSpPr>
        <p:spPr>
          <a:xfrm>
            <a:off x="15130760" y="8077349"/>
            <a:ext cx="239524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9" name="Text 137"/>
          <p:cNvSpPr/>
          <p:nvPr/>
        </p:nvSpPr>
        <p:spPr>
          <a:xfrm>
            <a:off x="15226010" y="7729686"/>
            <a:ext cx="220474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575"/>
          </a:p>
        </p:txBody>
      </p:sp>
      <p:sp>
        <p:nvSpPr>
          <p:cNvPr id="140" name="Shape 138"/>
          <p:cNvSpPr/>
          <p:nvPr/>
        </p:nvSpPr>
        <p:spPr>
          <a:xfrm>
            <a:off x="762000" y="8086874"/>
            <a:ext cx="16764000" cy="70485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1" name="Shape 139"/>
          <p:cNvSpPr/>
          <p:nvPr/>
        </p:nvSpPr>
        <p:spPr>
          <a:xfrm>
            <a:off x="762000" y="8782199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2" name="Text 140"/>
          <p:cNvSpPr/>
          <p:nvPr/>
        </p:nvSpPr>
        <p:spPr>
          <a:xfrm>
            <a:off x="895350" y="8191649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Granulados higiênicos · Progato</a:t>
            </a:r>
            <a:endParaRPr lang="en-US" sz="1575"/>
          </a:p>
        </p:txBody>
      </p:sp>
      <p:sp>
        <p:nvSpPr>
          <p:cNvPr id="143" name="Shape 141"/>
          <p:cNvSpPr/>
          <p:nvPr/>
        </p:nvSpPr>
        <p:spPr>
          <a:xfrm>
            <a:off x="3156793" y="8782199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4" name="Text 142"/>
          <p:cNvSpPr/>
          <p:nvPr/>
        </p:nvSpPr>
        <p:spPr>
          <a:xfrm>
            <a:off x="3252043" y="8191649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31,3%</a:t>
            </a:r>
            <a:endParaRPr lang="en-US" sz="1575"/>
          </a:p>
        </p:txBody>
      </p:sp>
      <p:sp>
        <p:nvSpPr>
          <p:cNvPr id="145" name="Shape 143"/>
          <p:cNvSpPr/>
          <p:nvPr/>
        </p:nvSpPr>
        <p:spPr>
          <a:xfrm>
            <a:off x="5551587" y="8782199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6" name="Text 144"/>
          <p:cNvSpPr/>
          <p:nvPr/>
        </p:nvSpPr>
        <p:spPr>
          <a:xfrm>
            <a:off x="5646837" y="8191649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23,8%</a:t>
            </a:r>
            <a:endParaRPr lang="en-US" sz="1575"/>
          </a:p>
        </p:txBody>
      </p:sp>
      <p:sp>
        <p:nvSpPr>
          <p:cNvPr id="147" name="Shape 145"/>
          <p:cNvSpPr/>
          <p:nvPr/>
        </p:nvSpPr>
        <p:spPr>
          <a:xfrm>
            <a:off x="7946380" y="8782199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8" name="Text 146"/>
          <p:cNvSpPr/>
          <p:nvPr/>
        </p:nvSpPr>
        <p:spPr>
          <a:xfrm>
            <a:off x="8041630" y="8191649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23,1%</a:t>
            </a:r>
            <a:endParaRPr lang="en-US" sz="1575"/>
          </a:p>
        </p:txBody>
      </p:sp>
      <p:sp>
        <p:nvSpPr>
          <p:cNvPr id="149" name="Shape 147"/>
          <p:cNvSpPr/>
          <p:nvPr/>
        </p:nvSpPr>
        <p:spPr>
          <a:xfrm>
            <a:off x="10341173" y="8782199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0" name="Text 148"/>
          <p:cNvSpPr/>
          <p:nvPr/>
        </p:nvSpPr>
        <p:spPr>
          <a:xfrm>
            <a:off x="10436423" y="8191649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22,3%</a:t>
            </a:r>
            <a:endParaRPr lang="en-US" sz="1575"/>
          </a:p>
        </p:txBody>
      </p:sp>
      <p:sp>
        <p:nvSpPr>
          <p:cNvPr id="151" name="Shape 149"/>
          <p:cNvSpPr/>
          <p:nvPr/>
        </p:nvSpPr>
        <p:spPr>
          <a:xfrm>
            <a:off x="12735967" y="8782199"/>
            <a:ext cx="2394793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2" name="Text 150"/>
          <p:cNvSpPr/>
          <p:nvPr/>
        </p:nvSpPr>
        <p:spPr>
          <a:xfrm>
            <a:off x="12831217" y="8191649"/>
            <a:ext cx="220429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19,4%</a:t>
            </a:r>
            <a:endParaRPr lang="en-US" sz="1575"/>
          </a:p>
        </p:txBody>
      </p:sp>
      <p:sp>
        <p:nvSpPr>
          <p:cNvPr id="153" name="Shape 151"/>
          <p:cNvSpPr/>
          <p:nvPr/>
        </p:nvSpPr>
        <p:spPr>
          <a:xfrm>
            <a:off x="15130760" y="8782199"/>
            <a:ext cx="239524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4" name="Text 152"/>
          <p:cNvSpPr/>
          <p:nvPr/>
        </p:nvSpPr>
        <p:spPr>
          <a:xfrm>
            <a:off x="15226010" y="8191649"/>
            <a:ext cx="220474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75"/>
          </a:p>
        </p:txBody>
      </p:sp>
      <p:sp>
        <p:nvSpPr>
          <p:cNvPr id="173" name="Text 171"/>
          <p:cNvSpPr/>
          <p:nvPr/>
        </p:nvSpPr>
        <p:spPr>
          <a:xfrm>
            <a:off x="762000" y="9863138"/>
            <a:ext cx="154411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TABELA COMPLETA 26/05/26 (155.870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5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subcanais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Margens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1º tier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líquidas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impostos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2º tier = mark-up do pet shop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regional e de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transição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ficam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fora da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Ponderação: sell-in jan–mai/26; MB por SKU × UF (inclui ST). ¹ Pet shop: MB sobre o preço do distribuidor.</a:t>
            </a:r>
            <a:endParaRPr lang="en-US" sz="1125" dirty="0"/>
          </a:p>
        </p:txBody>
      </p:sp>
      <p:sp>
        <p:nvSpPr>
          <p:cNvPr id="179" name="Text 1">
            <a:extLst>
              <a:ext uri="{FF2B5EF4-FFF2-40B4-BE49-F238E27FC236}">
                <a16:creationId xmlns:a16="http://schemas.microsoft.com/office/drawing/2014/main" id="{91948042-CD05-86B7-C72F-3960483E0FBD}"/>
              </a:ext>
            </a:extLst>
          </p:cNvPr>
          <p:cNvSpPr/>
          <p:nvPr/>
        </p:nvSpPr>
        <p:spPr>
          <a:xfrm>
            <a:off x="758952" y="484485"/>
            <a:ext cx="13368528" cy="678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4200" kern="0" spc="-63" err="1" b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 xml:space="preserve">Camada 1 · Tabela | Margens líquidas 2026</a:t>
            </a:r>
            <a:r>
              <a:rPr lang="en-US" sz="4200" kern="0" spc="-63" b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 xml:space="preserve"/>
            </a:r>
            <a:r>
              <a:rPr lang="en-US" sz="4200" b="1" kern="0" spc="-63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 xml:space="preserve"/>
            </a:r>
            <a:r>
              <a:rPr lang="en-US" sz="4200" b="1" kern="0" spc="-63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 xml:space="preserve"/>
            </a:r>
            <a:r>
              <a:rPr lang="en-US" sz="4200" b="1" kern="0" spc="-63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 xml:space="preserve"/>
            </a:r>
            <a:r>
              <a:rPr lang="en-US" sz="4200" b="1" kern="0" spc="-63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 xml:space="preserve"/>
            </a:r>
            <a:r>
              <a:rPr lang="en-US" sz="4200" b="1" kern="0" spc="-63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 xml:space="preserve"/>
            </a:r>
            <a:r>
              <a:rPr lang="en-US" sz="4200" b="1" kern="0" spc="-63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 xml:space="preserve"/>
            </a:r>
            <a:r>
              <a:rPr lang="en-US" sz="4200" b="1" kern="0" spc="-63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 xml:space="preserve"/>
            </a:r>
            <a:endParaRPr lang="en-US" sz="4200"/>
          </a:p>
        </p:txBody>
      </p:sp>
      <p:sp>
        <p:nvSpPr>
          <p:cNvPr id="175" name="Text 6">
            <a:extLst>
              <a:ext uri="{FF2B5EF4-FFF2-40B4-BE49-F238E27FC236}">
                <a16:creationId xmlns:a16="http://schemas.microsoft.com/office/drawing/2014/main" id="{3C136BCA-334C-54F1-0162-C43D0D0142B7}"/>
              </a:ext>
            </a:extLst>
          </p:cNvPr>
          <p:cNvSpPr/>
          <p:nvPr/>
        </p:nvSpPr>
        <p:spPr>
          <a:xfrm>
            <a:off x="952500" y="2333773"/>
            <a:ext cx="1738449" cy="219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3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15KG</a:t>
            </a:r>
            <a:endParaRPr lang="en-US" sz="1000" dirty="0"/>
          </a:p>
        </p:txBody>
      </p:sp>
      <p:sp>
        <p:nvSpPr>
          <p:cNvPr id="190" name="Pond label"/>
          <p:cNvSpPr/>
          <p:nvPr/>
        </p:nvSpPr>
        <p:spPr>
          <a:xfrm>
            <a:off x="762000" y="8891736"/>
            <a:ext cx="2394793" cy="395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1" name="Pond label txt"/>
          <p:cNvSpPr txBox="1"/>
          <p:nvPr/>
        </p:nvSpPr>
        <p:spPr>
          <a:xfrm>
            <a:off x="895350" y="8891736"/>
            <a:ext cx="2194793" cy="39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líquida ponderada pelo mix real</a:t>
            </a:r>
          </a:p>
        </p:txBody>
      </p:sp>
      <p:sp>
        <p:nvSpPr>
          <p:cNvPr id="192" name="Pond band"/>
          <p:cNvSpPr/>
          <p:nvPr/>
        </p:nvSpPr>
        <p:spPr>
          <a:xfrm>
            <a:off x="3156793" y="8891736"/>
            <a:ext cx="14369207" cy="3950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3" name="Pond val"/>
          <p:cNvSpPr txBox="1"/>
          <p:nvPr/>
        </p:nvSpPr>
        <p:spPr>
          <a:xfrm>
            <a:off x="3156793" y="8891736"/>
            <a:ext cx="2394793" cy="39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32,5%</a:t>
            </a:r>
          </a:p>
        </p:txBody>
      </p:sp>
      <p:sp>
        <p:nvSpPr>
          <p:cNvPr id="194" name="Pond val"/>
          <p:cNvSpPr txBox="1"/>
          <p:nvPr/>
        </p:nvSpPr>
        <p:spPr>
          <a:xfrm>
            <a:off x="5551587" y="8891736"/>
            <a:ext cx="2394793" cy="39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23,1%</a:t>
            </a:r>
          </a:p>
        </p:txBody>
      </p:sp>
      <p:sp>
        <p:nvSpPr>
          <p:cNvPr id="195" name="Pond val"/>
          <p:cNvSpPr txBox="1"/>
          <p:nvPr/>
        </p:nvSpPr>
        <p:spPr>
          <a:xfrm>
            <a:off x="7946380" y="8891736"/>
            <a:ext cx="2394793" cy="39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22,8%</a:t>
            </a:r>
          </a:p>
        </p:txBody>
      </p:sp>
      <p:sp>
        <p:nvSpPr>
          <p:cNvPr id="196" name="Pond val"/>
          <p:cNvSpPr txBox="1"/>
          <p:nvPr/>
        </p:nvSpPr>
        <p:spPr>
          <a:xfrm>
            <a:off x="10341173" y="8891736"/>
            <a:ext cx="2394793" cy="39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21,8%</a:t>
            </a:r>
          </a:p>
        </p:txBody>
      </p:sp>
      <p:sp>
        <p:nvSpPr>
          <p:cNvPr id="197" name="Pond val"/>
          <p:cNvSpPr txBox="1"/>
          <p:nvPr/>
        </p:nvSpPr>
        <p:spPr>
          <a:xfrm>
            <a:off x="12735967" y="8891736"/>
            <a:ext cx="2394793" cy="39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17,2%</a:t>
            </a:r>
          </a:p>
        </p:txBody>
      </p:sp>
      <p:sp>
        <p:nvSpPr>
          <p:cNvPr id="198" name="Pond label"/>
          <p:cNvSpPr/>
          <p:nvPr/>
        </p:nvSpPr>
        <p:spPr>
          <a:xfrm>
            <a:off x="762000" y="9296736"/>
            <a:ext cx="2394793" cy="395000"/>
          </a:xfrm>
          <a:prstGeom prst="rect">
            <a:avLst/>
          </a:prstGeom>
          <a:solidFill>
            <a:srgbClr val="7BA0E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9" name="Pond label txt"/>
          <p:cNvSpPr txBox="1"/>
          <p:nvPr/>
        </p:nvSpPr>
        <p:spPr>
          <a:xfrm>
            <a:off x="895350" y="9296736"/>
            <a:ext cx="2194793" cy="39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150" b="1" dirty="0">
                <a:solidFill>
                  <a:srgbClr val="0A1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bruta ponderada pelo mix real</a:t>
            </a:r>
          </a:p>
        </p:txBody>
      </p:sp>
      <p:sp>
        <p:nvSpPr>
          <p:cNvPr id="200" name="Pond band"/>
          <p:cNvSpPr/>
          <p:nvPr/>
        </p:nvSpPr>
        <p:spPr>
          <a:xfrm>
            <a:off x="3156793" y="9296736"/>
            <a:ext cx="14369207" cy="395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Pond val"/>
          <p:cNvSpPr txBox="1"/>
          <p:nvPr/>
        </p:nvSpPr>
        <p:spPr>
          <a:xfrm>
            <a:off x="3156793" y="9296736"/>
            <a:ext cx="2394793" cy="39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9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39,1%</a:t>
            </a:r>
          </a:p>
        </p:txBody>
      </p:sp>
      <p:sp>
        <p:nvSpPr>
          <p:cNvPr id="202" name="Pond val"/>
          <p:cNvSpPr txBox="1"/>
          <p:nvPr/>
        </p:nvSpPr>
        <p:spPr>
          <a:xfrm>
            <a:off x="5551587" y="9296736"/>
            <a:ext cx="2394793" cy="39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9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28,1%</a:t>
            </a:r>
          </a:p>
        </p:txBody>
      </p:sp>
      <p:sp>
        <p:nvSpPr>
          <p:cNvPr id="203" name="Pond val"/>
          <p:cNvSpPr txBox="1"/>
          <p:nvPr/>
        </p:nvSpPr>
        <p:spPr>
          <a:xfrm>
            <a:off x="7946380" y="9296736"/>
            <a:ext cx="2394793" cy="39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9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27,7%</a:t>
            </a:r>
          </a:p>
        </p:txBody>
      </p:sp>
      <p:sp>
        <p:nvSpPr>
          <p:cNvPr id="204" name="Pond val"/>
          <p:cNvSpPr txBox="1"/>
          <p:nvPr/>
        </p:nvSpPr>
        <p:spPr>
          <a:xfrm>
            <a:off x="10341173" y="9296736"/>
            <a:ext cx="2394793" cy="39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9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26,7%</a:t>
            </a:r>
          </a:p>
        </p:txBody>
      </p:sp>
      <p:sp>
        <p:nvSpPr>
          <p:cNvPr id="205" name="Pond val"/>
          <p:cNvSpPr txBox="1"/>
          <p:nvPr/>
        </p:nvSpPr>
        <p:spPr>
          <a:xfrm>
            <a:off x="12735967" y="9296736"/>
            <a:ext cx="2394793" cy="39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9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22,4%</a:t>
            </a:r>
          </a:p>
        </p:txBody>
      </p:sp>
      <p:sp>
        <p:nvSpPr>
          <p:cNvPr id="206" name="Pond val"/>
          <p:cNvSpPr txBox="1"/>
          <p:nvPr/>
        </p:nvSpPr>
        <p:spPr>
          <a:xfrm>
            <a:off x="15130760" y="9296736"/>
            <a:ext cx="2394793" cy="39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9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26,5%¹</a:t>
            </a:r>
          </a:p>
        </p:txBody>
      </p:sp>
      <p:pic>
        <p:nvPicPr>
          <p:cNvPr id="5068" name="Logo PremieRpet" descr="Logo PremieRp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069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70" name="Logo DOC Consulting" descr="Logo DOC Consul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071" name="Número da página"/>
          <p:cNvSpPr txBox="1"/>
          <p:nvPr/>
        </p:nvSpPr>
        <p:spPr>
          <a:xfrm>
            <a:off x="16340328" y="986313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125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58952" y="457200"/>
            <a:ext cx="1682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25" b="1" i="0">
                <a:solidFill>
                  <a:srgbClr val="9CA3AF"/>
                </a:solidFill>
                <a:latin typeface="Arial"/>
              </a:rPr>
              <a:t>CAMADA 2 · INCENTIVO AO CLIENTE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49808"/>
            <a:ext cx="13368528" cy="5394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3600" b="1" i="0" spc="-54" kern="0">
                <a:solidFill>
                  <a:srgbClr val="14171F"/>
                </a:solidFill>
                <a:latin typeface="Arial"/>
              </a:rPr>
              <a:t>A mecânica segue a intenção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316736"/>
            <a:ext cx="172821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650" b="0" i="1">
                <a:solidFill>
                  <a:srgbClr val="888D97"/>
                </a:solidFill>
                <a:latin typeface="Arial"/>
              </a:rPr>
              <a:t>Proporcional onde se quer esforço contínuo; binário onde se quer uma virada de comportamento clara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2057400"/>
            <a:ext cx="30175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1" i="0">
                <a:solidFill>
                  <a:srgbClr val="5B6472"/>
                </a:solidFill>
                <a:latin typeface="Arial"/>
              </a:rPr>
              <a:t>Item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776472" y="2057400"/>
            <a:ext cx="58521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1" i="0">
                <a:solidFill>
                  <a:srgbClr val="5B6472"/>
                </a:solidFill>
                <a:latin typeface="Arial"/>
              </a:rPr>
              <a:t>Mecânica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9628632" y="2057400"/>
            <a:ext cx="38404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1" i="0">
                <a:solidFill>
                  <a:srgbClr val="5B6472"/>
                </a:solidFill>
                <a:latin typeface="Arial"/>
              </a:rPr>
              <a:t>Base do prêmio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469112" y="2057400"/>
            <a:ext cx="1920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1" i="0">
                <a:solidFill>
                  <a:srgbClr val="5B6472"/>
                </a:solidFill>
                <a:latin typeface="Arial"/>
              </a:rPr>
              <a:t>Cadência</a:t>
            </a:r>
          </a:p>
        </p:txBody>
      </p:sp>
      <p:sp>
        <p:nvSpPr>
          <p:cNvPr id="5077" name="Linha cabeçalho"/>
          <p:cNvSpPr/>
          <p:nvPr/>
        </p:nvSpPr>
        <p:spPr>
          <a:xfrm>
            <a:off x="758952" y="2505456"/>
            <a:ext cx="14630400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758952" y="2514600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1" i="0">
                <a:solidFill>
                  <a:srgbClr val="14171F"/>
                </a:solidFill>
                <a:latin typeface="Arial"/>
              </a:rPr>
              <a:t>Sell-in Volume · 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76472" y="2514600"/>
            <a:ext cx="5852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lang="pt-BR" sz="1400" b="0" i="0" dirty="0">
                <a:solidFill>
                  <a:srgbClr val="14171F"/>
                </a:solidFill>
                <a:latin typeface="Arial"/>
              </a:rPr>
              <a:t>Por atingimento da meta a </a:t>
            </a:r>
            <a:r>
              <a:rPr lang="pt-BR" sz="1400" b="0" i="0" dirty="0" err="1">
                <a:solidFill>
                  <a:srgbClr val="14171F"/>
                </a:solidFill>
                <a:latin typeface="Arial"/>
              </a:rPr>
              <a:t>partier</a:t>
            </a:r>
            <a:r>
              <a:rPr lang="pt-BR" sz="1400" b="0" i="0" dirty="0">
                <a:solidFill>
                  <a:srgbClr val="14171F"/>
                </a:solidFill>
                <a:latin typeface="Arial"/>
              </a:rPr>
              <a:t> de </a:t>
            </a:r>
            <a:r>
              <a:rPr sz="1400" b="0" i="0" dirty="0">
                <a:solidFill>
                  <a:srgbClr val="14171F"/>
                </a:solidFill>
                <a:latin typeface="Arial"/>
              </a:rPr>
              <a:t>gate 80% → linear → </a:t>
            </a:r>
            <a:r>
              <a:rPr sz="1400" b="0" i="0" dirty="0" err="1">
                <a:solidFill>
                  <a:srgbClr val="14171F"/>
                </a:solidFill>
                <a:latin typeface="Arial"/>
              </a:rPr>
              <a:t>teto</a:t>
            </a:r>
            <a:r>
              <a:rPr lang="pt-BR" sz="1400" b="0" i="0" dirty="0">
                <a:solidFill>
                  <a:srgbClr val="14171F"/>
                </a:solidFill>
                <a:latin typeface="Arial"/>
              </a:rPr>
              <a:t> 100%</a:t>
            </a:r>
            <a:endParaRPr sz="1400" b="0" i="0" dirty="0">
              <a:solidFill>
                <a:srgbClr val="14171F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628632" y="2514600"/>
            <a:ext cx="3840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lang="pt-BR" sz="1400" b="0" i="0" dirty="0">
                <a:solidFill>
                  <a:srgbClr val="14171F"/>
                </a:solidFill>
                <a:latin typeface="Arial"/>
              </a:rPr>
              <a:t>Meta </a:t>
            </a:r>
            <a:r>
              <a:rPr lang="pt-BR" sz="1400" b="0" i="0" dirty="0" err="1">
                <a:solidFill>
                  <a:srgbClr val="14171F"/>
                </a:solidFill>
                <a:latin typeface="Arial"/>
              </a:rPr>
              <a:t>sde</a:t>
            </a:r>
            <a:r>
              <a:rPr lang="pt-BR" sz="1400" b="0" i="0" dirty="0">
                <a:solidFill>
                  <a:srgbClr val="14171F"/>
                </a:solidFill>
                <a:latin typeface="Arial"/>
              </a:rPr>
              <a:t> </a:t>
            </a:r>
            <a:r>
              <a:rPr lang="pt-BR" sz="1400" dirty="0">
                <a:solidFill>
                  <a:srgbClr val="14171F"/>
                </a:solidFill>
                <a:latin typeface="Arial"/>
              </a:rPr>
              <a:t>v</a:t>
            </a:r>
            <a:r>
              <a:rPr sz="1400" b="0" i="0" dirty="0" err="1">
                <a:solidFill>
                  <a:srgbClr val="14171F"/>
                </a:solidFill>
                <a:latin typeface="Arial"/>
              </a:rPr>
              <a:t>olume</a:t>
            </a:r>
            <a:r>
              <a:rPr lang="pt-BR" sz="1400" b="0" i="0" dirty="0">
                <a:solidFill>
                  <a:srgbClr val="14171F"/>
                </a:solidFill>
                <a:latin typeface="Arial"/>
              </a:rPr>
              <a:t> total</a:t>
            </a:r>
            <a:endParaRPr sz="1400" b="0" i="0" dirty="0">
              <a:solidFill>
                <a:srgbClr val="14171F"/>
              </a:solidFill>
              <a:latin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469112" y="2514600"/>
            <a:ext cx="1920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0" i="0">
                <a:solidFill>
                  <a:srgbClr val="14171F"/>
                </a:solidFill>
                <a:latin typeface="Arial"/>
              </a:rPr>
              <a:t>Mensal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3081528"/>
            <a:ext cx="301752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1" i="0">
                <a:solidFill>
                  <a:srgbClr val="14171F"/>
                </a:solidFill>
                <a:latin typeface="Arial"/>
              </a:rPr>
              <a:t>Sell-in Mix · 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76472" y="3081528"/>
            <a:ext cx="585216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0" i="0" dirty="0" err="1">
                <a:solidFill>
                  <a:srgbClr val="14171F"/>
                </a:solidFill>
                <a:latin typeface="Arial"/>
              </a:rPr>
              <a:t>Binário</a:t>
            </a:r>
            <a:r>
              <a:rPr lang="pt-BR" sz="1400" dirty="0">
                <a:solidFill>
                  <a:srgbClr val="14171F"/>
                </a:solidFill>
                <a:latin typeface="Arial"/>
              </a:rPr>
              <a:t>. Atingiu 100% da meta leva</a:t>
            </a:r>
            <a:endParaRPr sz="1400" b="0" i="0" dirty="0">
              <a:solidFill>
                <a:srgbClr val="14171F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628632" y="3081528"/>
            <a:ext cx="384048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0" i="0">
                <a:solidFill>
                  <a:srgbClr val="14171F"/>
                </a:solidFill>
                <a:latin typeface="Arial"/>
              </a:rPr>
              <a:t>Faturamento total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469112" y="3081528"/>
            <a:ext cx="192024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0" i="0" dirty="0">
                <a:solidFill>
                  <a:srgbClr val="14171F"/>
                </a:solidFill>
                <a:latin typeface="Arial"/>
              </a:rPr>
              <a:t>Mensal</a:t>
            </a:r>
            <a:r>
              <a:rPr lang="pt-BR" sz="1400" dirty="0">
                <a:solidFill>
                  <a:srgbClr val="14171F"/>
                </a:solidFill>
                <a:latin typeface="Arial"/>
              </a:rPr>
              <a:t>/Trimestral*</a:t>
            </a:r>
            <a:endParaRPr sz="1400" b="0" i="0" dirty="0">
              <a:solidFill>
                <a:srgbClr val="14171F"/>
              </a:solidFill>
              <a:latin typeface="Aria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58952" y="3648456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1" i="0">
                <a:solidFill>
                  <a:srgbClr val="14171F"/>
                </a:solidFill>
                <a:latin typeface="Arial"/>
              </a:rPr>
              <a:t>JBP · 4/2/0%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76472" y="3648456"/>
            <a:ext cx="5852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0" i="0">
                <a:solidFill>
                  <a:srgbClr val="14171F"/>
                </a:solidFill>
                <a:latin typeface="Arial"/>
              </a:rPr>
              <a:t>Binário por entregável (checklist)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28632" y="3648456"/>
            <a:ext cx="3840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0" i="0">
                <a:solidFill>
                  <a:srgbClr val="14171F"/>
                </a:solidFill>
                <a:latin typeface="Arial"/>
              </a:rPr>
              <a:t>Conforme contrapartida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469112" y="3648456"/>
            <a:ext cx="1920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0" i="0">
                <a:solidFill>
                  <a:srgbClr val="14171F"/>
                </a:solidFill>
                <a:latin typeface="Arial"/>
              </a:rPr>
              <a:t>Trimestral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4215384"/>
            <a:ext cx="301752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1" i="0">
                <a:solidFill>
                  <a:srgbClr val="14171F"/>
                </a:solidFill>
                <a:latin typeface="Arial"/>
              </a:rPr>
              <a:t>PPP (VI) · 2%+1%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76472" y="4215384"/>
            <a:ext cx="585216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0" i="0">
                <a:solidFill>
                  <a:srgbClr val="14171F"/>
                </a:solidFill>
                <a:latin typeface="Arial"/>
              </a:rPr>
              <a:t>Não binário · gate → linear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28632" y="4215384"/>
            <a:ext cx="384048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0" i="0">
                <a:solidFill>
                  <a:srgbClr val="14171F"/>
                </a:solidFill>
                <a:latin typeface="Arial"/>
              </a:rPr>
              <a:t>Sell-through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469112" y="4215384"/>
            <a:ext cx="192024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00" b="0" i="0">
                <a:solidFill>
                  <a:srgbClr val="14171F"/>
                </a:solidFill>
                <a:latin typeface="Arial"/>
              </a:rPr>
              <a:t>Mensal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" y="5010912"/>
            <a:ext cx="14630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00" b="1" i="0">
                <a:solidFill>
                  <a:srgbClr val="888D97"/>
                </a:solidFill>
                <a:latin typeface="Arial"/>
              </a:rPr>
              <a:t>RÉGUA DE APURAÇÃO (itens não binários)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" y="5330952"/>
            <a:ext cx="4846320" cy="685800"/>
          </a:xfrm>
          <a:prstGeom prst="rect">
            <a:avLst/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 i="0">
                <a:solidFill>
                  <a:srgbClr val="14171F"/>
                </a:solidFill>
                <a:latin typeface="Arial"/>
              </a:rPr>
              <a:t>&lt; gate (80%)</a:t>
            </a:r>
          </a:p>
          <a:p>
            <a:pPr algn="ctr"/>
            <a:r>
              <a:rPr sz="1400" b="1" i="0">
                <a:solidFill>
                  <a:srgbClr val="14171F"/>
                </a:solidFill>
                <a:latin typeface="Arial"/>
              </a:rPr>
              <a:t>paga 0 — não remunera ruído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50992" y="5330952"/>
            <a:ext cx="4846320" cy="685800"/>
          </a:xfrm>
          <a:prstGeom prst="rect">
            <a:avLst/>
          </a:prstGeom>
          <a:solidFill>
            <a:srgbClr val="C3D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 i="0">
                <a:solidFill>
                  <a:srgbClr val="14171F"/>
                </a:solidFill>
                <a:latin typeface="Arial"/>
              </a:rPr>
              <a:t>gate → 100%</a:t>
            </a:r>
          </a:p>
          <a:p>
            <a:pPr algn="ctr"/>
            <a:r>
              <a:rPr sz="1400" b="1" i="0">
                <a:solidFill>
                  <a:srgbClr val="14171F"/>
                </a:solidFill>
                <a:latin typeface="Arial"/>
              </a:rPr>
              <a:t>proporcional ao atingimento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43032" y="5330952"/>
            <a:ext cx="4846320" cy="6858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≥ 100%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trava no teto do item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" y="9710928"/>
            <a:ext cx="1544421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25" b="0" i="0">
                <a:solidFill>
                  <a:srgbClr val="888D97"/>
                </a:solidFill>
                <a:latin typeface="Arial"/>
              </a:rPr>
              <a:t>Política Comercial VD. Régua e cadência sujeitas à validação da governança de TI (apuração mensal). Opções A/B são decisão da Premier.</a:t>
            </a:r>
          </a:p>
        </p:txBody>
      </p:sp>
      <p:sp>
        <p:nvSpPr>
          <p:cNvPr id="39" name="Rectangle 17">
            <a:extLst>
              <a:ext uri="{FF2B5EF4-FFF2-40B4-BE49-F238E27FC236}">
                <a16:creationId xmlns:a16="http://schemas.microsoft.com/office/drawing/2014/main" id="{83FB9698-C679-6DB7-9AA1-CD02D19EDE20}"/>
              </a:ext>
            </a:extLst>
          </p:cNvPr>
          <p:cNvSpPr/>
          <p:nvPr/>
        </p:nvSpPr>
        <p:spPr>
          <a:xfrm>
            <a:off x="758951" y="6414529"/>
            <a:ext cx="6188779" cy="214871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lang="pt-BR" sz="1200" i="1" dirty="0">
                <a:solidFill>
                  <a:srgbClr val="14171F"/>
                </a:solidFill>
                <a:latin typeface="Arial"/>
              </a:rPr>
              <a:t>Trimestral* checando opções na frente de governança (TI/</a:t>
            </a:r>
            <a:r>
              <a:rPr lang="pt-BR" sz="1200" i="1" dirty="0" err="1">
                <a:solidFill>
                  <a:srgbClr val="14171F"/>
                </a:solidFill>
                <a:latin typeface="Arial"/>
              </a:rPr>
              <a:t>Inte</a:t>
            </a:r>
            <a:r>
              <a:rPr lang="pt-BR" sz="1200" i="1" dirty="0">
                <a:solidFill>
                  <a:srgbClr val="14171F"/>
                </a:solidFill>
                <a:latin typeface="Arial"/>
              </a:rPr>
              <a:t> </a:t>
            </a:r>
            <a:r>
              <a:rPr lang="pt-BR" sz="1200" i="1" dirty="0" err="1">
                <a:solidFill>
                  <a:srgbClr val="14171F"/>
                </a:solidFill>
                <a:latin typeface="Arial"/>
              </a:rPr>
              <a:t>Mercadol</a:t>
            </a:r>
            <a:r>
              <a:rPr lang="pt-BR" sz="1200" i="1" dirty="0">
                <a:solidFill>
                  <a:srgbClr val="14171F"/>
                </a:solidFill>
                <a:latin typeface="Arial"/>
              </a:rPr>
              <a:t>) </a:t>
            </a:r>
            <a:endParaRPr sz="1200" b="0" i="1" dirty="0">
              <a:solidFill>
                <a:srgbClr val="14171F"/>
              </a:solidFill>
              <a:latin typeface="Arial"/>
            </a:endParaRPr>
          </a:p>
        </p:txBody>
      </p:sp>
      <p:pic>
        <p:nvPicPr>
          <p:cNvPr id="5073" name="Logo PremieRpet" descr="Logo PremieRp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074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75" name="Logo DOC Consulting" descr="Logo DOC Consul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076" name="Número da página"/>
          <p:cNvSpPr txBox="1"/>
          <p:nvPr/>
        </p:nvSpPr>
        <p:spPr>
          <a:xfrm>
            <a:off x="16340328" y="971092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125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58952" y="457200"/>
            <a:ext cx="1682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25" b="1" i="0">
                <a:solidFill>
                  <a:srgbClr val="9CA3AF"/>
                </a:solidFill>
                <a:latin typeface="Arial"/>
              </a:rPr>
              <a:t xml:space="preserve">CAMADA 2 · INCENTIVO AO CLIENTE · APURAÇÃO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49808"/>
            <a:ext cx="13368528" cy="5394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3600" b="1" i="0" spc="-54" kern="0">
                <a:solidFill>
                  <a:srgbClr val="14171F"/>
                </a:solidFill>
                <a:latin typeface="Arial"/>
              </a:rPr>
              <a:t>Binário vira penhasco; não binário vira rampa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316736"/>
            <a:ext cx="172821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650" b="0" i="1">
                <a:solidFill>
                  <a:srgbClr val="888D97"/>
                </a:solidFill>
                <a:latin typeface="Arial"/>
              </a:rPr>
              <a:t>Margem BRUTA em cascata, promo 30%. Quanto o canal se distancia do teto quando não aproveita 100% do condicional (Super GG)</a:t>
            </a:r>
          </a:p>
        </p:txBody>
      </p:sp>
      <p:sp>
        <p:nvSpPr>
          <p:cNvPr id="5083" name="Card gráfico"/>
          <p:cNvSpPr/>
          <p:nvPr/>
        </p:nvSpPr>
        <p:spPr>
          <a:xfrm>
            <a:off x="758952" y="2148840"/>
            <a:ext cx="9692640" cy="5576587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7" name="Picture 6" descr="c_ram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29" y="2313432"/>
            <a:ext cx="9120487" cy="52474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789920" y="2194560"/>
            <a:ext cx="6766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300" b="1" i="0">
                <a:solidFill>
                  <a:srgbClr val="14171F"/>
                </a:solidFill>
                <a:latin typeface="Arial"/>
              </a:rPr>
              <a:t>CENÁRIOS DE APROVEITAMENTO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0" y="2606040"/>
            <a:ext cx="33832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1" i="0">
                <a:solidFill>
                  <a:srgbClr val="5B6472"/>
                </a:solidFill>
                <a:latin typeface="Arial"/>
              </a:rPr>
              <a:t>Aproveitamento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0" y="2606040"/>
            <a:ext cx="33832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1" i="0">
                <a:solidFill>
                  <a:srgbClr val="5B6472"/>
                </a:solidFill>
                <a:latin typeface="Arial"/>
              </a:rPr>
              <a:t>Índice vs. teto</a:t>
            </a:r>
          </a:p>
        </p:txBody>
      </p:sp>
      <p:sp>
        <p:nvSpPr>
          <p:cNvPr id="5082" name="Linha cabeçalho"/>
          <p:cNvSpPr/>
          <p:nvPr/>
        </p:nvSpPr>
        <p:spPr>
          <a:xfrm>
            <a:off x="10789920" y="3008376"/>
            <a:ext cx="6766560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10789920" y="3017520"/>
            <a:ext cx="3383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0" i="0">
                <a:solidFill>
                  <a:srgbClr val="14171F"/>
                </a:solidFill>
                <a:latin typeface="Arial"/>
              </a:rPr>
              <a:t>100% (teto)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0" y="3017520"/>
            <a:ext cx="3383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 i="0">
                <a:solidFill>
                  <a:srgbClr val="14171F"/>
                </a:solidFill>
                <a:latin typeface="Arial"/>
              </a:rPr>
              <a:t>93%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3474720"/>
            <a:ext cx="3383280" cy="4572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0" i="0">
                <a:solidFill>
                  <a:srgbClr val="14171F"/>
                </a:solidFill>
                <a:latin typeface="Arial"/>
              </a:rPr>
              <a:t>95%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0" y="3474720"/>
            <a:ext cx="3383280" cy="4572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 i="0">
                <a:solidFill>
                  <a:srgbClr val="14171F"/>
                </a:solidFill>
                <a:latin typeface="Arial"/>
              </a:rPr>
              <a:t>89%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0" y="3931920"/>
            <a:ext cx="3383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0" i="0">
                <a:solidFill>
                  <a:srgbClr val="14171F"/>
                </a:solidFill>
                <a:latin typeface="Arial"/>
              </a:rPr>
              <a:t>90%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0" y="3931920"/>
            <a:ext cx="33832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 i="0">
                <a:solidFill>
                  <a:srgbClr val="14171F"/>
                </a:solidFill>
                <a:latin typeface="Arial"/>
              </a:rPr>
              <a:t>85%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89920" y="4389120"/>
            <a:ext cx="3383280" cy="4572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0" i="0">
                <a:solidFill>
                  <a:srgbClr val="14171F"/>
                </a:solidFill>
                <a:latin typeface="Arial"/>
              </a:rPr>
              <a:t>≤80% (gate)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0" y="4389120"/>
            <a:ext cx="3383280" cy="4572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 i="0">
                <a:solidFill>
                  <a:srgbClr val="14171F"/>
                </a:solidFill>
                <a:latin typeface="Arial"/>
              </a:rPr>
              <a:t>78%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20" y="4983480"/>
            <a:ext cx="6766560" cy="868680"/>
          </a:xfrm>
          <a:prstGeom prst="roundRect">
            <a:avLst>
              <a:gd name="adj" fmla="val 12631"/>
            </a:avLst>
          </a:prstGeom>
          <a:solidFill>
            <a:srgbClr val="FFF4EC"/>
          </a:solidFill>
          <a:ln w="12700">
            <a:solidFill>
              <a:srgbClr val="FF6E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t"/>
          <a:lstStyle/>
          <a:p>
            <a:pPr algn="l"/>
            <a:r>
              <a:rPr sz="1230" b="0" i="0">
                <a:solidFill>
                  <a:srgbClr val="14171F"/>
                </a:solidFill>
                <a:latin typeface="Arial"/>
              </a:rPr>
              <a:t>No não binário (margem bruta), cada 5 p.p. acima do gate valem ~3,8 p.p. de índice. No binário, quem fica a 95% da meta despenca para o piso (78%).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9920" y="5989320"/>
            <a:ext cx="6766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300" b="1" i="0">
                <a:solidFill>
                  <a:srgbClr val="14171F"/>
                </a:solidFill>
                <a:latin typeface="Arial"/>
              </a:rPr>
              <a:t>CADÊNCIA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0" y="6309360"/>
            <a:ext cx="6766560" cy="123444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t"/>
          <a:lstStyle/>
          <a:p>
            <a:pPr algn="l"/>
            <a:r>
              <a:rPr sz="1230" b="0" i="0">
                <a:solidFill>
                  <a:srgbClr val="14171F"/>
                </a:solidFill>
                <a:latin typeface="Arial"/>
              </a:rPr>
              <a:t>Recomendação: apuração MENSAL e não binária — evita o efeito serrote de carregar volume no último mês do trimestre.</a:t>
            </a:r>
          </a:p>
          <a:p>
            <a:pPr algn="l"/>
            <a:endParaRPr sz="1230" b="0" i="0">
              <a:solidFill>
                <a:srgbClr val="14171F"/>
              </a:solidFill>
              <a:latin typeface="Arial"/>
            </a:endParaRPr>
          </a:p>
          <a:p>
            <a:pPr algn="l"/>
            <a:r>
              <a:rPr sz="1230" b="0" i="0">
                <a:solidFill>
                  <a:srgbClr val="14171F"/>
                </a:solidFill>
                <a:latin typeface="Arial"/>
              </a:rPr>
              <a:t>Alternativa se a TI não suportar pagar mensal: medir e provisionar mensal, liquidar trimestral (mata o serrote sem 12 ciclos de pagamento).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9710928"/>
            <a:ext cx="1544421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25" b="0" i="0">
                <a:solidFill>
                  <a:srgbClr val="888D97"/>
                </a:solidFill>
                <a:latin typeface="Arial"/>
              </a:rPr>
              <a:t>Ilustrativo (Super GG). MB de tabela ponderada 28,1% (SKU × UF, sell-in jan–mai/26); teto 38,0%. Base e teto a validar no VER005. Cadência mensal sujeita à governança de TI.</a:t>
            </a:r>
          </a:p>
        </p:txBody>
      </p:sp>
      <p:pic>
        <p:nvPicPr>
          <p:cNvPr id="5078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079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80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081" name="Número da página"/>
          <p:cNvSpPr txBox="1"/>
          <p:nvPr/>
        </p:nvSpPr>
        <p:spPr>
          <a:xfrm>
            <a:off x="16340328" y="971092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125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58952" y="457200"/>
            <a:ext cx="1682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25" b="1" i="0">
                <a:solidFill>
                  <a:srgbClr val="9CA3AF"/>
                </a:solidFill>
                <a:latin typeface="Arial"/>
              </a:rPr>
              <a:t xml:space="preserve">CAMADA 3 · INCENTIVO AO SHOPPER · REPASSE DO RTP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49808"/>
            <a:ext cx="13368528" cy="5394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2850" b="1" i="0" spc="-42" kern="0">
                <a:solidFill>
                  <a:srgbClr val="14171F"/>
                </a:solidFill>
                <a:latin typeface="Arial"/>
              </a:rPr>
              <a:t>Repassar o RTP custa 2,2 p.p. ao cliente; não aproveitar a política custa 6,4 p.p.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316736"/>
            <a:ext cx="172821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650" b="0" i="1">
                <a:solidFill>
                  <a:srgbClr val="888D97"/>
                </a:solidFill>
                <a:latin typeface="Arial"/>
              </a:rPr>
              <a:t>Super GG / GG · margem bruta resultante e distância ao teto de 38,0%, com repasse do RTP ao shopper de 0% a 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9710928"/>
            <a:ext cx="1544421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25" b="0" i="0">
                <a:solidFill>
                  <a:srgbClr val="888D97"/>
                </a:solidFill>
                <a:latin typeface="Arial"/>
              </a:rPr>
              <a:t>Ilustrativo (Super GG / GG). MB bruta de tabela ponderada 28,1% (SKU × UF, sell-in jan–mai/26); RTP 3,0%; teto recomendado 38,0% (MB bruta). Índice vs. teto = MB bruta resultante ÷ teto.</a:t>
            </a:r>
          </a:p>
        </p:txBody>
      </p:sp>
      <p:sp>
        <p:nvSpPr>
          <p:cNvPr id="5088" name="Card gráfico"/>
          <p:cNvSpPr/>
          <p:nvPr/>
        </p:nvSpPr>
        <p:spPr>
          <a:xfrm>
            <a:off x="758952" y="2150000"/>
            <a:ext cx="9500000" cy="7000000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24" name="Gráfico margem vs repasse RTP"/>
          <p:cNvGraphicFramePr>
            <a:graphicFrameLocks noGrp="1"/>
          </p:cNvGraphicFramePr>
          <p:nvPr/>
        </p:nvGraphicFramePr>
        <p:xfrm>
          <a:off x="896112" y="2287160"/>
          <a:ext cx="9225680" cy="6725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ítulo tabela"/>
          <p:cNvSpPr txBox="1"/>
          <p:nvPr/>
        </p:nvSpPr>
        <p:spPr>
          <a:xfrm>
            <a:off x="10450000" y="2194560"/>
            <a:ext cx="7076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spc="100">
                <a:solidFill>
                  <a:srgbClr val="14171F"/>
                </a:solidFill>
                <a:latin typeface="Arial"/>
              </a:rPr>
              <a:t>CENÁRIOS-CHAVE · MARGEM BRUTA E ÍNDICE VS. TETO</a:t>
            </a:r>
          </a:p>
        </p:txBody>
      </p:sp>
      <p:graphicFrame>
        <p:nvGraphicFramePr>
          <p:cNvPr id="26" name="Tabela cenários-chave"/>
          <p:cNvGraphicFramePr>
            <a:graphicFrameLocks noGrp="1"/>
          </p:cNvGraphicFramePr>
          <p:nvPr/>
        </p:nvGraphicFramePr>
        <p:xfrm>
          <a:off x="10450000" y="2600000"/>
          <a:ext cx="7076000" cy="312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B6472"/>
                          </a:solidFill>
                          <a:latin typeface="Arial"/>
                        </a:rPr>
                        <a:t>Aproveitamento</a:t>
                      </a:r>
                    </a:p>
                  </a:txBody>
                  <a:tcPr marL="80000" marR="80000" marT="40000" marB="4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B6472"/>
                          </a:solidFill>
                          <a:latin typeface="Arial"/>
                        </a:rPr>
                        <a:t>RTP toda retida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5B6472"/>
                          </a:solidFill>
                          <a:latin typeface="Arial"/>
                        </a:rPr>
                        <a:t>(0% repassado)</a:t>
                      </a:r>
                    </a:p>
                  </a:txBody>
                  <a:tcPr marL="80000" marR="80000" marT="40000" marB="4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Esperado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</a:rPr>
                        <a:t>(30% repassado)</a:t>
                      </a:r>
                    </a:p>
                  </a:txBody>
                  <a:tcPr marL="80000" marR="80000" marT="40000" marB="40000" anchor="ctr">
                    <a:solidFill>
                      <a:srgbClr val="E07B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B6472"/>
                          </a:solidFill>
                          <a:latin typeface="Arial"/>
                        </a:rPr>
                        <a:t>RTP toda ao shopper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5B6472"/>
                          </a:solidFill>
                          <a:latin typeface="Arial"/>
                        </a:rPr>
                        <a:t>(100% repassado)</a:t>
                      </a:r>
                    </a:p>
                  </a:txBody>
                  <a:tcPr marL="80000" marR="80000" marT="40000" marB="4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14171F"/>
                          </a:solidFill>
                          <a:latin typeface="Arial"/>
                        </a:rPr>
                        <a:t>100%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5B6472"/>
                          </a:solidFill>
                          <a:latin typeface="Arial"/>
                        </a:rPr>
                        <a:t>condicional 9,0%</a:t>
                      </a:r>
                    </a:p>
                  </a:txBody>
                  <a:tcPr marL="80000" marR="80000" marT="40000" marB="40000" anchor="ctr">
                    <a:lnB w="9525">
                      <a:solidFill>
                        <a:srgbClr val="D1D5DB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4171F"/>
                          </a:solidFill>
                          <a:latin typeface="Arial"/>
                        </a:rPr>
                        <a:t>36,7%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5B6472"/>
                          </a:solidFill>
                          <a:latin typeface="Arial"/>
                        </a:rPr>
                        <a:t>96,6% do teto</a:t>
                      </a:r>
                    </a:p>
                  </a:txBody>
                  <a:tcPr marL="80000" marR="80000" marT="40000" marB="40000" anchor="ctr"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4171F"/>
                          </a:solidFill>
                          <a:latin typeface="Arial"/>
                        </a:rPr>
                        <a:t>36,0%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5B6472"/>
                          </a:solidFill>
                          <a:latin typeface="Arial"/>
                        </a:rPr>
                        <a:t>94,9% do teto</a:t>
                      </a:r>
                    </a:p>
                  </a:txBody>
                  <a:tcPr marL="80000" marR="80000" marT="40000" marB="40000" anchor="ctr">
                    <a:lnB w="9525">
                      <a:solidFill>
                        <a:srgbClr val="D1D5DB"/>
                      </a:solidFill>
                    </a:lnB>
                    <a:solidFill>
                      <a:srgbClr val="FFF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4171F"/>
                          </a:solidFill>
                          <a:latin typeface="Arial"/>
                        </a:rPr>
                        <a:t>34,5%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5B6472"/>
                          </a:solidFill>
                          <a:latin typeface="Arial"/>
                        </a:rPr>
                        <a:t>90,9% do teto</a:t>
                      </a:r>
                    </a:p>
                  </a:txBody>
                  <a:tcPr marL="80000" marR="80000" marT="40000" marB="40000" anchor="ctr"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14171F"/>
                          </a:solidFill>
                          <a:latin typeface="Arial"/>
                        </a:rPr>
                        <a:t>80%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5B6472"/>
                          </a:solidFill>
                          <a:latin typeface="Arial"/>
                        </a:rPr>
                        <a:t>condicional 7,2%</a:t>
                      </a:r>
                    </a:p>
                  </a:txBody>
                  <a:tcPr marL="80000" marR="80000" marT="40000" marB="40000" anchor="ctr"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4171F"/>
                          </a:solidFill>
                          <a:latin typeface="Arial"/>
                        </a:rPr>
                        <a:t>35,4%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5B6472"/>
                          </a:solidFill>
                          <a:latin typeface="Arial"/>
                        </a:rPr>
                        <a:t>93,2% do teto</a:t>
                      </a:r>
                    </a:p>
                  </a:txBody>
                  <a:tcPr marL="80000" marR="80000" marT="40000" marB="40000" anchor="ctr"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4171F"/>
                          </a:solidFill>
                          <a:latin typeface="Arial"/>
                        </a:rPr>
                        <a:t>34,8%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5B6472"/>
                          </a:solidFill>
                          <a:latin typeface="Arial"/>
                        </a:rPr>
                        <a:t>91,5% do teto</a:t>
                      </a:r>
                    </a:p>
                  </a:txBody>
                  <a:tcPr marL="80000" marR="80000" marT="40000" marB="40000" anchor="ctr"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4171F"/>
                          </a:solidFill>
                          <a:latin typeface="Arial"/>
                        </a:rPr>
                        <a:t>33,2%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5B6472"/>
                          </a:solidFill>
                          <a:latin typeface="Arial"/>
                        </a:rPr>
                        <a:t>87,5% do teto</a:t>
                      </a:r>
                    </a:p>
                  </a:txBody>
                  <a:tcPr marL="80000" marR="80000" marT="40000" marB="40000" anchor="ctr"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14171F"/>
                          </a:solidFill>
                          <a:latin typeface="Arial"/>
                        </a:rPr>
                        <a:t>0%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5B6472"/>
                          </a:solidFill>
                          <a:latin typeface="Arial"/>
                        </a:rPr>
                        <a:t>condicional 0,0%</a:t>
                      </a:r>
                    </a:p>
                  </a:txBody>
                  <a:tcPr marL="80000" marR="80000" marT="40000" marB="40000" anchor="ctr"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4171F"/>
                          </a:solidFill>
                          <a:latin typeface="Arial"/>
                        </a:rPr>
                        <a:t>30,2%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5B6472"/>
                          </a:solidFill>
                          <a:latin typeface="Arial"/>
                        </a:rPr>
                        <a:t>79,5% do teto</a:t>
                      </a:r>
                    </a:p>
                  </a:txBody>
                  <a:tcPr marL="80000" marR="80000" marT="40000" marB="40000" anchor="ctr"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4171F"/>
                          </a:solidFill>
                          <a:latin typeface="Arial"/>
                        </a:rPr>
                        <a:t>29,6%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5B6472"/>
                          </a:solidFill>
                          <a:latin typeface="Arial"/>
                        </a:rPr>
                        <a:t>77,8% do teto</a:t>
                      </a:r>
                    </a:p>
                  </a:txBody>
                  <a:tcPr marL="80000" marR="80000" marT="40000" marB="40000" anchor="ctr"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4171F"/>
                          </a:solidFill>
                          <a:latin typeface="Arial"/>
                        </a:rPr>
                        <a:t>28,1%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5B6472"/>
                          </a:solidFill>
                          <a:latin typeface="Arial"/>
                        </a:rPr>
                        <a:t>73,8% do teto</a:t>
                      </a:r>
                    </a:p>
                  </a:txBody>
                  <a:tcPr marL="80000" marR="80000" marT="40000" marB="40000" anchor="ctr"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Leitura"/>
          <p:cNvSpPr/>
          <p:nvPr/>
        </p:nvSpPr>
        <p:spPr>
          <a:xfrm>
            <a:off x="10450000" y="6050000"/>
            <a:ext cx="7076000" cy="3000000"/>
          </a:xfrm>
          <a:prstGeom prst="roundRect">
            <a:avLst>
              <a:gd name="adj" fmla="val 3657"/>
            </a:avLst>
          </a:prstGeom>
          <a:solidFill>
            <a:srgbClr val="FFF1E3"/>
          </a:solidFill>
          <a:ln w="12700">
            <a:solidFill>
              <a:srgbClr val="C98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80000" rIns="220000" bIns="120000" rtlCol="0" anchor="t"/>
          <a:lstStyle/>
          <a:p>
            <a:pPr algn="l">
              <a:spcAft>
                <a:spcPts val="600"/>
              </a:spcAft>
            </a:pPr>
            <a:r>
              <a:rPr sz="1300" b="1" spc="100">
                <a:solidFill>
                  <a:srgbClr val="9A5B00"/>
                </a:solidFill>
                <a:latin typeface="Arial"/>
              </a:rPr>
              <a:t>LEITURA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500">
                <a:solidFill>
                  <a:srgbClr val="5B6472"/>
                </a:solidFill>
                <a:latin typeface="Arial"/>
              </a:rPr>
              <a:t>Repassar todo o RTP custa 2,2 p.p. de margem (5,7 pontos de índice), em qualquer nível de aproveitamento.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500">
                <a:solidFill>
                  <a:srgbClr val="5B6472"/>
                </a:solidFill>
                <a:latin typeface="Arial"/>
              </a:rPr>
              <a:t>Aproveitar a política vale 6,4 p.p.: 100% contra 0% de aproveitamento, com o mesmo repasse.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500">
                <a:solidFill>
                  <a:srgbClr val="5B6472"/>
                </a:solidFill>
                <a:latin typeface="Arial"/>
              </a:rPr>
              <a:t>No cenário esperado, o cliente fica em 36,0%, a 94,9% do teto.</a:t>
            </a:r>
          </a:p>
          <a:p>
            <a:pPr marL="228600" indent="-228600" algn="l">
              <a:spcAft>
                <a:spcPts val="700"/>
              </a:spcAft>
              <a:buFont typeface="Arial"/>
              <a:buChar char="•"/>
            </a:pPr>
            <a:r>
              <a:rPr sz="1500">
                <a:solidFill>
                  <a:srgbClr val="5B6472"/>
                </a:solidFill>
                <a:latin typeface="Arial"/>
              </a:rPr>
              <a:t>No pior caso, margem de tabela de 28,1%, a 73,8% do teto.</a:t>
            </a:r>
          </a:p>
        </p:txBody>
      </p:sp>
      <p:pic>
        <p:nvPicPr>
          <p:cNvPr id="5084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085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86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087" name="Número da página"/>
          <p:cNvSpPr txBox="1"/>
          <p:nvPr/>
        </p:nvSpPr>
        <p:spPr>
          <a:xfrm>
            <a:off x="16340328" y="971092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125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58952" y="457200"/>
            <a:ext cx="1682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25" b="1" i="0">
                <a:solidFill>
                  <a:srgbClr val="9CA3AF"/>
                </a:solidFill>
                <a:latin typeface="Arial"/>
              </a:rPr>
              <a:t xml:space="preserve">CAMADA 2 · INCENTIVO AO CLIENTE · MIX INTELIGENTE (MARGEM PREMIER)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49808"/>
            <a:ext cx="13368528" cy="5394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3600" b="1" i="0" spc="-54" kern="0">
                <a:solidFill>
                  <a:srgbClr val="14171F"/>
                </a:solidFill>
                <a:latin typeface="Arial"/>
              </a:rPr>
              <a:t>O ponteiro da margem Premier é premiumização, não Nattu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316736"/>
            <a:ext cx="172821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650" b="0" i="1">
                <a:solidFill>
                  <a:srgbClr val="888D97"/>
                </a:solidFill>
                <a:latin typeface="Arial"/>
              </a:rPr>
              <a:t>Margem bruta Premier por categoria × peso no mix — VD, sell-in jan–jul/26 (R$ 736 M)</a:t>
            </a:r>
          </a:p>
        </p:txBody>
      </p:sp>
      <p:sp>
        <p:nvSpPr>
          <p:cNvPr id="5094" name="Card gráfico"/>
          <p:cNvSpPr/>
          <p:nvPr/>
        </p:nvSpPr>
        <p:spPr>
          <a:xfrm>
            <a:off x="758952" y="2148840"/>
            <a:ext cx="9692640" cy="571683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7" name="Picture 6" descr="c_m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10" y="2313432"/>
            <a:ext cx="9134524" cy="538765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789920" y="2194560"/>
            <a:ext cx="6766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300" b="1" i="0">
                <a:solidFill>
                  <a:srgbClr val="14171F"/>
                </a:solidFill>
                <a:latin typeface="Arial"/>
              </a:rPr>
              <a:t>DOIS LEVERS REAIS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0" y="2560320"/>
            <a:ext cx="6766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t"/>
          <a:lstStyle/>
          <a:p>
            <a:pPr algn="l"/>
            <a:r>
              <a:rPr sz="1230" b="0" i="0">
                <a:solidFill>
                  <a:srgbClr val="14171F"/>
                </a:solidFill>
                <a:latin typeface="Arial"/>
              </a:rPr>
              <a:t>1 · MARCA — Premier secos 49,7% vs Golden secos 39,4% = gap 10,3 p.p. E Golden secos é 63% do mix (o ponto grande embaixo no mapa).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0" y="3566160"/>
            <a:ext cx="6766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t"/>
          <a:lstStyle/>
          <a:p>
            <a:pPr algn="l"/>
            <a:r>
              <a:rPr sz="1230" b="0" i="0">
                <a:solidFill>
                  <a:srgbClr val="14171F"/>
                </a:solidFill>
                <a:latin typeface="Arial"/>
              </a:rPr>
              <a:t>2 · EMBALAGEM — dentro de Premier secos, pacoteira 56,9% vs sacaria 46,0% = gap 10,9 p.p. Pacoteira é só 10% do mix.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4617720"/>
            <a:ext cx="6766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250" b="1" i="0">
                <a:solidFill>
                  <a:srgbClr val="FF6E08"/>
                </a:solidFill>
                <a:latin typeface="Arial"/>
              </a:rPr>
              <a:t>CENÁRIO · GOLDEN → PREMIER SECOS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0" y="4983480"/>
            <a:ext cx="1828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50" b="1" i="0">
                <a:solidFill>
                  <a:srgbClr val="5B6472"/>
                </a:solidFill>
                <a:latin typeface="Arial"/>
              </a:rPr>
              <a:t>Shift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18720" y="4983480"/>
            <a:ext cx="24688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50" b="1" i="0">
                <a:solidFill>
                  <a:srgbClr val="5B6472"/>
                </a:solidFill>
                <a:latin typeface="Arial"/>
              </a:rPr>
              <a:t>Margem Premier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0" y="4983480"/>
            <a:ext cx="24688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150" b="1" i="0">
                <a:solidFill>
                  <a:srgbClr val="5B6472"/>
                </a:solidFill>
                <a:latin typeface="Arial"/>
              </a:rPr>
              <a:t>Lucro bruto (7m)</a:t>
            </a:r>
          </a:p>
        </p:txBody>
      </p:sp>
      <p:sp>
        <p:nvSpPr>
          <p:cNvPr id="5093" name="Linha cabeçalho"/>
          <p:cNvSpPr/>
          <p:nvPr/>
        </p:nvSpPr>
        <p:spPr>
          <a:xfrm>
            <a:off x="10789920" y="5385816"/>
            <a:ext cx="6766560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ctangle 14"/>
          <p:cNvSpPr/>
          <p:nvPr/>
        </p:nvSpPr>
        <p:spPr>
          <a:xfrm>
            <a:off x="10789920" y="539496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0" i="0">
                <a:solidFill>
                  <a:srgbClr val="14171F"/>
                </a:solidFill>
                <a:latin typeface="Arial"/>
              </a:rPr>
              <a:t>5 p.p.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618720" y="5394960"/>
            <a:ext cx="2468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1" i="0">
                <a:solidFill>
                  <a:srgbClr val="14171F"/>
                </a:solidFill>
                <a:latin typeface="Arial"/>
              </a:rPr>
              <a:t>+0,5 p.p.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0" y="5394960"/>
            <a:ext cx="2468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1" i="0">
                <a:solidFill>
                  <a:srgbClr val="2E7D32"/>
                </a:solidFill>
                <a:latin typeface="Arial"/>
              </a:rPr>
              <a:t>+R$ 3,8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0" y="5852160"/>
            <a:ext cx="1828800" cy="4572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0" i="0">
                <a:solidFill>
                  <a:srgbClr val="14171F"/>
                </a:solidFill>
                <a:latin typeface="Arial"/>
              </a:rPr>
              <a:t>10 p.p.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0" y="5852160"/>
            <a:ext cx="2468880" cy="4572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1" i="0">
                <a:solidFill>
                  <a:srgbClr val="14171F"/>
                </a:solidFill>
                <a:latin typeface="Arial"/>
              </a:rPr>
              <a:t>+1,0 p.p.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0" y="5852160"/>
            <a:ext cx="2468880" cy="4572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1" i="0">
                <a:solidFill>
                  <a:srgbClr val="2E7D32"/>
                </a:solidFill>
                <a:latin typeface="Arial"/>
              </a:rPr>
              <a:t>+R$ 7,6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0" y="630936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0" i="0">
                <a:solidFill>
                  <a:srgbClr val="14171F"/>
                </a:solidFill>
                <a:latin typeface="Arial"/>
              </a:rPr>
              <a:t>15 p.p.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618720" y="6309360"/>
            <a:ext cx="2468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1" i="0">
                <a:solidFill>
                  <a:srgbClr val="14171F"/>
                </a:solidFill>
                <a:latin typeface="Arial"/>
              </a:rPr>
              <a:t>+1,5 p.p.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87600" y="6309360"/>
            <a:ext cx="2468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00" b="1" i="0">
                <a:solidFill>
                  <a:srgbClr val="2E7D32"/>
                </a:solidFill>
                <a:latin typeface="Arial"/>
              </a:rPr>
              <a:t>+R$ 11,4 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20" y="6903720"/>
            <a:ext cx="6766560" cy="777240"/>
          </a:xfrm>
          <a:prstGeom prst="rect">
            <a:avLst/>
          </a:prstGeom>
          <a:solidFill>
            <a:srgbClr val="FFF4EC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t"/>
          <a:lstStyle/>
          <a:p>
            <a:pPr algn="l"/>
            <a:r>
              <a:rPr sz="1200" b="0" i="0">
                <a:solidFill>
                  <a:srgbClr val="14171F"/>
                </a:solidFill>
                <a:latin typeface="Arial"/>
              </a:rPr>
              <a:t>Nattu não move margem (dilutivo). Golden é marca de volume/recrutamento — enriquecer na margem, não eliminar; testar canibalização no piloto. Anualizado, 10 p.p. ≈ +R$ 13 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9710928"/>
            <a:ext cx="1544421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25" b="0" i="0">
                <a:solidFill>
                  <a:srgbClr val="888D97"/>
                </a:solidFill>
                <a:latin typeface="Arial"/>
              </a:rPr>
              <a:t>Fonte: Sell-in VD DataSul jan–jul/26 (2,27 M linhas), margem bruta Premier por linha. Blended VD 42,5%. Valores em 7 meses; anual ≈ 1,7×.</a:t>
            </a:r>
          </a:p>
        </p:txBody>
      </p:sp>
      <p:pic>
        <p:nvPicPr>
          <p:cNvPr id="5089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090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91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092" name="Número da página"/>
          <p:cNvSpPr txBox="1"/>
          <p:nvPr/>
        </p:nvSpPr>
        <p:spPr>
          <a:xfrm>
            <a:off x="16340328" y="971092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125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15</a:t>
            </a:r>
          </a:p>
        </p:txBody>
      </p:sp>
    </p:spTree>
    <p:extLst>
      <p:ext uri="{BB962C8B-B14F-4D97-AF65-F5344CB8AC3E}">
        <p14:creationId xmlns:p14="http://schemas.microsoft.com/office/powerpoint/2010/main" val="2751593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58952" y="457200"/>
            <a:ext cx="1682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25" b="1" i="0">
                <a:solidFill>
                  <a:srgbClr val="9CA3AF"/>
                </a:solidFill>
                <a:latin typeface="Arial"/>
              </a:rPr>
              <a:t xml:space="preserve">CAMADA 2 · INCENTIVO AO CLIENTE · ONDE APLICAR VOLUME E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49808"/>
            <a:ext cx="13368528" cy="5394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3300" b="1" i="0" spc="-49" kern="0">
                <a:solidFill>
                  <a:srgbClr val="14171F"/>
                </a:solidFill>
                <a:latin typeface="Arial"/>
              </a:rPr>
              <a:t>Mix 1% se paga com +5% em Secos Golden; Volume 3% não se paga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316736"/>
            <a:ext cx="172821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650" b="0" i="1">
                <a:solidFill>
                  <a:srgbClr val="888D97"/>
                </a:solidFill>
                <a:latin typeface="Arial"/>
              </a:rPr>
              <a:t>Impacto no lucro bruto da Premier (7 meses) quando uma categoria cresce 5% ou 10% e o cliente recebe o desconto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9710928"/>
            <a:ext cx="1544421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25" b="0" i="0">
                <a:solidFill>
                  <a:srgbClr val="888D97"/>
                </a:solidFill>
                <a:latin typeface="Arial"/>
              </a:rPr>
              <a:t>Fonte: aba Análise Incentivos. Desconto sobre toda a cesta após o crescimento; demais produtos constantes. Base: receita líquida VD de 7 meses R$ 736 M; MB Premier blended 42,6%.</a:t>
            </a:r>
          </a:p>
        </p:txBody>
      </p:sp>
      <p:sp>
        <p:nvSpPr>
          <p:cNvPr id="27" name="Faixa regra"/>
          <p:cNvSpPr/>
          <p:nvPr/>
        </p:nvSpPr>
        <p:spPr>
          <a:xfrm>
            <a:off x="758952" y="2000000"/>
            <a:ext cx="11100000" cy="600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gra testada"/>
          <p:cNvSpPr txBox="1"/>
          <p:nvPr/>
        </p:nvSpPr>
        <p:spPr>
          <a:xfrm>
            <a:off x="1008952" y="2000000"/>
            <a:ext cx="106500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spc="100" i="1">
                <a:solidFill>
                  <a:srgbClr val="1A56DB"/>
                </a:solidFill>
                <a:latin typeface="Arial"/>
              </a:rPr>
              <a:t>REGRA TESTADA   </a:t>
            </a:r>
            <a:r>
              <a:rPr sz="1400" b="0" i="1">
                <a:solidFill>
                  <a:srgbClr val="888D97"/>
                </a:solidFill>
                <a:latin typeface="Arial"/>
              </a:rPr>
              <a:t>a categoria cresce +5% ou +10% e o cliente ganha 3% (Volume) ou 1% (Mix) de desconto sobre toda a cesta</a:t>
            </a:r>
          </a:p>
        </p:txBody>
      </p:sp>
      <p:graphicFrame>
        <p:nvGraphicFramePr>
          <p:cNvPr id="29" name="Mapa de calor lucro bruto"/>
          <p:cNvGraphicFramePr>
            <a:graphicFrameLocks noGrp="1"/>
          </p:cNvGraphicFramePr>
          <p:nvPr/>
        </p:nvGraphicFramePr>
        <p:xfrm>
          <a:off x="758952" y="2800000"/>
          <a:ext cx="11100000" cy="555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0000">
                <a:tc rowSpan="2"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B6472"/>
                          </a:solidFill>
                          <a:latin typeface="Arial"/>
                        </a:rPr>
                        <a:t>Categoria</a:t>
                      </a:r>
                    </a:p>
                  </a:txBody>
                  <a:tcPr marL="90000" marR="90000" marT="20000" marB="20000" anchor="ctr"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B6472"/>
                          </a:solidFill>
                          <a:latin typeface="Arial"/>
                        </a:rPr>
                        <a:t>Mix atual</a:t>
                      </a:r>
                    </a:p>
                  </a:txBody>
                  <a:tcPr marL="90000" marR="90000" marT="20000" marB="20000" anchor="ctr"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B6472"/>
                          </a:solidFill>
                          <a:latin typeface="Arial"/>
                        </a:rPr>
                        <a:t>MB Premier da categoria</a:t>
                      </a:r>
                    </a:p>
                  </a:txBody>
                  <a:tcPr marL="90000" marR="90000" marT="20000" marB="20000" anchor="ctr"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B6472"/>
                          </a:solidFill>
                          <a:latin typeface="Arial"/>
                        </a:rPr>
                        <a:t>VOLUME 3%</a:t>
                      </a:r>
                    </a:p>
                  </a:txBody>
                  <a:tcPr marL="90000" marR="90000" marT="20000" marB="20000" anchor="ctr"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19050">
                      <a:solidFill>
                        <a:srgbClr val="FFFFFF"/>
                      </a:solidFill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B6472"/>
                          </a:solidFill>
                          <a:latin typeface="Arial"/>
                        </a:rPr>
                        <a:t>MIX 1%</a:t>
                      </a:r>
                    </a:p>
                  </a:txBody>
                  <a:tcPr marL="90000" marR="90000" marT="20000" marB="20000" anchor="ctr"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19050">
                      <a:solidFill>
                        <a:srgbClr val="FFFFF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19050">
                      <a:solidFill>
                        <a:srgbClr val="FFFFFF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19050">
                      <a:solidFill>
                        <a:srgbClr val="FFFFFF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190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1D5C"/>
                          </a:solidFill>
                          <a:latin typeface="Arial"/>
                        </a:rPr>
                        <a:t>+5%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7BA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1D5C"/>
                          </a:solidFill>
                          <a:latin typeface="Arial"/>
                        </a:rPr>
                        <a:t>+10%</a:t>
                      </a:r>
                    </a:p>
                  </a:txBody>
                  <a:tcPr marL="90000" marR="90000" marT="20000" marB="20000" anchor="ctr">
                    <a:lnB w="19050">
                      <a:solidFill>
                        <a:srgbClr val="FFFFFF"/>
                      </a:solidFill>
                    </a:lnB>
                    <a:solidFill>
                      <a:srgbClr val="7BA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1D5C"/>
                          </a:solidFill>
                          <a:latin typeface="Arial"/>
                        </a:rPr>
                        <a:t>+5%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7BA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1D5C"/>
                          </a:solidFill>
                          <a:latin typeface="Arial"/>
                        </a:rPr>
                        <a:t>+10%</a:t>
                      </a:r>
                    </a:p>
                  </a:txBody>
                  <a:tcPr marL="90000" marR="90000" marT="20000" marB="20000" anchor="ctr">
                    <a:lnB w="19050">
                      <a:solidFill>
                        <a:srgbClr val="FFFFFF"/>
                      </a:solidFill>
                    </a:lnB>
                    <a:solidFill>
                      <a:srgbClr val="7BA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71F"/>
                          </a:solidFill>
                          <a:latin typeface="Arial"/>
                        </a:rPr>
                        <a:t>Cookies Premier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57,5%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−22,0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89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−21,8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893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−7,2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6D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−7,1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6D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71F"/>
                          </a:solidFill>
                          <a:latin typeface="Arial"/>
                        </a:rPr>
                        <a:t>Secos Premier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30,3%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49,7%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−16,9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DA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−11,7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2BD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−1,9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BE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502A"/>
                          </a:solidFill>
                          <a:latin typeface="Arial"/>
                        </a:rPr>
                        <a:t>+3,5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B2DC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71F"/>
                          </a:solidFill>
                          <a:latin typeface="Arial"/>
                        </a:rPr>
                        <a:t>Secos Nattu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−21,6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893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−21,2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995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−6,9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6D1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−6,5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7D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71F"/>
                          </a:solidFill>
                          <a:latin typeface="Arial"/>
                        </a:rPr>
                        <a:t>Úmidos Premier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−21,9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89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−21,7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893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−7,2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6D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−7,0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6D1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71F"/>
                          </a:solidFill>
                          <a:latin typeface="Arial"/>
                        </a:rPr>
                        <a:t>Cookies Golden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−22,0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89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−22,0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89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−7,3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6CF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−7,2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6D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71F"/>
                          </a:solidFill>
                          <a:latin typeface="Arial"/>
                        </a:rPr>
                        <a:t>Secos Vitta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−22,0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89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−22,0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89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−7,3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6CF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−7,2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6D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71F"/>
                          </a:solidFill>
                          <a:latin typeface="Arial"/>
                        </a:rPr>
                        <a:t>Secos Golden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62,7%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−13,7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0B5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−5,3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8D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502A"/>
                          </a:solidFill>
                          <a:latin typeface="Arial"/>
                        </a:rPr>
                        <a:t>+1,5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CAE7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4502A"/>
                          </a:solidFill>
                          <a:latin typeface="Arial"/>
                        </a:rPr>
                        <a:t>+10,4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5DB3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71F"/>
                          </a:solidFill>
                          <a:latin typeface="Arial"/>
                        </a:rPr>
                        <a:t>Progato (granulados)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−22,0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89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−21,9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89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−7,3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6D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−7,2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6D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71F"/>
                          </a:solidFill>
                          <a:latin typeface="Arial"/>
                        </a:rPr>
                        <a:t>Úmidos Golden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472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−22,0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89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−22,0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E89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−7,3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6CF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62828"/>
                          </a:solidFill>
                          <a:latin typeface="Arial"/>
                        </a:rPr>
                        <a:t>−7,3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6D0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20000">
                <a:tc gridSpan="3"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MB do cliente após o desconto (tabela: 28,1%)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A56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19050">
                      <a:solidFill>
                        <a:srgbClr val="FFFFF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190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30,2%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30,2%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28,8%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28,8%</a:t>
                      </a:r>
                    </a:p>
                  </a:txBody>
                  <a:tcPr marL="90000" marR="90000" marT="20000" marB="20000" anchor="ctr"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0" name="Legenda"/>
          <p:cNvSpPr txBox="1"/>
          <p:nvPr/>
        </p:nvSpPr>
        <p:spPr>
          <a:xfrm>
            <a:off x="758952" y="8510000"/>
            <a:ext cx="111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5B6472"/>
                </a:solidFill>
                <a:latin typeface="Arial"/>
              </a:rPr>
              <a:t>Δ lucro bruto da Premier em 7 meses, R$ milhões.   </a:t>
            </a:r>
            <a:r>
              <a:rPr sz="1250" b="1">
                <a:solidFill>
                  <a:srgbClr val="2E7D46"/>
                </a:solidFill>
                <a:latin typeface="Arial"/>
              </a:rPr>
              <a:t>Verde</a:t>
            </a:r>
            <a:r>
              <a:rPr sz="1250" b="0">
                <a:solidFill>
                  <a:srgbClr val="5B6472"/>
                </a:solidFill>
                <a:latin typeface="Arial"/>
              </a:rPr>
              <a:t> = a categoria cria lucro.   </a:t>
            </a:r>
            <a:r>
              <a:rPr sz="1250" b="1">
                <a:solidFill>
                  <a:srgbClr val="C62828"/>
                </a:solidFill>
                <a:latin typeface="Arial"/>
              </a:rPr>
              <a:t>Vermelho</a:t>
            </a:r>
            <a:r>
              <a:rPr sz="1250" b="0">
                <a:solidFill>
                  <a:srgbClr val="5B6472"/>
                </a:solidFill>
                <a:latin typeface="Arial"/>
              </a:rPr>
              <a:t> = não se paga; quanto mais forte, maior a perda.</a:t>
            </a:r>
          </a:p>
        </p:txBody>
      </p:sp>
      <p:sp>
        <p:nvSpPr>
          <p:cNvPr id="31" name="Título painel"/>
          <p:cNvSpPr txBox="1"/>
          <p:nvPr/>
        </p:nvSpPr>
        <p:spPr>
          <a:xfrm>
            <a:off x="12200000" y="2000000"/>
            <a:ext cx="532495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spc="100">
                <a:solidFill>
                  <a:srgbClr val="14171F"/>
                </a:solidFill>
                <a:latin typeface="Arial"/>
              </a:rPr>
              <a:t>O QUE A ANÁLISE INDICA</a:t>
            </a:r>
          </a:p>
        </p:txBody>
      </p:sp>
      <p:sp>
        <p:nvSpPr>
          <p:cNvPr id="32" name="Card 1"/>
          <p:cNvSpPr/>
          <p:nvPr/>
        </p:nvSpPr>
        <p:spPr>
          <a:xfrm>
            <a:off x="12200000" y="2380000"/>
            <a:ext cx="5324952" cy="1450000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ard 1 acento"/>
          <p:cNvSpPr/>
          <p:nvPr/>
        </p:nvSpPr>
        <p:spPr>
          <a:xfrm>
            <a:off x="12200000" y="2380000"/>
            <a:ext cx="90000" cy="1450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Card 1 texto"/>
          <p:cNvSpPr txBox="1"/>
          <p:nvPr/>
        </p:nvSpPr>
        <p:spPr>
          <a:xfrm>
            <a:off x="12500000" y="2550000"/>
            <a:ext cx="4824952" cy="1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C62828"/>
                </a:solidFill>
                <a:latin typeface="Arial"/>
              </a:rPr>
              <a:t>Volume 3% não se paga</a:t>
            </a:r>
          </a:p>
          <a:p>
            <a:pPr algn="l">
              <a:spcAft>
                <a:spcPts val="500"/>
              </a:spcAft>
            </a:pPr>
            <a:r>
              <a:rPr sz="1450" b="0">
                <a:solidFill>
                  <a:srgbClr val="5B6472"/>
                </a:solidFill>
                <a:latin typeface="Arial"/>
              </a:rPr>
              <a:t>Nenhuma categoria cobre o desconto, nem com +10%. A menor perda é em Secos Golden: −R$ 5,3 M.</a:t>
            </a:r>
          </a:p>
        </p:txBody>
      </p:sp>
      <p:sp>
        <p:nvSpPr>
          <p:cNvPr id="35" name="Card 2"/>
          <p:cNvSpPr/>
          <p:nvPr/>
        </p:nvSpPr>
        <p:spPr>
          <a:xfrm>
            <a:off x="12200000" y="3950000"/>
            <a:ext cx="5324952" cy="1450000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ard 2 acento"/>
          <p:cNvSpPr/>
          <p:nvPr/>
        </p:nvSpPr>
        <p:spPr>
          <a:xfrm>
            <a:off x="12200000" y="3950000"/>
            <a:ext cx="90000" cy="14500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ard 2 texto"/>
          <p:cNvSpPr txBox="1"/>
          <p:nvPr/>
        </p:nvSpPr>
        <p:spPr>
          <a:xfrm>
            <a:off x="12500000" y="4120000"/>
            <a:ext cx="4824952" cy="1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2E7D46"/>
                </a:solidFill>
                <a:latin typeface="Arial"/>
              </a:rPr>
              <a:t>Mix 1% já se paga com +5%</a:t>
            </a:r>
          </a:p>
          <a:p>
            <a:pPr algn="l">
              <a:spcAft>
                <a:spcPts val="500"/>
              </a:spcAft>
            </a:pPr>
            <a:r>
              <a:rPr sz="1450" b="0">
                <a:solidFill>
                  <a:srgbClr val="5B6472"/>
                </a:solidFill>
                <a:latin typeface="Arial"/>
              </a:rPr>
              <a:t>Só Secos Golden cria lucro: +R$ 1,5 M. Com +10%, Secos Golden vai a +R$ 10,4 M e Secos Premier entra: +R$ 3,5 M.</a:t>
            </a:r>
          </a:p>
        </p:txBody>
      </p:sp>
      <p:sp>
        <p:nvSpPr>
          <p:cNvPr id="38" name="Card 3"/>
          <p:cNvSpPr/>
          <p:nvPr/>
        </p:nvSpPr>
        <p:spPr>
          <a:xfrm>
            <a:off x="12200000" y="5520000"/>
            <a:ext cx="5324952" cy="1450000"/>
          </a:xfrm>
          <a:prstGeom prst="roundRect">
            <a:avLst>
              <a:gd name="adj" fmla="val 756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Card 3 acento"/>
          <p:cNvSpPr/>
          <p:nvPr/>
        </p:nvSpPr>
        <p:spPr>
          <a:xfrm>
            <a:off x="12200000" y="5520000"/>
            <a:ext cx="90000" cy="1450000"/>
          </a:xfrm>
          <a:prstGeom prst="rect">
            <a:avLst/>
          </a:prstGeom>
          <a:solidFill>
            <a:srgbClr val="7BA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ard 3 texto"/>
          <p:cNvSpPr txBox="1"/>
          <p:nvPr/>
        </p:nvSpPr>
        <p:spPr>
          <a:xfrm>
            <a:off x="12500000" y="5690000"/>
            <a:ext cx="4824952" cy="1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4171F"/>
                </a:solidFill>
                <a:latin typeface="Arial"/>
              </a:rPr>
              <a:t>Em margem %, Secos Premier</a:t>
            </a:r>
          </a:p>
          <a:p>
            <a:pPr algn="l">
              <a:spcAft>
                <a:spcPts val="500"/>
              </a:spcAft>
            </a:pPr>
            <a:r>
              <a:rPr sz="1450" b="0">
                <a:solidFill>
                  <a:srgbClr val="5B6472"/>
                </a:solidFill>
                <a:latin typeface="Arial"/>
              </a:rPr>
              <a:t>Menor queda de MB Premier: −0,47 p.p. (Mix +5%). Secos Golden cai mais, mas lidera o lucro por ser 63% do mix.</a:t>
            </a:r>
          </a:p>
        </p:txBody>
      </p:sp>
      <p:sp>
        <p:nvSpPr>
          <p:cNvPr id="41" name="Recomendação"/>
          <p:cNvSpPr/>
          <p:nvPr/>
        </p:nvSpPr>
        <p:spPr>
          <a:xfrm>
            <a:off x="12200000" y="7090000"/>
            <a:ext cx="5324952" cy="1660000"/>
          </a:xfrm>
          <a:prstGeom prst="roundRect">
            <a:avLst>
              <a:gd name="adj" fmla="val 6610"/>
            </a:avLst>
          </a:prstGeom>
          <a:solidFill>
            <a:srgbClr val="FFF1E3"/>
          </a:solidFill>
          <a:ln w="12700">
            <a:solidFill>
              <a:srgbClr val="C98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omendação texto"/>
          <p:cNvSpPr txBox="1"/>
          <p:nvPr/>
        </p:nvSpPr>
        <p:spPr>
          <a:xfrm>
            <a:off x="12450000" y="7220000"/>
            <a:ext cx="4874952" cy="1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spc="100">
                <a:solidFill>
                  <a:srgbClr val="9A5B00"/>
                </a:solidFill>
                <a:latin typeface="Arial"/>
              </a:rPr>
              <a:t>RECOMENDAÇÃO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5B6472"/>
                </a:solidFill>
                <a:latin typeface="Arial"/>
              </a:rPr>
              <a:t>Aplicar Mix 1% em Secos Golden e Secos Premier. As demais categorias são pequenas: a receita incremental não cobre o desconto da cesta toda.</a:t>
            </a:r>
          </a:p>
        </p:txBody>
      </p:sp>
      <p:pic>
        <p:nvPicPr>
          <p:cNvPr id="5095" name="Logo PremieRpet" descr="Logo PremieRp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096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097" name="Logo DOC Consulting" descr="Logo DOC Consul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098" name="Número da página"/>
          <p:cNvSpPr txBox="1"/>
          <p:nvPr/>
        </p:nvSpPr>
        <p:spPr>
          <a:xfrm>
            <a:off x="16340328" y="971092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125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16</a:t>
            </a:r>
          </a:p>
        </p:txBody>
      </p:sp>
    </p:spTree>
    <p:extLst>
      <p:ext uri="{BB962C8B-B14F-4D97-AF65-F5344CB8AC3E}">
        <p14:creationId xmlns:p14="http://schemas.microsoft.com/office/powerpoint/2010/main" val="1779258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7225" y="-1285726"/>
            <a:ext cx="184404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228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1B · MARGEM BRUTA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657225" y="-1004738"/>
            <a:ext cx="18440400" cy="490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176"/>
              </a:lnSpc>
              <a:buNone/>
            </a:pPr>
            <a:r>
              <a:rPr lang="en-US" sz="3300" b="1" kern="0" spc="-49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política inteira, o canal chega a 93–100% do teto recomendado</a:t>
            </a:r>
            <a:endParaRPr lang="en-US" sz="3300"/>
          </a:p>
        </p:txBody>
      </p:sp>
      <p:sp>
        <p:nvSpPr>
          <p:cNvPr id="5" name="Text 3"/>
          <p:cNvSpPr/>
          <p:nvPr/>
        </p:nvSpPr>
        <p:spPr>
          <a:xfrm>
            <a:off x="762000" y="1286024"/>
            <a:ext cx="184404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banana com banana: tabela, política potencial, regular com RTP, esperado no ano e o que fica quando a RTP é executada.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762000" y="1986111"/>
            <a:ext cx="3990975" cy="3810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2000" y="2138511"/>
            <a:ext cx="4390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 tabela</a:t>
            </a:r>
            <a:endParaRPr lang="en-US" sz="1575"/>
          </a:p>
        </p:txBody>
      </p:sp>
      <p:sp>
        <p:nvSpPr>
          <p:cNvPr id="8" name="Text 6"/>
          <p:cNvSpPr/>
          <p:nvPr/>
        </p:nvSpPr>
        <p:spPr>
          <a:xfrm>
            <a:off x="762000" y="2405211"/>
            <a:ext cx="4110704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bruta de tabela ponderada pelo mix real (SKU × UF, sell-in jan–mai/26). Tabela 26/05.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5019675" y="1986111"/>
            <a:ext cx="3990975" cy="38100"/>
          </a:xfrm>
          <a:prstGeom prst="rect">
            <a:avLst/>
          </a:prstGeom>
          <a:solidFill>
            <a:srgbClr val="FF6E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19675" y="2138511"/>
            <a:ext cx="4390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potencial futura</a:t>
            </a:r>
            <a:endParaRPr lang="en-US" sz="1575"/>
          </a:p>
        </p:txBody>
      </p:sp>
      <p:sp>
        <p:nvSpPr>
          <p:cNvPr id="11" name="Text 9"/>
          <p:cNvSpPr/>
          <p:nvPr/>
        </p:nvSpPr>
        <p:spPr>
          <a:xfrm>
            <a:off x="5019675" y="2405211"/>
            <a:ext cx="4390073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 “Hoje (real)”. Coluna distinta de “Esperado”.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9277350" y="1986111"/>
            <a:ext cx="3990975" cy="38100"/>
          </a:xfrm>
          <a:prstGeom prst="rect">
            <a:avLst/>
          </a:prstGeom>
          <a:solidFill>
            <a:srgbClr val="7BA0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277350" y="2138511"/>
            <a:ext cx="4390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Regular com RTP</a:t>
            </a:r>
            <a:endParaRPr lang="en-US" sz="1575"/>
          </a:p>
        </p:txBody>
      </p:sp>
      <p:sp>
        <p:nvSpPr>
          <p:cNvPr id="14" name="Text 12"/>
          <p:cNvSpPr/>
          <p:nvPr/>
        </p:nvSpPr>
        <p:spPr>
          <a:xfrm>
            <a:off x="9277350" y="2405211"/>
            <a:ext cx="4110704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 3 + Mix 1 + JBP/Espec. + RTP 3 (VD); RTP 2 + cond. 3 (pet shop); PPP 3 (dist).</a:t>
            </a:r>
            <a:endParaRPr lang="en-US" sz="1350"/>
          </a:p>
        </p:txBody>
      </p:sp>
      <p:sp>
        <p:nvSpPr>
          <p:cNvPr id="15" name="Shape 13"/>
          <p:cNvSpPr/>
          <p:nvPr/>
        </p:nvSpPr>
        <p:spPr>
          <a:xfrm>
            <a:off x="13535025" y="1986111"/>
            <a:ext cx="3990975" cy="38100"/>
          </a:xfrm>
          <a:prstGeom prst="rect">
            <a:avLst/>
          </a:prstGeom>
          <a:solidFill>
            <a:srgbClr val="C3D3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3535025" y="2138511"/>
            <a:ext cx="4390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Esperado · B</a:t>
            </a:r>
            <a:endParaRPr lang="en-US" sz="1575"/>
          </a:p>
        </p:txBody>
      </p:sp>
      <p:sp>
        <p:nvSpPr>
          <p:cNvPr id="17" name="Text 15"/>
          <p:cNvSpPr/>
          <p:nvPr/>
        </p:nvSpPr>
        <p:spPr>
          <a:xfrm>
            <a:off x="13535025" y="2405211"/>
            <a:ext cx="4110704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Esperado = RTP executada em ~30% do volume. B = RTP repassada integralmente.</a:t>
            </a:r>
            <a:endParaRPr lang="en-US" sz="1350"/>
          </a:p>
        </p:txBody>
      </p:sp>
      <p:sp>
        <p:nvSpPr>
          <p:cNvPr id="18" name="Shape 16"/>
          <p:cNvSpPr/>
          <p:nvPr/>
        </p:nvSpPr>
        <p:spPr>
          <a:xfrm>
            <a:off x="762000" y="3134767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95350" y="3268117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/ cluster</a:t>
            </a:r>
            <a:endParaRPr lang="en-US" sz="1350"/>
          </a:p>
        </p:txBody>
      </p:sp>
      <p:sp>
        <p:nvSpPr>
          <p:cNvPr id="20" name="Shape 18"/>
          <p:cNvSpPr/>
          <p:nvPr/>
        </p:nvSpPr>
        <p:spPr>
          <a:xfrm>
            <a:off x="2857500" y="3134767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2952750" y="3268117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 tabela </a:t>
            </a: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(pond. mix)</a:t>
            </a:r>
            <a:endParaRPr lang="en-US" sz="1350"/>
          </a:p>
        </p:txBody>
      </p:sp>
      <p:sp>
        <p:nvSpPr>
          <p:cNvPr id="22" name="Shape 20"/>
          <p:cNvSpPr/>
          <p:nvPr/>
        </p:nvSpPr>
        <p:spPr>
          <a:xfrm>
            <a:off x="4953000" y="3134767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048250" y="3268117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C2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Comercial potencial futura</a:t>
            </a:r>
            <a:endParaRPr lang="en-US" sz="1350"/>
          </a:p>
        </p:txBody>
      </p:sp>
      <p:sp>
        <p:nvSpPr>
          <p:cNvPr id="24" name="Shape 22"/>
          <p:cNvSpPr/>
          <p:nvPr/>
        </p:nvSpPr>
        <p:spPr>
          <a:xfrm>
            <a:off x="7048500" y="3134767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143750" y="3268117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Regular com RTP </a:t>
            </a: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c/ tático</a:t>
            </a:r>
            <a:endParaRPr lang="en-US" sz="1350"/>
          </a:p>
        </p:txBody>
      </p:sp>
      <p:sp>
        <p:nvSpPr>
          <p:cNvPr id="26" name="Shape 24"/>
          <p:cNvSpPr/>
          <p:nvPr/>
        </p:nvSpPr>
        <p:spPr>
          <a:xfrm>
            <a:off x="9144000" y="3134767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9239250" y="3268117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Esperado </a:t>
            </a: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(30% promo)</a:t>
            </a:r>
            <a:endParaRPr lang="en-US" sz="1350"/>
          </a:p>
        </p:txBody>
      </p:sp>
      <p:sp>
        <p:nvSpPr>
          <p:cNvPr id="28" name="Shape 26"/>
          <p:cNvSpPr/>
          <p:nvPr/>
        </p:nvSpPr>
        <p:spPr>
          <a:xfrm>
            <a:off x="11239500" y="3134767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1334750" y="3268117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Rebaixa sem RTP</a:t>
            </a:r>
            <a:endParaRPr lang="en-US" sz="1350"/>
          </a:p>
        </p:txBody>
      </p:sp>
      <p:sp>
        <p:nvSpPr>
          <p:cNvPr id="30" name="Shape 28"/>
          <p:cNvSpPr/>
          <p:nvPr/>
        </p:nvSpPr>
        <p:spPr>
          <a:xfrm>
            <a:off x="13335000" y="3134767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3430250" y="3268117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Teto recomendado</a:t>
            </a:r>
            <a:endParaRPr lang="en-US" sz="1350"/>
          </a:p>
        </p:txBody>
      </p:sp>
      <p:sp>
        <p:nvSpPr>
          <p:cNvPr id="32" name="Shape 30"/>
          <p:cNvSpPr/>
          <p:nvPr/>
        </p:nvSpPr>
        <p:spPr>
          <a:xfrm>
            <a:off x="15430500" y="3134767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5103" name="Linha cabeçalho"/>
          <p:cNvSpPr/>
          <p:nvPr/>
        </p:nvSpPr>
        <p:spPr>
          <a:xfrm>
            <a:off x="762000" y="3801898"/>
            <a:ext cx="16764000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5525750" y="3268117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1350"/>
          </a:p>
        </p:txBody>
      </p:sp>
      <p:sp>
        <p:nvSpPr>
          <p:cNvPr id="34" name="Shape 32"/>
          <p:cNvSpPr/>
          <p:nvPr/>
        </p:nvSpPr>
        <p:spPr>
          <a:xfrm>
            <a:off x="762000" y="43777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895350" y="3963442"/>
            <a:ext cx="1905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Super GG / GG</a:t>
            </a:r>
            <a:endParaRPr lang="en-US" sz="1650"/>
          </a:p>
        </p:txBody>
      </p:sp>
      <p:sp>
        <p:nvSpPr>
          <p:cNvPr id="36" name="Shape 34"/>
          <p:cNvSpPr/>
          <p:nvPr/>
        </p:nvSpPr>
        <p:spPr>
          <a:xfrm>
            <a:off x="2857500" y="43777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2952750" y="3963442"/>
            <a:ext cx="1905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28,1%</a:t>
            </a:r>
            <a:endParaRPr lang="en-US" sz="1725"/>
          </a:p>
        </p:txBody>
      </p:sp>
      <p:sp>
        <p:nvSpPr>
          <p:cNvPr id="38" name="Shape 36"/>
          <p:cNvSpPr/>
          <p:nvPr/>
        </p:nvSpPr>
        <p:spPr>
          <a:xfrm>
            <a:off x="4953000" y="3811042"/>
            <a:ext cx="2095500" cy="576263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4953000" y="43777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5048250" y="3963442"/>
            <a:ext cx="1905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 / 12%</a:t>
            </a:r>
            <a:endParaRPr lang="en-US" sz="1425"/>
          </a:p>
        </p:txBody>
      </p:sp>
      <p:sp>
        <p:nvSpPr>
          <p:cNvPr id="41" name="Shape 39"/>
          <p:cNvSpPr/>
          <p:nvPr/>
        </p:nvSpPr>
        <p:spPr>
          <a:xfrm>
            <a:off x="7048500" y="43777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7143750" y="3963442"/>
            <a:ext cx="1905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36,0% · </a:t>
            </a:r>
            <a:r>
              <a:rPr lang="en-US" sz="17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36,7%</a:t>
            </a:r>
            <a:endParaRPr lang="en-US" sz="1725"/>
          </a:p>
        </p:txBody>
      </p:sp>
      <p:sp>
        <p:nvSpPr>
          <p:cNvPr id="43" name="Shape 41"/>
          <p:cNvSpPr/>
          <p:nvPr/>
        </p:nvSpPr>
        <p:spPr>
          <a:xfrm>
            <a:off x="9144000" y="43777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9239250" y="3963442"/>
            <a:ext cx="1905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35,3%</a:t>
            </a:r>
            <a:endParaRPr lang="en-US" sz="1725"/>
          </a:p>
        </p:txBody>
      </p:sp>
      <p:sp>
        <p:nvSpPr>
          <p:cNvPr id="45" name="Shape 43"/>
          <p:cNvSpPr/>
          <p:nvPr/>
        </p:nvSpPr>
        <p:spPr>
          <a:xfrm>
            <a:off x="11239500" y="43777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11334750" y="3963442"/>
            <a:ext cx="1905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33,8%</a:t>
            </a:r>
            <a:endParaRPr lang="en-US" sz="1725"/>
          </a:p>
        </p:txBody>
      </p:sp>
      <p:sp>
        <p:nvSpPr>
          <p:cNvPr id="47" name="Shape 45"/>
          <p:cNvSpPr/>
          <p:nvPr/>
        </p:nvSpPr>
        <p:spPr>
          <a:xfrm>
            <a:off x="13335000" y="43777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13430250" y="3963442"/>
            <a:ext cx="1905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38,0%</a:t>
            </a:r>
            <a:endParaRPr lang="en-US" sz="1725"/>
          </a:p>
        </p:txBody>
      </p:sp>
      <p:sp>
        <p:nvSpPr>
          <p:cNvPr id="49" name="Shape 47"/>
          <p:cNvSpPr/>
          <p:nvPr/>
        </p:nvSpPr>
        <p:spPr>
          <a:xfrm>
            <a:off x="15430500" y="43777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15525750" y="3963442"/>
            <a:ext cx="1905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1725"/>
          </a:p>
        </p:txBody>
      </p:sp>
      <p:sp>
        <p:nvSpPr>
          <p:cNvPr id="51" name="Shape 49"/>
          <p:cNvSpPr/>
          <p:nvPr/>
        </p:nvSpPr>
        <p:spPr>
          <a:xfrm>
            <a:off x="762000" y="4387304"/>
            <a:ext cx="16764000" cy="581025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762000" y="495880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895350" y="453970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G</a:t>
            </a:r>
            <a:endParaRPr lang="en-US" sz="1650"/>
          </a:p>
        </p:txBody>
      </p:sp>
      <p:sp>
        <p:nvSpPr>
          <p:cNvPr id="54" name="Shape 52"/>
          <p:cNvSpPr/>
          <p:nvPr/>
        </p:nvSpPr>
        <p:spPr>
          <a:xfrm>
            <a:off x="2857500" y="495880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2952750" y="453970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27,7%</a:t>
            </a:r>
            <a:endParaRPr lang="en-US" sz="1725"/>
          </a:p>
        </p:txBody>
      </p:sp>
      <p:sp>
        <p:nvSpPr>
          <p:cNvPr id="56" name="Shape 54"/>
          <p:cNvSpPr/>
          <p:nvPr/>
        </p:nvSpPr>
        <p:spPr>
          <a:xfrm>
            <a:off x="4953000" y="4387304"/>
            <a:ext cx="2095500" cy="581025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4953000" y="495880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5048250" y="453970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 / 12%</a:t>
            </a:r>
            <a:endParaRPr lang="en-US" sz="1425"/>
          </a:p>
        </p:txBody>
      </p:sp>
      <p:sp>
        <p:nvSpPr>
          <p:cNvPr id="59" name="Shape 57"/>
          <p:cNvSpPr/>
          <p:nvPr/>
        </p:nvSpPr>
        <p:spPr>
          <a:xfrm>
            <a:off x="7048500" y="495880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7143750" y="453970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35,7% · </a:t>
            </a:r>
            <a:r>
              <a:rPr lang="en-US" sz="17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36,4%</a:t>
            </a:r>
            <a:endParaRPr lang="en-US" sz="1725"/>
          </a:p>
        </p:txBody>
      </p:sp>
      <p:sp>
        <p:nvSpPr>
          <p:cNvPr id="61" name="Shape 59"/>
          <p:cNvSpPr/>
          <p:nvPr/>
        </p:nvSpPr>
        <p:spPr>
          <a:xfrm>
            <a:off x="9144000" y="495880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9239250" y="453970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35,0%</a:t>
            </a:r>
            <a:endParaRPr lang="en-US" sz="1725"/>
          </a:p>
        </p:txBody>
      </p:sp>
      <p:sp>
        <p:nvSpPr>
          <p:cNvPr id="63" name="Shape 61"/>
          <p:cNvSpPr/>
          <p:nvPr/>
        </p:nvSpPr>
        <p:spPr>
          <a:xfrm>
            <a:off x="11239500" y="495880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11334750" y="453970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33,5%</a:t>
            </a:r>
            <a:endParaRPr lang="en-US" sz="1725"/>
          </a:p>
        </p:txBody>
      </p:sp>
      <p:sp>
        <p:nvSpPr>
          <p:cNvPr id="65" name="Shape 63"/>
          <p:cNvSpPr/>
          <p:nvPr/>
        </p:nvSpPr>
        <p:spPr>
          <a:xfrm>
            <a:off x="13335000" y="495880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13430250" y="453970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35,0%</a:t>
            </a:r>
            <a:endParaRPr lang="en-US" sz="1725"/>
          </a:p>
        </p:txBody>
      </p:sp>
      <p:sp>
        <p:nvSpPr>
          <p:cNvPr id="67" name="Shape 65"/>
          <p:cNvSpPr/>
          <p:nvPr/>
        </p:nvSpPr>
        <p:spPr>
          <a:xfrm>
            <a:off x="15430500" y="495880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Text 66"/>
          <p:cNvSpPr/>
          <p:nvPr/>
        </p:nvSpPr>
        <p:spPr>
          <a:xfrm>
            <a:off x="15525750" y="453970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725"/>
          </a:p>
        </p:txBody>
      </p:sp>
      <p:sp>
        <p:nvSpPr>
          <p:cNvPr id="69" name="Shape 67"/>
          <p:cNvSpPr/>
          <p:nvPr/>
        </p:nvSpPr>
        <p:spPr>
          <a:xfrm>
            <a:off x="762000" y="553982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895350" y="512072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M</a:t>
            </a:r>
            <a:endParaRPr lang="en-US" sz="1650"/>
          </a:p>
        </p:txBody>
      </p:sp>
      <p:sp>
        <p:nvSpPr>
          <p:cNvPr id="71" name="Shape 69"/>
          <p:cNvSpPr/>
          <p:nvPr/>
        </p:nvSpPr>
        <p:spPr>
          <a:xfrm>
            <a:off x="2857500" y="553982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Text 70"/>
          <p:cNvSpPr/>
          <p:nvPr/>
        </p:nvSpPr>
        <p:spPr>
          <a:xfrm>
            <a:off x="2952750" y="512072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27,7%</a:t>
            </a:r>
            <a:endParaRPr lang="en-US" sz="1725"/>
          </a:p>
        </p:txBody>
      </p:sp>
      <p:sp>
        <p:nvSpPr>
          <p:cNvPr id="73" name="Shape 71"/>
          <p:cNvSpPr/>
          <p:nvPr/>
        </p:nvSpPr>
        <p:spPr>
          <a:xfrm>
            <a:off x="4953000" y="4968329"/>
            <a:ext cx="2095500" cy="581025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4" name="Shape 72"/>
          <p:cNvSpPr/>
          <p:nvPr/>
        </p:nvSpPr>
        <p:spPr>
          <a:xfrm>
            <a:off x="4953000" y="553982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5048250" y="512072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/>
            <a:r>
              <a:rPr lang="pt-BR" sz="1600">
                <a:solidFill>
                  <a:srgbClr val="FF6E08"/>
                </a:solidFill>
              </a:rPr>
              <a:t>9% / 10%</a:t>
            </a:r>
            <a:endParaRPr lang="en-US" sz="1425">
              <a:solidFill>
                <a:srgbClr val="FF6E08"/>
              </a:solidFill>
            </a:endParaRPr>
          </a:p>
        </p:txBody>
      </p:sp>
      <p:sp>
        <p:nvSpPr>
          <p:cNvPr id="76" name="Shape 74"/>
          <p:cNvSpPr/>
          <p:nvPr/>
        </p:nvSpPr>
        <p:spPr>
          <a:xfrm>
            <a:off x="7048500" y="553982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7" name="Text 75"/>
          <p:cNvSpPr/>
          <p:nvPr/>
        </p:nvSpPr>
        <p:spPr>
          <a:xfrm>
            <a:off x="7143750" y="512072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34,2% · </a:t>
            </a:r>
            <a:r>
              <a:rPr lang="en-US" sz="17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35,0%</a:t>
            </a:r>
            <a:endParaRPr lang="en-US" sz="1725"/>
          </a:p>
        </p:txBody>
      </p:sp>
      <p:sp>
        <p:nvSpPr>
          <p:cNvPr id="78" name="Shape 76"/>
          <p:cNvSpPr/>
          <p:nvPr/>
        </p:nvSpPr>
        <p:spPr>
          <a:xfrm>
            <a:off x="9144000" y="553982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9" name="Text 77"/>
          <p:cNvSpPr/>
          <p:nvPr/>
        </p:nvSpPr>
        <p:spPr>
          <a:xfrm>
            <a:off x="9239250" y="512072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33,6%</a:t>
            </a:r>
            <a:endParaRPr lang="en-US" sz="1725"/>
          </a:p>
        </p:txBody>
      </p:sp>
      <p:sp>
        <p:nvSpPr>
          <p:cNvPr id="80" name="Shape 78"/>
          <p:cNvSpPr/>
          <p:nvPr/>
        </p:nvSpPr>
        <p:spPr>
          <a:xfrm>
            <a:off x="11239500" y="553982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1" name="Text 79"/>
          <p:cNvSpPr/>
          <p:nvPr/>
        </p:nvSpPr>
        <p:spPr>
          <a:xfrm>
            <a:off x="11334750" y="512072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32,1%</a:t>
            </a:r>
            <a:endParaRPr lang="en-US" sz="1725"/>
          </a:p>
        </p:txBody>
      </p:sp>
      <p:sp>
        <p:nvSpPr>
          <p:cNvPr id="82" name="Shape 80"/>
          <p:cNvSpPr/>
          <p:nvPr/>
        </p:nvSpPr>
        <p:spPr>
          <a:xfrm>
            <a:off x="13335000" y="553982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Text 81"/>
          <p:cNvSpPr/>
          <p:nvPr/>
        </p:nvSpPr>
        <p:spPr>
          <a:xfrm>
            <a:off x="13430250" y="512072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35,0%</a:t>
            </a:r>
            <a:endParaRPr lang="en-US" sz="1725"/>
          </a:p>
        </p:txBody>
      </p:sp>
      <p:sp>
        <p:nvSpPr>
          <p:cNvPr id="84" name="Shape 82"/>
          <p:cNvSpPr/>
          <p:nvPr/>
        </p:nvSpPr>
        <p:spPr>
          <a:xfrm>
            <a:off x="15430500" y="553982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5" name="Text 83"/>
          <p:cNvSpPr/>
          <p:nvPr/>
        </p:nvSpPr>
        <p:spPr>
          <a:xfrm>
            <a:off x="15525750" y="512072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1725"/>
          </a:p>
        </p:txBody>
      </p:sp>
      <p:sp>
        <p:nvSpPr>
          <p:cNvPr id="86" name="Shape 84"/>
          <p:cNvSpPr/>
          <p:nvPr/>
        </p:nvSpPr>
        <p:spPr>
          <a:xfrm>
            <a:off x="762000" y="5549354"/>
            <a:ext cx="16764000" cy="581025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7" name="Shape 85"/>
          <p:cNvSpPr/>
          <p:nvPr/>
        </p:nvSpPr>
        <p:spPr>
          <a:xfrm>
            <a:off x="762000" y="612085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8" name="Text 86"/>
          <p:cNvSpPr/>
          <p:nvPr/>
        </p:nvSpPr>
        <p:spPr>
          <a:xfrm>
            <a:off x="895350" y="570175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P</a:t>
            </a:r>
            <a:endParaRPr lang="en-US" sz="1650"/>
          </a:p>
        </p:txBody>
      </p:sp>
      <p:sp>
        <p:nvSpPr>
          <p:cNvPr id="89" name="Shape 87"/>
          <p:cNvSpPr/>
          <p:nvPr/>
        </p:nvSpPr>
        <p:spPr>
          <a:xfrm>
            <a:off x="2857500" y="612085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0" name="Text 88"/>
          <p:cNvSpPr/>
          <p:nvPr/>
        </p:nvSpPr>
        <p:spPr>
          <a:xfrm>
            <a:off x="2952750" y="570175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26,7%</a:t>
            </a:r>
            <a:endParaRPr lang="en-US" sz="1725"/>
          </a:p>
        </p:txBody>
      </p:sp>
      <p:sp>
        <p:nvSpPr>
          <p:cNvPr id="91" name="Shape 89"/>
          <p:cNvSpPr/>
          <p:nvPr/>
        </p:nvSpPr>
        <p:spPr>
          <a:xfrm>
            <a:off x="4953000" y="5549354"/>
            <a:ext cx="2095500" cy="581025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2" name="Shape 90"/>
          <p:cNvSpPr/>
          <p:nvPr/>
        </p:nvSpPr>
        <p:spPr>
          <a:xfrm>
            <a:off x="4953000" y="612085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3" name="Text 91"/>
          <p:cNvSpPr/>
          <p:nvPr/>
        </p:nvSpPr>
        <p:spPr>
          <a:xfrm>
            <a:off x="5048250" y="570175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/>
            <a:r>
              <a:rPr lang="pt-BR" sz="1600">
                <a:solidFill>
                  <a:srgbClr val="FF6E08"/>
                </a:solidFill>
              </a:rPr>
              <a:t>7% / 8%</a:t>
            </a:r>
            <a:endParaRPr lang="en-US" sz="1425">
              <a:solidFill>
                <a:srgbClr val="FF6E08"/>
              </a:solidFill>
            </a:endParaRPr>
          </a:p>
        </p:txBody>
      </p:sp>
      <p:sp>
        <p:nvSpPr>
          <p:cNvPr id="94" name="Shape 92"/>
          <p:cNvSpPr/>
          <p:nvPr/>
        </p:nvSpPr>
        <p:spPr>
          <a:xfrm>
            <a:off x="7048500" y="612085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5" name="Text 93"/>
          <p:cNvSpPr/>
          <p:nvPr/>
        </p:nvSpPr>
        <p:spPr>
          <a:xfrm>
            <a:off x="7143750" y="570175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31,8% · </a:t>
            </a:r>
            <a:r>
              <a:rPr lang="en-US" sz="17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32,5%</a:t>
            </a:r>
            <a:endParaRPr lang="en-US" sz="1725"/>
          </a:p>
        </p:txBody>
      </p:sp>
      <p:sp>
        <p:nvSpPr>
          <p:cNvPr id="96" name="Shape 94"/>
          <p:cNvSpPr/>
          <p:nvPr/>
        </p:nvSpPr>
        <p:spPr>
          <a:xfrm>
            <a:off x="9144000" y="612085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7" name="Text 95"/>
          <p:cNvSpPr/>
          <p:nvPr/>
        </p:nvSpPr>
        <p:spPr>
          <a:xfrm>
            <a:off x="9239250" y="570175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31,1%</a:t>
            </a:r>
            <a:endParaRPr lang="en-US" sz="1725"/>
          </a:p>
        </p:txBody>
      </p:sp>
      <p:sp>
        <p:nvSpPr>
          <p:cNvPr id="98" name="Shape 96"/>
          <p:cNvSpPr/>
          <p:nvPr/>
        </p:nvSpPr>
        <p:spPr>
          <a:xfrm>
            <a:off x="11239500" y="612085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9" name="Text 97"/>
          <p:cNvSpPr/>
          <p:nvPr/>
        </p:nvSpPr>
        <p:spPr>
          <a:xfrm>
            <a:off x="11334750" y="570175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29,6%</a:t>
            </a:r>
            <a:endParaRPr lang="en-US" sz="1725"/>
          </a:p>
        </p:txBody>
      </p:sp>
      <p:sp>
        <p:nvSpPr>
          <p:cNvPr id="100" name="Shape 98"/>
          <p:cNvSpPr/>
          <p:nvPr/>
        </p:nvSpPr>
        <p:spPr>
          <a:xfrm>
            <a:off x="13335000" y="612085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1" name="Text 99"/>
          <p:cNvSpPr/>
          <p:nvPr/>
        </p:nvSpPr>
        <p:spPr>
          <a:xfrm>
            <a:off x="13430250" y="570175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33,0%</a:t>
            </a:r>
            <a:endParaRPr lang="en-US" sz="1725"/>
          </a:p>
        </p:txBody>
      </p:sp>
      <p:sp>
        <p:nvSpPr>
          <p:cNvPr id="102" name="Shape 100"/>
          <p:cNvSpPr/>
          <p:nvPr/>
        </p:nvSpPr>
        <p:spPr>
          <a:xfrm>
            <a:off x="15430500" y="612085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3" name="Text 101"/>
          <p:cNvSpPr/>
          <p:nvPr/>
        </p:nvSpPr>
        <p:spPr>
          <a:xfrm>
            <a:off x="15525750" y="570175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725"/>
          </a:p>
        </p:txBody>
      </p:sp>
      <p:sp>
        <p:nvSpPr>
          <p:cNvPr id="104" name="Shape 102"/>
          <p:cNvSpPr/>
          <p:nvPr/>
        </p:nvSpPr>
        <p:spPr>
          <a:xfrm>
            <a:off x="762000" y="691142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5" name="Text 103"/>
          <p:cNvSpPr/>
          <p:nvPr/>
        </p:nvSpPr>
        <p:spPr>
          <a:xfrm>
            <a:off x="895350" y="6282779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shop independente</a:t>
            </a:r>
            <a:endParaRPr lang="en-US" sz="1650"/>
          </a:p>
        </p:txBody>
      </p:sp>
      <p:sp>
        <p:nvSpPr>
          <p:cNvPr id="106" name="Shape 104"/>
          <p:cNvSpPr/>
          <p:nvPr/>
        </p:nvSpPr>
        <p:spPr>
          <a:xfrm>
            <a:off x="2857500" y="691142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7" name="Text 105"/>
          <p:cNvSpPr/>
          <p:nvPr/>
        </p:nvSpPr>
        <p:spPr>
          <a:xfrm>
            <a:off x="2952750" y="6282779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26,5%</a:t>
            </a:r>
            <a:endParaRPr lang="en-US" sz="1725"/>
          </a:p>
        </p:txBody>
      </p:sp>
      <p:sp>
        <p:nvSpPr>
          <p:cNvPr id="108" name="Shape 106"/>
          <p:cNvSpPr/>
          <p:nvPr/>
        </p:nvSpPr>
        <p:spPr>
          <a:xfrm>
            <a:off x="4953000" y="6130379"/>
            <a:ext cx="2095500" cy="790575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9" name="Shape 107"/>
          <p:cNvSpPr/>
          <p:nvPr/>
        </p:nvSpPr>
        <p:spPr>
          <a:xfrm>
            <a:off x="4953000" y="691142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0" name="Text 108"/>
          <p:cNvSpPr/>
          <p:nvPr/>
        </p:nvSpPr>
        <p:spPr>
          <a:xfrm>
            <a:off x="5048250" y="6282779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pt-BR" sz="1600">
                <a:solidFill>
                  <a:srgbClr val="FF6E08"/>
                </a:solidFill>
              </a:rPr>
              <a:t>5% / 5% </a:t>
            </a:r>
            <a:br>
              <a:rPr lang="pt-BR" sz="1600">
                <a:solidFill>
                  <a:srgbClr val="FF6E08"/>
                </a:solidFill>
              </a:rPr>
            </a:br>
            <a:r>
              <a:rPr lang="pt-BR" sz="1100">
                <a:solidFill>
                  <a:srgbClr val="FF6E08"/>
                </a:solidFill>
              </a:rPr>
              <a:t>(3% cond. + 2% RTP; sem tático)</a:t>
            </a:r>
            <a:endParaRPr lang="en-US" sz="1600">
              <a:solidFill>
                <a:srgbClr val="FF6E08"/>
              </a:solidFill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7048500" y="691142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2" name="Text 110"/>
          <p:cNvSpPr/>
          <p:nvPr/>
        </p:nvSpPr>
        <p:spPr>
          <a:xfrm>
            <a:off x="7143750" y="6282779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30,2%</a:t>
            </a:r>
            <a:endParaRPr lang="en-US" sz="1725"/>
          </a:p>
        </p:txBody>
      </p:sp>
      <p:sp>
        <p:nvSpPr>
          <p:cNvPr id="113" name="Shape 111"/>
          <p:cNvSpPr/>
          <p:nvPr/>
        </p:nvSpPr>
        <p:spPr>
          <a:xfrm>
            <a:off x="9144000" y="691142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4" name="Text 112"/>
          <p:cNvSpPr/>
          <p:nvPr/>
        </p:nvSpPr>
        <p:spPr>
          <a:xfrm>
            <a:off x="9239250" y="6282779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29,7%</a:t>
            </a:r>
            <a:endParaRPr lang="en-US" sz="1725"/>
          </a:p>
        </p:txBody>
      </p:sp>
      <p:sp>
        <p:nvSpPr>
          <p:cNvPr id="115" name="Shape 113"/>
          <p:cNvSpPr/>
          <p:nvPr/>
        </p:nvSpPr>
        <p:spPr>
          <a:xfrm>
            <a:off x="11239500" y="691142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6" name="Text 114"/>
          <p:cNvSpPr/>
          <p:nvPr/>
        </p:nvSpPr>
        <p:spPr>
          <a:xfrm>
            <a:off x="11334750" y="6282779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28,7%</a:t>
            </a:r>
            <a:endParaRPr lang="en-US" sz="1725"/>
          </a:p>
        </p:txBody>
      </p:sp>
      <p:sp>
        <p:nvSpPr>
          <p:cNvPr id="117" name="Shape 115"/>
          <p:cNvSpPr/>
          <p:nvPr/>
        </p:nvSpPr>
        <p:spPr>
          <a:xfrm>
            <a:off x="13335000" y="691142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8" name="Text 116"/>
          <p:cNvSpPr/>
          <p:nvPr/>
        </p:nvSpPr>
        <p:spPr>
          <a:xfrm>
            <a:off x="13430250" y="6282779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1725"/>
          </a:p>
        </p:txBody>
      </p:sp>
      <p:sp>
        <p:nvSpPr>
          <p:cNvPr id="119" name="Shape 117"/>
          <p:cNvSpPr/>
          <p:nvPr/>
        </p:nvSpPr>
        <p:spPr>
          <a:xfrm>
            <a:off x="15430500" y="691142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0" name="Text 118"/>
          <p:cNvSpPr/>
          <p:nvPr/>
        </p:nvSpPr>
        <p:spPr>
          <a:xfrm>
            <a:off x="15525750" y="6282779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1725"/>
          </a:p>
        </p:txBody>
      </p:sp>
      <p:sp>
        <p:nvSpPr>
          <p:cNvPr id="121" name="Shape 119"/>
          <p:cNvSpPr/>
          <p:nvPr/>
        </p:nvSpPr>
        <p:spPr>
          <a:xfrm>
            <a:off x="762000" y="6920954"/>
            <a:ext cx="16764000" cy="581025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2" name="Shape 120"/>
          <p:cNvSpPr/>
          <p:nvPr/>
        </p:nvSpPr>
        <p:spPr>
          <a:xfrm>
            <a:off x="762000" y="749245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3" name="Text 121"/>
          <p:cNvSpPr/>
          <p:nvPr/>
        </p:nvSpPr>
        <p:spPr>
          <a:xfrm>
            <a:off x="895350" y="707335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</a:t>
            </a:r>
            <a:endParaRPr lang="en-US" sz="1650"/>
          </a:p>
        </p:txBody>
      </p:sp>
      <p:sp>
        <p:nvSpPr>
          <p:cNvPr id="124" name="Shape 122"/>
          <p:cNvSpPr/>
          <p:nvPr/>
        </p:nvSpPr>
        <p:spPr>
          <a:xfrm>
            <a:off x="2857500" y="749245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5" name="Text 123"/>
          <p:cNvSpPr/>
          <p:nvPr/>
        </p:nvSpPr>
        <p:spPr>
          <a:xfrm>
            <a:off x="2952750" y="707335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22,4%</a:t>
            </a:r>
            <a:endParaRPr lang="en-US" sz="1725"/>
          </a:p>
        </p:txBody>
      </p:sp>
      <p:sp>
        <p:nvSpPr>
          <p:cNvPr id="126" name="Shape 124"/>
          <p:cNvSpPr/>
          <p:nvPr/>
        </p:nvSpPr>
        <p:spPr>
          <a:xfrm>
            <a:off x="4953000" y="6920954"/>
            <a:ext cx="2095500" cy="581025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7" name="Shape 125"/>
          <p:cNvSpPr/>
          <p:nvPr/>
        </p:nvSpPr>
        <p:spPr>
          <a:xfrm>
            <a:off x="4953000" y="749245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8" name="Text 126"/>
          <p:cNvSpPr/>
          <p:nvPr/>
        </p:nvSpPr>
        <p:spPr>
          <a:xfrm>
            <a:off x="5048250" y="707335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pt-BR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</a:p>
          <a:p>
            <a:pPr marL="0" indent="0" algn="ctr">
              <a:buNone/>
            </a:pPr>
            <a:r>
              <a:rPr lang="pt-BR" sz="6400">
                <a:solidFill>
                  <a:srgbClr val="FF6E08"/>
                </a:solidFill>
                <a:ea typeface="Arial" pitchFamily="34" charset="-122"/>
                <a:cs typeface="Arial" pitchFamily="34" charset="-120"/>
              </a:rPr>
              <a:t>3% / 3% </a:t>
            </a:r>
            <a:br>
              <a:rPr lang="pt-BR" sz="6400">
                <a:solidFill>
                  <a:srgbClr val="FF6E08"/>
                </a:solidFill>
                <a:ea typeface="Arial" pitchFamily="34" charset="-122"/>
                <a:cs typeface="Arial" pitchFamily="34" charset="-120"/>
              </a:rPr>
            </a:br>
            <a:r>
              <a:rPr lang="pt-BR" sz="4400">
                <a:solidFill>
                  <a:srgbClr val="FF6E08"/>
                </a:solidFill>
                <a:ea typeface="Arial" pitchFamily="34" charset="-122"/>
                <a:cs typeface="Arial" pitchFamily="34" charset="-120"/>
              </a:rPr>
              <a:t>(só PPP; sem RTP/tático)</a:t>
            </a:r>
            <a:endParaRPr lang="en-US" sz="4400"/>
          </a:p>
        </p:txBody>
      </p:sp>
      <p:sp>
        <p:nvSpPr>
          <p:cNvPr id="129" name="Shape 127"/>
          <p:cNvSpPr/>
          <p:nvPr/>
        </p:nvSpPr>
        <p:spPr>
          <a:xfrm>
            <a:off x="7048500" y="749245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0" name="Text 128"/>
          <p:cNvSpPr/>
          <p:nvPr/>
        </p:nvSpPr>
        <p:spPr>
          <a:xfrm>
            <a:off x="7143750" y="707335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24,7%</a:t>
            </a:r>
            <a:endParaRPr lang="en-US" sz="1725"/>
          </a:p>
        </p:txBody>
      </p:sp>
      <p:sp>
        <p:nvSpPr>
          <p:cNvPr id="131" name="Shape 129"/>
          <p:cNvSpPr/>
          <p:nvPr/>
        </p:nvSpPr>
        <p:spPr>
          <a:xfrm>
            <a:off x="9144000" y="749245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2" name="Text 130"/>
          <p:cNvSpPr/>
          <p:nvPr/>
        </p:nvSpPr>
        <p:spPr>
          <a:xfrm>
            <a:off x="9239250" y="707335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24,7%</a:t>
            </a:r>
            <a:endParaRPr lang="en-US" sz="1725"/>
          </a:p>
        </p:txBody>
      </p:sp>
      <p:sp>
        <p:nvSpPr>
          <p:cNvPr id="133" name="Shape 131"/>
          <p:cNvSpPr/>
          <p:nvPr/>
        </p:nvSpPr>
        <p:spPr>
          <a:xfrm>
            <a:off x="11239500" y="749245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4" name="Text 132"/>
          <p:cNvSpPr/>
          <p:nvPr/>
        </p:nvSpPr>
        <p:spPr>
          <a:xfrm>
            <a:off x="11334750" y="707335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24,7%</a:t>
            </a:r>
            <a:endParaRPr lang="en-US" sz="1725"/>
          </a:p>
        </p:txBody>
      </p:sp>
      <p:sp>
        <p:nvSpPr>
          <p:cNvPr id="135" name="Shape 133"/>
          <p:cNvSpPr/>
          <p:nvPr/>
        </p:nvSpPr>
        <p:spPr>
          <a:xfrm>
            <a:off x="13335000" y="749245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6" name="Text 134"/>
          <p:cNvSpPr/>
          <p:nvPr/>
        </p:nvSpPr>
        <p:spPr>
          <a:xfrm>
            <a:off x="13430250" y="707335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25,0%</a:t>
            </a:r>
            <a:endParaRPr lang="en-US" sz="1725"/>
          </a:p>
        </p:txBody>
      </p:sp>
      <p:sp>
        <p:nvSpPr>
          <p:cNvPr id="137" name="Shape 135"/>
          <p:cNvSpPr/>
          <p:nvPr/>
        </p:nvSpPr>
        <p:spPr>
          <a:xfrm>
            <a:off x="15430500" y="749245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8" name="Text 136"/>
          <p:cNvSpPr/>
          <p:nvPr/>
        </p:nvSpPr>
        <p:spPr>
          <a:xfrm>
            <a:off x="15525750" y="707335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1725"/>
          </a:p>
        </p:txBody>
      </p:sp>
      <p:sp>
        <p:nvSpPr>
          <p:cNvPr id="140" name="Text 138"/>
          <p:cNvSpPr/>
          <p:nvPr/>
        </p:nvSpPr>
        <p:spPr>
          <a:xfrm>
            <a:off x="762000" y="9591675"/>
            <a:ext cx="1544116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 resultante = 1 − (1 − MB tabela) × (1 − desconto). Índice = esperado ÷ teto. KA fora do escopo dos pilotos; os 5% ao lojista são repassados e não alteram a margem do distribuidor. Margens reais de hoje, medidas: pet shop 27,0–32,0% (média 30,1%) · </a:t>
            </a:r>
            <a:r>
              <a:rPr lang="en-US" sz="1125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</a:t>
            </a:r>
            <a:r>
              <a:rPr lang="en-US" sz="11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23,5–33,8% (média 28,6%) · VD requer base de faturamento por cliente.</a:t>
            </a:r>
            <a:endParaRPr lang="en-US" sz="1125"/>
          </a:p>
        </p:txBody>
      </p:sp>
      <p:sp>
        <p:nvSpPr>
          <p:cNvPr id="149" name="Text 1">
            <a:extLst>
              <a:ext uri="{FF2B5EF4-FFF2-40B4-BE49-F238E27FC236}">
                <a16:creationId xmlns:a16="http://schemas.microsoft.com/office/drawing/2014/main" id="{EEA21FC0-8ED7-4DAD-0C2A-3725236EF4F4}"/>
              </a:ext>
            </a:extLst>
          </p:cNvPr>
          <p:cNvSpPr/>
          <p:nvPr/>
        </p:nvSpPr>
        <p:spPr>
          <a:xfrm>
            <a:off x="758952" y="747356"/>
            <a:ext cx="13368528" cy="511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400" kern="0" spc="-51" err="1" b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Camada</a:t>
            </a:r>
            <a:r>
              <a:rPr lang="en-US" sz="3400" kern="0" spc="-51" b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 1B </a:t>
            </a:r>
            <a:r>
              <a:rPr lang="en-US" sz="3400" b="1" kern="0" spc="-5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| </a:t>
            </a:r>
            <a:r>
              <a:rPr lang="en-US" sz="3400" b="1" kern="0" spc="-51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Margem</a:t>
            </a:r>
            <a:r>
              <a:rPr lang="en-US" sz="3400" b="1" kern="0" spc="-5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 Bruta</a:t>
            </a:r>
            <a:endParaRPr lang="en-US" sz="3400"/>
          </a:p>
        </p:txBody>
      </p:sp>
      <p:pic>
        <p:nvPicPr>
          <p:cNvPr id="5099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100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101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102" name="Número da página"/>
          <p:cNvSpPr txBox="1"/>
          <p:nvPr/>
        </p:nvSpPr>
        <p:spPr>
          <a:xfrm>
            <a:off x="16340328" y="9591675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125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ítulo"/>
          <p:cNvSpPr txBox="1"/>
          <p:nvPr/>
        </p:nvSpPr>
        <p:spPr>
          <a:xfrm>
            <a:off x="758952" y="747356"/>
            <a:ext cx="13368528" cy="620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3400" b="1" kern="0" spc="-5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| Com a nova PC, a dispersão de margem quase some</a:t>
            </a:r>
          </a:p>
        </p:txBody>
      </p:sp>
      <p:sp>
        <p:nvSpPr>
          <p:cNvPr id="102" name="Subtítulo 1"/>
          <p:cNvSpPr txBox="1"/>
          <p:nvPr/>
        </p:nvSpPr>
        <p:spPr>
          <a:xfrm>
            <a:off x="762000" y="1395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Simulação: cada cliente compra na Tabela Nova e aproveita entre 80% e 100% do condicional da política (sorteio por cliente).</a:t>
            </a:r>
          </a:p>
        </p:txBody>
      </p:sp>
      <p:sp>
        <p:nvSpPr>
          <p:cNvPr id="103" name="Subtítulo 2"/>
          <p:cNvSpPr txBox="1"/>
          <p:nvPr/>
        </p:nvSpPr>
        <p:spPr>
          <a:xfrm>
            <a:off x="762000" y="1750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VD, a faixa p10–p90 cai de </a:t>
            </a:r>
            <a:r>
              <a:rPr lang="pt-BR" sz="1800" b="1" dirty="0" i="1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10,1 p.p.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hoje para </a:t>
            </a:r>
            <a:r>
              <a:rPr lang="pt-BR" sz="1800" b="1" dirty="0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 p.p.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no distribuidor, de </a:t>
            </a:r>
            <a:r>
              <a:rPr lang="pt-BR" sz="1800" b="1" dirty="0" i="1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pt-BR" sz="1800" b="1" dirty="0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 p.p.</a:t>
            </a:r>
          </a:p>
        </p:txBody>
      </p:sp>
      <p:sp>
        <p:nvSpPr>
          <p:cNvPr id="5109" name="Card gráfico"/>
          <p:cNvSpPr/>
          <p:nvPr/>
        </p:nvSpPr>
        <p:spPr>
          <a:xfrm>
            <a:off x="762000" y="2420000"/>
            <a:ext cx="10900000" cy="6169811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105" name="Gráfico dispersão por cliente" descr="Dispersão da margem líquida por cliente: só mix vs mix + preço pago, por ca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79" y="2584592"/>
            <a:ext cx="10318442" cy="5840627"/>
          </a:xfrm>
          <a:prstGeom prst="rect">
            <a:avLst/>
          </a:prstGeom>
        </p:spPr>
      </p:pic>
      <p:sp>
        <p:nvSpPr>
          <p:cNvPr id="106" name="Cab. painel"/>
          <p:cNvSpPr txBox="1"/>
          <p:nvPr/>
        </p:nvSpPr>
        <p:spPr>
          <a:xfrm>
            <a:off x="12000000" y="2480000"/>
            <a:ext cx="5526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vs. FUTURO (p10–p90 da margem líquida)</a:t>
            </a:r>
          </a:p>
        </p:txBody>
      </p:sp>
      <p:sp>
        <p:nvSpPr>
          <p:cNvPr id="107" name="Tab fundo"/>
          <p:cNvSpPr/>
          <p:nvPr/>
        </p:nvSpPr>
        <p:spPr>
          <a:xfrm>
            <a:off x="12000000" y="2850000"/>
            <a:ext cx="5526000" cy="4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08" name="Linha cabeçalho"/>
          <p:cNvSpPr/>
          <p:nvPr/>
        </p:nvSpPr>
        <p:spPr>
          <a:xfrm>
            <a:off x="12000000" y="3240856"/>
            <a:ext cx="5526000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8" name="Tab cel"/>
          <p:cNvSpPr txBox="1"/>
          <p:nvPr/>
        </p:nvSpPr>
        <p:spPr>
          <a:xfrm>
            <a:off x="12080000" y="2850000"/>
            <a:ext cx="123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</a:t>
            </a:r>
          </a:p>
        </p:txBody>
      </p:sp>
      <p:sp>
        <p:nvSpPr>
          <p:cNvPr id="109" name="Tab cel"/>
          <p:cNvSpPr txBox="1"/>
          <p:nvPr/>
        </p:nvSpPr>
        <p:spPr>
          <a:xfrm>
            <a:off x="13430000" y="28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</a:p>
        </p:txBody>
      </p:sp>
      <p:sp>
        <p:nvSpPr>
          <p:cNvPr id="110" name="Tab cel"/>
          <p:cNvSpPr txBox="1"/>
          <p:nvPr/>
        </p:nvSpPr>
        <p:spPr>
          <a:xfrm>
            <a:off x="14430000" y="28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Futuro</a:t>
            </a:r>
          </a:p>
        </p:txBody>
      </p:sp>
      <p:sp>
        <p:nvSpPr>
          <p:cNvPr id="111" name="Tab cel"/>
          <p:cNvSpPr txBox="1"/>
          <p:nvPr/>
        </p:nvSpPr>
        <p:spPr>
          <a:xfrm>
            <a:off x="15430000" y="2850000"/>
            <a:ext cx="9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mediana futura</a:t>
            </a:r>
          </a:p>
        </p:txBody>
      </p:sp>
      <p:sp>
        <p:nvSpPr>
          <p:cNvPr id="112" name="Tab cel"/>
          <p:cNvSpPr txBox="1"/>
          <p:nvPr/>
        </p:nvSpPr>
        <p:spPr>
          <a:xfrm>
            <a:off x="16530000" y="2850000"/>
            <a:ext cx="956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fora de ±3 p.p.</a:t>
            </a:r>
          </a:p>
        </p:txBody>
      </p:sp>
      <p:sp>
        <p:nvSpPr>
          <p:cNvPr id="113" name="Tab fundo"/>
          <p:cNvSpPr/>
          <p:nvPr/>
        </p:nvSpPr>
        <p:spPr>
          <a:xfrm>
            <a:off x="12000000" y="3250000"/>
            <a:ext cx="5526000" cy="400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4" name="Tab cel"/>
          <p:cNvSpPr txBox="1"/>
          <p:nvPr/>
        </p:nvSpPr>
        <p:spPr>
          <a:xfrm>
            <a:off x="12080000" y="3250000"/>
            <a:ext cx="123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</a:p>
        </p:txBody>
      </p:sp>
      <p:sp>
        <p:nvSpPr>
          <p:cNvPr id="115" name="Tab cel"/>
          <p:cNvSpPr txBox="1"/>
          <p:nvPr/>
        </p:nvSpPr>
        <p:spPr>
          <a:xfrm>
            <a:off x="13430000" y="32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10,1 p.p.</a:t>
            </a:r>
          </a:p>
        </p:txBody>
      </p:sp>
      <p:sp>
        <p:nvSpPr>
          <p:cNvPr id="116" name="Tab cel"/>
          <p:cNvSpPr txBox="1"/>
          <p:nvPr/>
        </p:nvSpPr>
        <p:spPr>
          <a:xfrm>
            <a:off x="14430000" y="32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 p.p.</a:t>
            </a:r>
          </a:p>
        </p:txBody>
      </p:sp>
      <p:sp>
        <p:nvSpPr>
          <p:cNvPr id="117" name="Tab cel"/>
          <p:cNvSpPr txBox="1"/>
          <p:nvPr/>
        </p:nvSpPr>
        <p:spPr>
          <a:xfrm>
            <a:off x="15430000" y="3250000"/>
            <a:ext cx="9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29,9%</a:t>
            </a:r>
          </a:p>
        </p:txBody>
      </p:sp>
      <p:sp>
        <p:nvSpPr>
          <p:cNvPr id="118" name="Tab cel"/>
          <p:cNvSpPr txBox="1"/>
          <p:nvPr/>
        </p:nvSpPr>
        <p:spPr>
          <a:xfrm>
            <a:off x="16530000" y="3250000"/>
            <a:ext cx="956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→ 0%</a:t>
            </a:r>
          </a:p>
        </p:txBody>
      </p:sp>
      <p:sp>
        <p:nvSpPr>
          <p:cNvPr id="119" name="Tab fundo"/>
          <p:cNvSpPr/>
          <p:nvPr/>
        </p:nvSpPr>
        <p:spPr>
          <a:xfrm>
            <a:off x="12000000" y="3650000"/>
            <a:ext cx="5526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0" name="Tab cel"/>
          <p:cNvSpPr txBox="1"/>
          <p:nvPr/>
        </p:nvSpPr>
        <p:spPr>
          <a:xfrm>
            <a:off x="12080000" y="3650000"/>
            <a:ext cx="123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</a:t>
            </a:r>
          </a:p>
        </p:txBody>
      </p:sp>
      <p:sp>
        <p:nvSpPr>
          <p:cNvPr id="121" name="Tab cel"/>
          <p:cNvSpPr txBox="1"/>
          <p:nvPr/>
        </p:nvSpPr>
        <p:spPr>
          <a:xfrm>
            <a:off x="13430000" y="36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 p.p.</a:t>
            </a:r>
          </a:p>
        </p:txBody>
      </p:sp>
      <p:sp>
        <p:nvSpPr>
          <p:cNvPr id="122" name="Tab cel"/>
          <p:cNvSpPr txBox="1"/>
          <p:nvPr/>
        </p:nvSpPr>
        <p:spPr>
          <a:xfrm>
            <a:off x="14430000" y="36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 p.p.</a:t>
            </a:r>
          </a:p>
        </p:txBody>
      </p:sp>
      <p:sp>
        <p:nvSpPr>
          <p:cNvPr id="123" name="Tab cel"/>
          <p:cNvSpPr txBox="1"/>
          <p:nvPr/>
        </p:nvSpPr>
        <p:spPr>
          <a:xfrm>
            <a:off x="15430000" y="3650000"/>
            <a:ext cx="9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19,6%</a:t>
            </a:r>
          </a:p>
        </p:txBody>
      </p:sp>
      <p:sp>
        <p:nvSpPr>
          <p:cNvPr id="124" name="Tab cel"/>
          <p:cNvSpPr txBox="1"/>
          <p:nvPr/>
        </p:nvSpPr>
        <p:spPr>
          <a:xfrm>
            <a:off x="16530000" y="3650000"/>
            <a:ext cx="956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→ 0%</a:t>
            </a:r>
          </a:p>
        </p:txBody>
      </p:sp>
      <p:sp>
        <p:nvSpPr>
          <p:cNvPr id="125" name="Card"/>
          <p:cNvSpPr/>
          <p:nvPr/>
        </p:nvSpPr>
        <p:spPr>
          <a:xfrm>
            <a:off x="12000000" y="4200000"/>
            <a:ext cx="5526000" cy="2135000"/>
          </a:xfrm>
          <a:prstGeom prst="roundRect">
            <a:avLst>
              <a:gd name="adj" fmla="val 513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6" name="Card texto"/>
          <p:cNvSpPr txBox="1"/>
          <p:nvPr/>
        </p:nvSpPr>
        <p:spPr>
          <a:xfrm>
            <a:off x="12200000" y="4350000"/>
            <a:ext cx="5126000" cy="188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sobra de diferença é desejado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1,5 p.p. restantes no VD vêm do mix (~1,4 p.p.) e do aproveitamento da política (~1,2 p.p. entre 80% e 100%): os dois são escolhas do cliente, não da negociação de preço.</a:t>
            </a:r>
          </a:p>
        </p:txBody>
      </p:sp>
      <p:sp>
        <p:nvSpPr>
          <p:cNvPr id="127" name="Card"/>
          <p:cNvSpPr/>
          <p:nvPr/>
        </p:nvSpPr>
        <p:spPr>
          <a:xfrm>
            <a:off x="12000000" y="6455000"/>
            <a:ext cx="5526000" cy="2135000"/>
          </a:xfrm>
          <a:prstGeom prst="roundRect">
            <a:avLst>
              <a:gd name="adj" fmla="val 5139"/>
            </a:avLst>
          </a:prstGeom>
          <a:solidFill>
            <a:srgbClr val="FFF4E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8" name="Card texto"/>
          <p:cNvSpPr txBox="1"/>
          <p:nvPr/>
        </p:nvSpPr>
        <p:spPr>
          <a:xfrm>
            <a:off x="12200000" y="6605000"/>
            <a:ext cx="5126000" cy="188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Condição: preço = tabela + política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resultado só se mantém se não houver desconto fora da PC. Cada exceção reabre a dispersão; por isso a governança e as alçadas (Frente 4) são parte da solução.</a:t>
            </a:r>
          </a:p>
        </p:txBody>
      </p:sp>
      <p:sp>
        <p:nvSpPr>
          <p:cNvPr id="130" name="Rodapé"/>
          <p:cNvSpPr txBox="1"/>
          <p:nvPr/>
        </p:nvSpPr>
        <p:spPr>
          <a:xfrm>
            <a:off x="762000" y="9740000"/>
            <a:ext cx="15441168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sobre o sell-in jan–mai/26 (mesmos clientes do slide de dispersão). Futuro: ML do mix na tabela 26/05 + condicional × aproveitamento (VD: até 8% na régua G, RTP 3% com 30% repassado; distribuidor: PPP 3%); aproveitamento sorteado entre 80% e 100% por cliente. KA fora do escopo dos pilotos (hoje já 0,9 p.p.). Hoje: mix + preço pago, centrado na mediana.</a:t>
            </a:r>
          </a:p>
        </p:txBody>
      </p:sp>
      <p:pic>
        <p:nvPicPr>
          <p:cNvPr id="5104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105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106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107" name="Número da página"/>
          <p:cNvSpPr txBox="1"/>
          <p:nvPr/>
        </p:nvSpPr>
        <p:spPr>
          <a:xfrm>
            <a:off x="16340328" y="974000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ítulo"/>
          <p:cNvSpPr txBox="1"/>
          <p:nvPr/>
        </p:nvSpPr>
        <p:spPr>
          <a:xfrm>
            <a:off x="758952" y="747356"/>
            <a:ext cx="13368528" cy="620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3950" b="1" kern="0" spc="-59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por cluster | Dispersão cai em todos os tiers</a:t>
            </a:r>
          </a:p>
        </p:txBody>
      </p:sp>
      <p:sp>
        <p:nvSpPr>
          <p:cNvPr id="102" name="Subtítulo 1"/>
          <p:cNvSpPr txBox="1"/>
          <p:nvPr/>
        </p:nvSpPr>
        <p:spPr>
          <a:xfrm>
            <a:off x="762000" y="1395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por cluster: Tabela Nova do cluster + condicional da política do cluster, com aproveitamento de 80% a 100% por cliente.</a:t>
            </a:r>
          </a:p>
        </p:txBody>
      </p:sp>
      <p:sp>
        <p:nvSpPr>
          <p:cNvPr id="103" name="Subtítulo 2"/>
          <p:cNvSpPr txBox="1"/>
          <p:nvPr/>
        </p:nvSpPr>
        <p:spPr>
          <a:xfrm>
            <a:off x="762000" y="1750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a faixa p10–p90 vai de </a:t>
            </a:r>
            <a:r>
              <a:rPr lang="pt-BR" sz="1800" b="1" dirty="0" i="1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 a 10,7 p.p.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no futuro fica entre </a:t>
            </a:r>
            <a:r>
              <a:rPr lang="pt-BR" sz="1800" b="1" dirty="0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 e 1,8 p.p.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todos os clusters.</a:t>
            </a:r>
          </a:p>
        </p:txBody>
      </p:sp>
      <p:sp>
        <p:nvSpPr>
          <p:cNvPr id="5115" name="Card gráfico"/>
          <p:cNvSpPr/>
          <p:nvPr/>
        </p:nvSpPr>
        <p:spPr>
          <a:xfrm>
            <a:off x="762000" y="2420000"/>
            <a:ext cx="10900000" cy="6581132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105" name="Gráfico dispersão por cliente" descr="Dispersão da margem líquida por cliente: só mix vs mix + preço pago, por ca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606" y="2584592"/>
            <a:ext cx="10354789" cy="6251948"/>
          </a:xfrm>
          <a:prstGeom prst="rect">
            <a:avLst/>
          </a:prstGeom>
        </p:spPr>
      </p:pic>
      <p:sp>
        <p:nvSpPr>
          <p:cNvPr id="106" name="Cab. painel"/>
          <p:cNvSpPr txBox="1"/>
          <p:nvPr/>
        </p:nvSpPr>
        <p:spPr>
          <a:xfrm>
            <a:off x="12000000" y="2480000"/>
            <a:ext cx="5526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vs. FUTURO POR CLUSTER (p10–p90)</a:t>
            </a:r>
          </a:p>
        </p:txBody>
      </p:sp>
      <p:sp>
        <p:nvSpPr>
          <p:cNvPr id="107" name="Tab fundo"/>
          <p:cNvSpPr/>
          <p:nvPr/>
        </p:nvSpPr>
        <p:spPr>
          <a:xfrm>
            <a:off x="12000000" y="2850000"/>
            <a:ext cx="5526000" cy="4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14" name="Linha cabeçalho"/>
          <p:cNvSpPr/>
          <p:nvPr/>
        </p:nvSpPr>
        <p:spPr>
          <a:xfrm>
            <a:off x="12000000" y="3240856"/>
            <a:ext cx="5526000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8" name="Tab cel"/>
          <p:cNvSpPr txBox="1"/>
          <p:nvPr/>
        </p:nvSpPr>
        <p:spPr>
          <a:xfrm>
            <a:off x="12080000" y="2850000"/>
            <a:ext cx="123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</a:p>
        </p:txBody>
      </p:sp>
      <p:sp>
        <p:nvSpPr>
          <p:cNvPr id="109" name="Tab cel"/>
          <p:cNvSpPr txBox="1"/>
          <p:nvPr/>
        </p:nvSpPr>
        <p:spPr>
          <a:xfrm>
            <a:off x="13430000" y="28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</a:p>
        </p:txBody>
      </p:sp>
      <p:sp>
        <p:nvSpPr>
          <p:cNvPr id="110" name="Tab cel"/>
          <p:cNvSpPr txBox="1"/>
          <p:nvPr/>
        </p:nvSpPr>
        <p:spPr>
          <a:xfrm>
            <a:off x="14430000" y="28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Futuro</a:t>
            </a:r>
          </a:p>
        </p:txBody>
      </p:sp>
      <p:sp>
        <p:nvSpPr>
          <p:cNvPr id="111" name="Tab cel"/>
          <p:cNvSpPr txBox="1"/>
          <p:nvPr/>
        </p:nvSpPr>
        <p:spPr>
          <a:xfrm>
            <a:off x="15430000" y="2850000"/>
            <a:ext cx="9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mediana futura</a:t>
            </a:r>
          </a:p>
        </p:txBody>
      </p:sp>
      <p:sp>
        <p:nvSpPr>
          <p:cNvPr id="112" name="Tab cel"/>
          <p:cNvSpPr txBox="1"/>
          <p:nvPr/>
        </p:nvSpPr>
        <p:spPr>
          <a:xfrm>
            <a:off x="16530000" y="2850000"/>
            <a:ext cx="956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de ±3 p.p.</a:t>
            </a:r>
          </a:p>
        </p:txBody>
      </p:sp>
      <p:sp>
        <p:nvSpPr>
          <p:cNvPr id="113" name="Tab fundo"/>
          <p:cNvSpPr/>
          <p:nvPr/>
        </p:nvSpPr>
        <p:spPr>
          <a:xfrm>
            <a:off x="12000000" y="3250000"/>
            <a:ext cx="5526000" cy="400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4" name="Tab cel"/>
          <p:cNvSpPr txBox="1"/>
          <p:nvPr/>
        </p:nvSpPr>
        <p:spPr>
          <a:xfrm>
            <a:off x="12080000" y="3250000"/>
            <a:ext cx="123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GG/GG</a:t>
            </a:r>
          </a:p>
        </p:txBody>
      </p:sp>
      <p:sp>
        <p:nvSpPr>
          <p:cNvPr id="115" name="Tab cel"/>
          <p:cNvSpPr txBox="1"/>
          <p:nvPr/>
        </p:nvSpPr>
        <p:spPr>
          <a:xfrm>
            <a:off x="13430000" y="32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 p.p.</a:t>
            </a:r>
          </a:p>
        </p:txBody>
      </p:sp>
      <p:sp>
        <p:nvSpPr>
          <p:cNvPr id="116" name="Tab cel"/>
          <p:cNvSpPr txBox="1"/>
          <p:nvPr/>
        </p:nvSpPr>
        <p:spPr>
          <a:xfrm>
            <a:off x="14430000" y="32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 p.p.</a:t>
            </a:r>
          </a:p>
        </p:txBody>
      </p:sp>
      <p:sp>
        <p:nvSpPr>
          <p:cNvPr id="117" name="Tab cel"/>
          <p:cNvSpPr txBox="1"/>
          <p:nvPr/>
        </p:nvSpPr>
        <p:spPr>
          <a:xfrm>
            <a:off x="15430000" y="3250000"/>
            <a:ext cx="9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</a:p>
        </p:txBody>
      </p:sp>
      <p:sp>
        <p:nvSpPr>
          <p:cNvPr id="118" name="Tab cel"/>
          <p:cNvSpPr txBox="1"/>
          <p:nvPr/>
        </p:nvSpPr>
        <p:spPr>
          <a:xfrm>
            <a:off x="16530000" y="3250000"/>
            <a:ext cx="956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 → 0%</a:t>
            </a:r>
          </a:p>
        </p:txBody>
      </p:sp>
      <p:sp>
        <p:nvSpPr>
          <p:cNvPr id="119" name="Tab fundo"/>
          <p:cNvSpPr/>
          <p:nvPr/>
        </p:nvSpPr>
        <p:spPr>
          <a:xfrm>
            <a:off x="12000000" y="3650000"/>
            <a:ext cx="5526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0" name="Tab cel"/>
          <p:cNvSpPr txBox="1"/>
          <p:nvPr/>
        </p:nvSpPr>
        <p:spPr>
          <a:xfrm>
            <a:off x="12080000" y="3650000"/>
            <a:ext cx="123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</a:p>
        </p:txBody>
      </p:sp>
      <p:sp>
        <p:nvSpPr>
          <p:cNvPr id="121" name="Tab cel"/>
          <p:cNvSpPr txBox="1"/>
          <p:nvPr/>
        </p:nvSpPr>
        <p:spPr>
          <a:xfrm>
            <a:off x="13430000" y="36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 p.p.</a:t>
            </a:r>
          </a:p>
        </p:txBody>
      </p:sp>
      <p:sp>
        <p:nvSpPr>
          <p:cNvPr id="122" name="Tab cel"/>
          <p:cNvSpPr txBox="1"/>
          <p:nvPr/>
        </p:nvSpPr>
        <p:spPr>
          <a:xfrm>
            <a:off x="14430000" y="36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 p.p.</a:t>
            </a:r>
          </a:p>
        </p:txBody>
      </p:sp>
      <p:sp>
        <p:nvSpPr>
          <p:cNvPr id="123" name="Tab cel"/>
          <p:cNvSpPr txBox="1"/>
          <p:nvPr/>
        </p:nvSpPr>
        <p:spPr>
          <a:xfrm>
            <a:off x="15430000" y="3650000"/>
            <a:ext cx="9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29,9%</a:t>
            </a:r>
          </a:p>
        </p:txBody>
      </p:sp>
      <p:sp>
        <p:nvSpPr>
          <p:cNvPr id="124" name="Tab cel"/>
          <p:cNvSpPr txBox="1"/>
          <p:nvPr/>
        </p:nvSpPr>
        <p:spPr>
          <a:xfrm>
            <a:off x="16530000" y="3650000"/>
            <a:ext cx="956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 → 0%</a:t>
            </a:r>
          </a:p>
        </p:txBody>
      </p:sp>
      <p:sp>
        <p:nvSpPr>
          <p:cNvPr id="125" name="Tab fundo"/>
          <p:cNvSpPr/>
          <p:nvPr/>
        </p:nvSpPr>
        <p:spPr>
          <a:xfrm>
            <a:off x="12000000" y="4050000"/>
            <a:ext cx="5526000" cy="400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6" name="Tab cel"/>
          <p:cNvSpPr txBox="1"/>
          <p:nvPr/>
        </p:nvSpPr>
        <p:spPr>
          <a:xfrm>
            <a:off x="12080000" y="4050000"/>
            <a:ext cx="123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</a:p>
        </p:txBody>
      </p:sp>
      <p:sp>
        <p:nvSpPr>
          <p:cNvPr id="127" name="Tab cel"/>
          <p:cNvSpPr txBox="1"/>
          <p:nvPr/>
        </p:nvSpPr>
        <p:spPr>
          <a:xfrm>
            <a:off x="13430000" y="40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 p.p.</a:t>
            </a:r>
          </a:p>
        </p:txBody>
      </p:sp>
      <p:sp>
        <p:nvSpPr>
          <p:cNvPr id="128" name="Tab cel"/>
          <p:cNvSpPr txBox="1"/>
          <p:nvPr/>
        </p:nvSpPr>
        <p:spPr>
          <a:xfrm>
            <a:off x="14430000" y="40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 p.p.</a:t>
            </a:r>
          </a:p>
        </p:txBody>
      </p:sp>
      <p:sp>
        <p:nvSpPr>
          <p:cNvPr id="129" name="Tab cel"/>
          <p:cNvSpPr txBox="1"/>
          <p:nvPr/>
        </p:nvSpPr>
        <p:spPr>
          <a:xfrm>
            <a:off x="15430000" y="4050000"/>
            <a:ext cx="9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28,5%</a:t>
            </a:r>
          </a:p>
        </p:txBody>
      </p:sp>
      <p:sp>
        <p:nvSpPr>
          <p:cNvPr id="130" name="Tab cel"/>
          <p:cNvSpPr txBox="1"/>
          <p:nvPr/>
        </p:nvSpPr>
        <p:spPr>
          <a:xfrm>
            <a:off x="16530000" y="4050000"/>
            <a:ext cx="956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 → 0%</a:t>
            </a:r>
          </a:p>
        </p:txBody>
      </p:sp>
      <p:sp>
        <p:nvSpPr>
          <p:cNvPr id="131" name="Tab fundo"/>
          <p:cNvSpPr/>
          <p:nvPr/>
        </p:nvSpPr>
        <p:spPr>
          <a:xfrm>
            <a:off x="12000000" y="4450000"/>
            <a:ext cx="5526000" cy="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2" name="Tab cel"/>
          <p:cNvSpPr txBox="1"/>
          <p:nvPr/>
        </p:nvSpPr>
        <p:spPr>
          <a:xfrm>
            <a:off x="12080000" y="4450000"/>
            <a:ext cx="123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</a:p>
        </p:txBody>
      </p:sp>
      <p:sp>
        <p:nvSpPr>
          <p:cNvPr id="133" name="Tab cel"/>
          <p:cNvSpPr txBox="1"/>
          <p:nvPr/>
        </p:nvSpPr>
        <p:spPr>
          <a:xfrm>
            <a:off x="13430000" y="44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10,7 p.p.</a:t>
            </a:r>
          </a:p>
        </p:txBody>
      </p:sp>
      <p:sp>
        <p:nvSpPr>
          <p:cNvPr id="134" name="Tab cel"/>
          <p:cNvSpPr txBox="1"/>
          <p:nvPr/>
        </p:nvSpPr>
        <p:spPr>
          <a:xfrm>
            <a:off x="14430000" y="4450000"/>
            <a:ext cx="8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 p.p.</a:t>
            </a:r>
          </a:p>
        </p:txBody>
      </p:sp>
      <p:sp>
        <p:nvSpPr>
          <p:cNvPr id="135" name="Tab cel"/>
          <p:cNvSpPr txBox="1"/>
          <p:nvPr/>
        </p:nvSpPr>
        <p:spPr>
          <a:xfrm>
            <a:off x="15430000" y="4450000"/>
            <a:ext cx="9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26,2%</a:t>
            </a:r>
          </a:p>
        </p:txBody>
      </p:sp>
      <p:sp>
        <p:nvSpPr>
          <p:cNvPr id="136" name="Tab cel"/>
          <p:cNvSpPr txBox="1"/>
          <p:nvPr/>
        </p:nvSpPr>
        <p:spPr>
          <a:xfrm>
            <a:off x="16530000" y="4450000"/>
            <a:ext cx="956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 → 0%</a:t>
            </a:r>
          </a:p>
        </p:txBody>
      </p:sp>
      <p:sp>
        <p:nvSpPr>
          <p:cNvPr id="137" name="Card"/>
          <p:cNvSpPr/>
          <p:nvPr/>
        </p:nvSpPr>
        <p:spPr>
          <a:xfrm>
            <a:off x="12000000" y="5000000"/>
            <a:ext cx="5526000" cy="1735000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8" name="Card texto"/>
          <p:cNvSpPr txBox="1"/>
          <p:nvPr/>
        </p:nvSpPr>
        <p:spPr>
          <a:xfrm>
            <a:off x="12200000" y="5150000"/>
            <a:ext cx="5126000" cy="148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degrau entre clusters vira regra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margem típica futura sobe com o tamanho do cliente (26,2% no P → 30,0% no Super GG/GG). Essa diferença é a remuneração do papel de cada tier, definida pela política, e não pela negociação.</a:t>
            </a:r>
          </a:p>
        </p:txBody>
      </p:sp>
      <p:sp>
        <p:nvSpPr>
          <p:cNvPr id="139" name="Card"/>
          <p:cNvSpPr/>
          <p:nvPr/>
        </p:nvSpPr>
        <p:spPr>
          <a:xfrm>
            <a:off x="12000000" y="6855000"/>
            <a:ext cx="5526000" cy="1735000"/>
          </a:xfrm>
          <a:prstGeom prst="roundRect">
            <a:avLst>
              <a:gd name="adj" fmla="val 6324"/>
            </a:avLst>
          </a:prstGeom>
          <a:solidFill>
            <a:srgbClr val="FFF4E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0" name="Card texto"/>
          <p:cNvSpPr txBox="1"/>
          <p:nvPr/>
        </p:nvSpPr>
        <p:spPr>
          <a:xfrm>
            <a:off x="12200000" y="7005000"/>
            <a:ext cx="5126000" cy="148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condição do fechamento geral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com preço = tabela + política. Desconto fora da PC reabre a dispersão dentro do cluster.</a:t>
            </a:r>
          </a:p>
        </p:txBody>
      </p:sp>
      <p:sp>
        <p:nvSpPr>
          <p:cNvPr id="142" name="Rodapé"/>
          <p:cNvSpPr txBox="1"/>
          <p:nvPr/>
        </p:nvSpPr>
        <p:spPr>
          <a:xfrm>
            <a:off x="762000" y="9740000"/>
            <a:ext cx="15441168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sobre o sell-in jan–mai/26 × Lista de Clientes VD 2026 (receita &gt; R$ 10 mil). Futuro: ML do mix na tabela 26/05 do cluster + condicional × aproveitamento sorteado entre 80% e 100% (Super GG/GG e G 8%, M 6%, P 4%; RTP 3% com 30% repassado). Hoje: mix + preço pago, centrado na mediana do cluster.</a:t>
            </a:r>
          </a:p>
        </p:txBody>
      </p:sp>
      <p:pic>
        <p:nvPicPr>
          <p:cNvPr id="5110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111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112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113" name="Número da página"/>
          <p:cNvSpPr txBox="1"/>
          <p:nvPr/>
        </p:nvSpPr>
        <p:spPr>
          <a:xfrm>
            <a:off x="16340328" y="974000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ítulo"/>
          <p:cNvSpPr txBox="1"/>
          <p:nvPr/>
        </p:nvSpPr>
        <p:spPr>
          <a:xfrm>
            <a:off x="758952" y="747356"/>
            <a:ext cx="13368528" cy="620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3750" b="1" kern="0" spc="-56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cliente | Todo o varejo fica entre 90% e 100% do teto</a:t>
            </a:r>
          </a:p>
        </p:txBody>
      </p:sp>
      <p:sp>
        <p:nvSpPr>
          <p:cNvPr id="102" name="Subtítulo 1"/>
          <p:cNvSpPr txBox="1"/>
          <p:nvPr/>
        </p:nvSpPr>
        <p:spPr>
          <a:xfrm>
            <a:off x="762000" y="1395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bruta do cliente ÷ teto recomendado, com o preço ao shopper igual ao de hoje (o cliente retém o RTP).</a:t>
            </a:r>
          </a:p>
        </p:txBody>
      </p:sp>
      <p:sp>
        <p:nvSpPr>
          <p:cNvPr id="103" name="Subtítulo 2"/>
          <p:cNvSpPr txBox="1"/>
          <p:nvPr/>
        </p:nvSpPr>
        <p:spPr>
          <a:xfrm>
            <a:off x="762000" y="1750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VD a margem cai até </a:t>
            </a:r>
            <a:r>
              <a:rPr lang="pt-BR" sz="1800" b="1" dirty="0" i="1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p.p.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(Super GG/GG), mas todo cluster fica entre </a:t>
            </a:r>
            <a:r>
              <a:rPr lang="pt-BR" sz="1800" b="1" dirty="0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 e 101% do teto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pet shop sobe de 88% para 101%.</a:t>
            </a:r>
          </a:p>
        </p:txBody>
      </p:sp>
      <p:sp>
        <p:nvSpPr>
          <p:cNvPr id="5121" name="Card gráfico"/>
          <p:cNvSpPr/>
          <p:nvPr/>
        </p:nvSpPr>
        <p:spPr>
          <a:xfrm>
            <a:off x="762000" y="2420000"/>
            <a:ext cx="10900000" cy="6288461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105" name="Gráfico dispersão por cliente" descr="Dispersão da margem líquida por cliente: só mix vs mix + preço pago, por ca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93" y="2584592"/>
            <a:ext cx="10329414" cy="5959277"/>
          </a:xfrm>
          <a:prstGeom prst="rect">
            <a:avLst/>
          </a:prstGeom>
        </p:spPr>
      </p:pic>
      <p:sp>
        <p:nvSpPr>
          <p:cNvPr id="106" name="Cab. painel"/>
          <p:cNvSpPr txBox="1"/>
          <p:nvPr/>
        </p:nvSpPr>
        <p:spPr>
          <a:xfrm>
            <a:off x="12000000" y="2480000"/>
            <a:ext cx="5526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BRUTA DO CLIENTE (%)</a:t>
            </a:r>
          </a:p>
        </p:txBody>
      </p:sp>
      <p:sp>
        <p:nvSpPr>
          <p:cNvPr id="107" name="Tab fundo"/>
          <p:cNvSpPr/>
          <p:nvPr/>
        </p:nvSpPr>
        <p:spPr>
          <a:xfrm>
            <a:off x="12000000" y="2850000"/>
            <a:ext cx="5526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20" name="Linha cabeçalho"/>
          <p:cNvSpPr/>
          <p:nvPr/>
        </p:nvSpPr>
        <p:spPr>
          <a:xfrm>
            <a:off x="12000000" y="3220856"/>
            <a:ext cx="5526000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8" name="Tab cel"/>
          <p:cNvSpPr txBox="1"/>
          <p:nvPr/>
        </p:nvSpPr>
        <p:spPr>
          <a:xfrm>
            <a:off x="12080000" y="2850000"/>
            <a:ext cx="12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</a:p>
        </p:txBody>
      </p:sp>
      <p:sp>
        <p:nvSpPr>
          <p:cNvPr id="109" name="Tab cel"/>
          <p:cNvSpPr txBox="1"/>
          <p:nvPr/>
        </p:nvSpPr>
        <p:spPr>
          <a:xfrm>
            <a:off x="13430000" y="285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</a:p>
        </p:txBody>
      </p:sp>
      <p:sp>
        <p:nvSpPr>
          <p:cNvPr id="110" name="Tab cel"/>
          <p:cNvSpPr txBox="1"/>
          <p:nvPr/>
        </p:nvSpPr>
        <p:spPr>
          <a:xfrm>
            <a:off x="14430000" y="285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100%</a:t>
            </a:r>
          </a:p>
        </p:txBody>
      </p:sp>
      <p:sp>
        <p:nvSpPr>
          <p:cNvPr id="111" name="Tab cel"/>
          <p:cNvSpPr txBox="1"/>
          <p:nvPr/>
        </p:nvSpPr>
        <p:spPr>
          <a:xfrm>
            <a:off x="15430000" y="285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80%</a:t>
            </a:r>
          </a:p>
        </p:txBody>
      </p:sp>
      <p:sp>
        <p:nvSpPr>
          <p:cNvPr id="112" name="Tab cel"/>
          <p:cNvSpPr txBox="1"/>
          <p:nvPr/>
        </p:nvSpPr>
        <p:spPr>
          <a:xfrm>
            <a:off x="16530000" y="2850000"/>
            <a:ext cx="9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Teto</a:t>
            </a:r>
          </a:p>
        </p:txBody>
      </p:sp>
      <p:sp>
        <p:nvSpPr>
          <p:cNvPr id="113" name="Tab fundo"/>
          <p:cNvSpPr/>
          <p:nvPr/>
        </p:nvSpPr>
        <p:spPr>
          <a:xfrm>
            <a:off x="12000000" y="3230000"/>
            <a:ext cx="5526000" cy="380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4" name="Tab cel"/>
          <p:cNvSpPr txBox="1"/>
          <p:nvPr/>
        </p:nvSpPr>
        <p:spPr>
          <a:xfrm>
            <a:off x="12080000" y="3230000"/>
            <a:ext cx="12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GG/GG</a:t>
            </a:r>
          </a:p>
        </p:txBody>
      </p:sp>
      <p:sp>
        <p:nvSpPr>
          <p:cNvPr id="115" name="Tab cel"/>
          <p:cNvSpPr txBox="1"/>
          <p:nvPr/>
        </p:nvSpPr>
        <p:spPr>
          <a:xfrm>
            <a:off x="13430000" y="323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37,2</a:t>
            </a:r>
          </a:p>
        </p:txBody>
      </p:sp>
      <p:sp>
        <p:nvSpPr>
          <p:cNvPr id="116" name="Tab cel"/>
          <p:cNvSpPr txBox="1"/>
          <p:nvPr/>
        </p:nvSpPr>
        <p:spPr>
          <a:xfrm>
            <a:off x="14430000" y="323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35,6</a:t>
            </a:r>
          </a:p>
        </p:txBody>
      </p:sp>
      <p:sp>
        <p:nvSpPr>
          <p:cNvPr id="117" name="Tab cel"/>
          <p:cNvSpPr txBox="1"/>
          <p:nvPr/>
        </p:nvSpPr>
        <p:spPr>
          <a:xfrm>
            <a:off x="15430000" y="323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34,4</a:t>
            </a:r>
          </a:p>
        </p:txBody>
      </p:sp>
      <p:sp>
        <p:nvSpPr>
          <p:cNvPr id="118" name="Tab cel"/>
          <p:cNvSpPr txBox="1"/>
          <p:nvPr/>
        </p:nvSpPr>
        <p:spPr>
          <a:xfrm>
            <a:off x="16530000" y="3230000"/>
            <a:ext cx="9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</a:t>
            </a:r>
          </a:p>
        </p:txBody>
      </p:sp>
      <p:sp>
        <p:nvSpPr>
          <p:cNvPr id="119" name="Tab fundo"/>
          <p:cNvSpPr/>
          <p:nvPr/>
        </p:nvSpPr>
        <p:spPr>
          <a:xfrm>
            <a:off x="12000000" y="3610000"/>
            <a:ext cx="5526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0" name="Tab cel"/>
          <p:cNvSpPr txBox="1"/>
          <p:nvPr/>
        </p:nvSpPr>
        <p:spPr>
          <a:xfrm>
            <a:off x="12080000" y="3610000"/>
            <a:ext cx="12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</a:p>
        </p:txBody>
      </p:sp>
      <p:sp>
        <p:nvSpPr>
          <p:cNvPr id="121" name="Tab cel"/>
          <p:cNvSpPr txBox="1"/>
          <p:nvPr/>
        </p:nvSpPr>
        <p:spPr>
          <a:xfrm>
            <a:off x="13430000" y="361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35,5</a:t>
            </a:r>
          </a:p>
        </p:txBody>
      </p:sp>
      <p:sp>
        <p:nvSpPr>
          <p:cNvPr id="122" name="Tab cel"/>
          <p:cNvSpPr txBox="1"/>
          <p:nvPr/>
        </p:nvSpPr>
        <p:spPr>
          <a:xfrm>
            <a:off x="14430000" y="361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35,4</a:t>
            </a:r>
          </a:p>
        </p:txBody>
      </p:sp>
      <p:sp>
        <p:nvSpPr>
          <p:cNvPr id="123" name="Tab cel"/>
          <p:cNvSpPr txBox="1"/>
          <p:nvPr/>
        </p:nvSpPr>
        <p:spPr>
          <a:xfrm>
            <a:off x="15430000" y="361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34,3</a:t>
            </a:r>
          </a:p>
        </p:txBody>
      </p:sp>
      <p:sp>
        <p:nvSpPr>
          <p:cNvPr id="124" name="Tab cel"/>
          <p:cNvSpPr txBox="1"/>
          <p:nvPr/>
        </p:nvSpPr>
        <p:spPr>
          <a:xfrm>
            <a:off x="16530000" y="3610000"/>
            <a:ext cx="9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</a:t>
            </a:r>
          </a:p>
        </p:txBody>
      </p:sp>
      <p:sp>
        <p:nvSpPr>
          <p:cNvPr id="125" name="Tab fundo"/>
          <p:cNvSpPr/>
          <p:nvPr/>
        </p:nvSpPr>
        <p:spPr>
          <a:xfrm>
            <a:off x="12000000" y="3990000"/>
            <a:ext cx="5526000" cy="380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6" name="Tab cel"/>
          <p:cNvSpPr txBox="1"/>
          <p:nvPr/>
        </p:nvSpPr>
        <p:spPr>
          <a:xfrm>
            <a:off x="12080000" y="3990000"/>
            <a:ext cx="12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</a:p>
        </p:txBody>
      </p:sp>
      <p:sp>
        <p:nvSpPr>
          <p:cNvPr id="127" name="Tab cel"/>
          <p:cNvSpPr txBox="1"/>
          <p:nvPr/>
        </p:nvSpPr>
        <p:spPr>
          <a:xfrm>
            <a:off x="13430000" y="399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34,6</a:t>
            </a:r>
          </a:p>
        </p:txBody>
      </p:sp>
      <p:sp>
        <p:nvSpPr>
          <p:cNvPr id="128" name="Tab cel"/>
          <p:cNvSpPr txBox="1"/>
          <p:nvPr/>
        </p:nvSpPr>
        <p:spPr>
          <a:xfrm>
            <a:off x="14430000" y="399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34,4</a:t>
            </a:r>
          </a:p>
        </p:txBody>
      </p:sp>
      <p:sp>
        <p:nvSpPr>
          <p:cNvPr id="129" name="Tab cel"/>
          <p:cNvSpPr txBox="1"/>
          <p:nvPr/>
        </p:nvSpPr>
        <p:spPr>
          <a:xfrm>
            <a:off x="15430000" y="399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33,5</a:t>
            </a:r>
          </a:p>
        </p:txBody>
      </p:sp>
      <p:sp>
        <p:nvSpPr>
          <p:cNvPr id="130" name="Tab cel"/>
          <p:cNvSpPr txBox="1"/>
          <p:nvPr/>
        </p:nvSpPr>
        <p:spPr>
          <a:xfrm>
            <a:off x="16530000" y="3990000"/>
            <a:ext cx="9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</a:t>
            </a:r>
          </a:p>
        </p:txBody>
      </p:sp>
      <p:sp>
        <p:nvSpPr>
          <p:cNvPr id="131" name="Tab fundo"/>
          <p:cNvSpPr/>
          <p:nvPr/>
        </p:nvSpPr>
        <p:spPr>
          <a:xfrm>
            <a:off x="12000000" y="4370000"/>
            <a:ext cx="5526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2" name="Tab cel"/>
          <p:cNvSpPr txBox="1"/>
          <p:nvPr/>
        </p:nvSpPr>
        <p:spPr>
          <a:xfrm>
            <a:off x="12080000" y="4370000"/>
            <a:ext cx="12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</a:p>
        </p:txBody>
      </p:sp>
      <p:sp>
        <p:nvSpPr>
          <p:cNvPr id="133" name="Tab cel"/>
          <p:cNvSpPr txBox="1"/>
          <p:nvPr/>
        </p:nvSpPr>
        <p:spPr>
          <a:xfrm>
            <a:off x="13430000" y="437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33,1</a:t>
            </a:r>
          </a:p>
        </p:txBody>
      </p:sp>
      <p:sp>
        <p:nvSpPr>
          <p:cNvPr id="134" name="Tab cel"/>
          <p:cNvSpPr txBox="1"/>
          <p:nvPr/>
        </p:nvSpPr>
        <p:spPr>
          <a:xfrm>
            <a:off x="14430000" y="437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32,4</a:t>
            </a:r>
          </a:p>
        </p:txBody>
      </p:sp>
      <p:sp>
        <p:nvSpPr>
          <p:cNvPr id="135" name="Tab cel"/>
          <p:cNvSpPr txBox="1"/>
          <p:nvPr/>
        </p:nvSpPr>
        <p:spPr>
          <a:xfrm>
            <a:off x="15430000" y="437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31,8</a:t>
            </a:r>
          </a:p>
        </p:txBody>
      </p:sp>
      <p:sp>
        <p:nvSpPr>
          <p:cNvPr id="136" name="Tab cel"/>
          <p:cNvSpPr txBox="1"/>
          <p:nvPr/>
        </p:nvSpPr>
        <p:spPr>
          <a:xfrm>
            <a:off x="16530000" y="4370000"/>
            <a:ext cx="9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33,0</a:t>
            </a:r>
          </a:p>
        </p:txBody>
      </p:sp>
      <p:sp>
        <p:nvSpPr>
          <p:cNvPr id="137" name="Tab fundo"/>
          <p:cNvSpPr/>
          <p:nvPr/>
        </p:nvSpPr>
        <p:spPr>
          <a:xfrm>
            <a:off x="12000000" y="4750000"/>
            <a:ext cx="5526000" cy="380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8" name="Tab cel"/>
          <p:cNvSpPr txBox="1"/>
          <p:nvPr/>
        </p:nvSpPr>
        <p:spPr>
          <a:xfrm>
            <a:off x="12080000" y="4750000"/>
            <a:ext cx="12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</a:t>
            </a:r>
          </a:p>
        </p:txBody>
      </p:sp>
      <p:sp>
        <p:nvSpPr>
          <p:cNvPr id="139" name="Tab cel"/>
          <p:cNvSpPr txBox="1"/>
          <p:nvPr/>
        </p:nvSpPr>
        <p:spPr>
          <a:xfrm>
            <a:off x="13430000" y="475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23,7</a:t>
            </a:r>
          </a:p>
        </p:txBody>
      </p:sp>
      <p:sp>
        <p:nvSpPr>
          <p:cNvPr id="140" name="Tab cel"/>
          <p:cNvSpPr txBox="1"/>
          <p:nvPr/>
        </p:nvSpPr>
        <p:spPr>
          <a:xfrm>
            <a:off x="14430000" y="475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24,8</a:t>
            </a:r>
          </a:p>
        </p:txBody>
      </p:sp>
      <p:sp>
        <p:nvSpPr>
          <p:cNvPr id="141" name="Tab cel"/>
          <p:cNvSpPr txBox="1"/>
          <p:nvPr/>
        </p:nvSpPr>
        <p:spPr>
          <a:xfrm>
            <a:off x="15430000" y="475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24,7</a:t>
            </a:r>
          </a:p>
        </p:txBody>
      </p:sp>
      <p:sp>
        <p:nvSpPr>
          <p:cNvPr id="142" name="Tab cel"/>
          <p:cNvSpPr txBox="1"/>
          <p:nvPr/>
        </p:nvSpPr>
        <p:spPr>
          <a:xfrm>
            <a:off x="16530000" y="4750000"/>
            <a:ext cx="9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</a:t>
            </a:r>
          </a:p>
        </p:txBody>
      </p:sp>
      <p:sp>
        <p:nvSpPr>
          <p:cNvPr id="143" name="Tab fundo"/>
          <p:cNvSpPr/>
          <p:nvPr/>
        </p:nvSpPr>
        <p:spPr>
          <a:xfrm>
            <a:off x="12000000" y="5130000"/>
            <a:ext cx="5526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4" name="Tab cel"/>
          <p:cNvSpPr txBox="1"/>
          <p:nvPr/>
        </p:nvSpPr>
        <p:spPr>
          <a:xfrm>
            <a:off x="12080000" y="5130000"/>
            <a:ext cx="12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shop</a:t>
            </a:r>
          </a:p>
        </p:txBody>
      </p:sp>
      <p:sp>
        <p:nvSpPr>
          <p:cNvPr id="145" name="Tab cel"/>
          <p:cNvSpPr txBox="1"/>
          <p:nvPr/>
        </p:nvSpPr>
        <p:spPr>
          <a:xfrm>
            <a:off x="13430000" y="513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26,5</a:t>
            </a:r>
          </a:p>
        </p:txBody>
      </p:sp>
      <p:sp>
        <p:nvSpPr>
          <p:cNvPr id="146" name="Tab cel"/>
          <p:cNvSpPr txBox="1"/>
          <p:nvPr/>
        </p:nvSpPr>
        <p:spPr>
          <a:xfrm>
            <a:off x="14430000" y="513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30,2</a:t>
            </a:r>
          </a:p>
        </p:txBody>
      </p:sp>
      <p:sp>
        <p:nvSpPr>
          <p:cNvPr id="147" name="Tab cel"/>
          <p:cNvSpPr txBox="1"/>
          <p:nvPr/>
        </p:nvSpPr>
        <p:spPr>
          <a:xfrm>
            <a:off x="15430000" y="513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30,2</a:t>
            </a:r>
          </a:p>
        </p:txBody>
      </p:sp>
      <p:sp>
        <p:nvSpPr>
          <p:cNvPr id="148" name="Tab cel"/>
          <p:cNvSpPr txBox="1"/>
          <p:nvPr/>
        </p:nvSpPr>
        <p:spPr>
          <a:xfrm>
            <a:off x="16530000" y="5130000"/>
            <a:ext cx="9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</a:t>
            </a:r>
          </a:p>
        </p:txBody>
      </p:sp>
      <p:sp>
        <p:nvSpPr>
          <p:cNvPr id="149" name="Card"/>
          <p:cNvSpPr/>
          <p:nvPr/>
        </p:nvSpPr>
        <p:spPr>
          <a:xfrm>
            <a:off x="12000000" y="5660000"/>
            <a:ext cx="5526000" cy="1405000"/>
          </a:xfrm>
          <a:prstGeom prst="roundRect">
            <a:avLst>
              <a:gd name="adj" fmla="val 780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0" name="Card texto"/>
          <p:cNvSpPr txBox="1"/>
          <p:nvPr/>
        </p:nvSpPr>
        <p:spPr>
          <a:xfrm>
            <a:off x="12200000" y="5810000"/>
            <a:ext cx="5126000" cy="115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defesa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o VD está no teto porque recebe 8–13% abaixo da tabela, sem regra. A nova PC devolve essa margem por regra e performance: quem executa a política fica na faixa-alvo.</a:t>
            </a:r>
          </a:p>
        </p:txBody>
      </p:sp>
      <p:sp>
        <p:nvSpPr>
          <p:cNvPr id="151" name="Card"/>
          <p:cNvSpPr/>
          <p:nvPr/>
        </p:nvSpPr>
        <p:spPr>
          <a:xfrm>
            <a:off x="12000000" y="7185000"/>
            <a:ext cx="5526000" cy="1405000"/>
          </a:xfrm>
          <a:prstGeom prst="roundRect">
            <a:avLst>
              <a:gd name="adj" fmla="val 7809"/>
            </a:avLst>
          </a:prstGeom>
          <a:solidFill>
            <a:srgbClr val="FFF4E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2" name="Card texto"/>
          <p:cNvSpPr txBox="1"/>
          <p:nvPr/>
        </p:nvSpPr>
        <p:spPr>
          <a:xfrm>
            <a:off x="12200000" y="7335000"/>
            <a:ext cx="5126000" cy="115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perde mais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GG/GG: 98% → 94% do teto. É o cluster com mais desconto fora de regra hoje; JBP e capitães dedicados podem recompor.</a:t>
            </a:r>
          </a:p>
        </p:txBody>
      </p:sp>
      <p:sp>
        <p:nvSpPr>
          <p:cNvPr id="154" name="Rodapé"/>
          <p:cNvSpPr txBox="1"/>
          <p:nvPr/>
        </p:nvSpPr>
        <p:spPr>
          <a:xfrm>
            <a:off x="762000" y="9740000"/>
            <a:ext cx="15441168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bruta de tabela ponderada por SKU × UF do sell-in jan–mai/26, por cluster (Lista de Clientes VD 2026). Hoje = tabela × preço pago/tabela (receita líquida). Futuro = condicional × aproveitamento + RTP 3% (VD) / PPP 3% + 5% ao lojista (VI). Tetos de MB: 38 / 35 / 35 / 33% (VD), 25% (distribuidor), 30% (pet shop).</a:t>
            </a:r>
          </a:p>
        </p:txBody>
      </p:sp>
      <p:pic>
        <p:nvPicPr>
          <p:cNvPr id="5116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117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118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119" name="Número da página"/>
          <p:cNvSpPr txBox="1"/>
          <p:nvPr/>
        </p:nvSpPr>
        <p:spPr>
          <a:xfrm>
            <a:off x="16340328" y="974000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ítulo"/>
          <p:cNvSpPr txBox="1"/>
          <p:nvPr/>
        </p:nvSpPr>
        <p:spPr>
          <a:xfrm>
            <a:off x="758952" y="747356"/>
            <a:ext cx="13368528" cy="620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4150" b="1" kern="0" spc="-62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Crescer muda a régua | +4,2 p.p. e 21x o lucro</a:t>
            </a:r>
          </a:p>
        </p:txBody>
      </p:sp>
      <p:sp>
        <p:nvSpPr>
          <p:cNvPr id="102" name="Subtítulo 1"/>
          <p:cNvSpPr txBox="1"/>
          <p:nvPr/>
        </p:nvSpPr>
        <p:spPr>
          <a:xfrm>
            <a:off x="762000" y="1395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à parte: um cliente-tipo que sobe de faixa. A cada salto mudam as três camadas juntas: tabela melhor, mais condicional e o mesmo RTP.</a:t>
            </a:r>
          </a:p>
        </p:txBody>
      </p:sp>
      <p:sp>
        <p:nvSpPr>
          <p:cNvPr id="103" name="Subtítulo 2"/>
          <p:cNvSpPr txBox="1"/>
          <p:nvPr/>
        </p:nvSpPr>
        <p:spPr>
          <a:xfrm>
            <a:off x="762000" y="1750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pequeno que cresce chega à margem do grande: de </a:t>
            </a:r>
            <a:r>
              <a:rPr lang="pt-BR" sz="1800" b="1" dirty="0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31,8%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P para </a:t>
            </a:r>
            <a:r>
              <a:rPr lang="pt-BR" sz="1800" b="1" dirty="0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36,0%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Super GG/GG; e a Premier também ganha com o volume.</a:t>
            </a:r>
          </a:p>
        </p:txBody>
      </p:sp>
      <p:sp>
        <p:nvSpPr>
          <p:cNvPr id="5126" name="Card gráfico"/>
          <p:cNvSpPr/>
          <p:nvPr/>
        </p:nvSpPr>
        <p:spPr>
          <a:xfrm>
            <a:off x="762000" y="2420000"/>
            <a:ext cx="10900000" cy="6169811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105" name="Gráfico dispersão por cliente" descr="Dispersão da margem líquida por cliente: só mix vs mix + preço pago, por ca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79" y="2584592"/>
            <a:ext cx="10318442" cy="5840627"/>
          </a:xfrm>
          <a:prstGeom prst="rect">
            <a:avLst/>
          </a:prstGeom>
        </p:spPr>
      </p:pic>
      <p:sp>
        <p:nvSpPr>
          <p:cNvPr id="106" name="Cab. painel"/>
          <p:cNvSpPr txBox="1"/>
          <p:nvPr/>
        </p:nvSpPr>
        <p:spPr>
          <a:xfrm>
            <a:off x="12000000" y="2480000"/>
            <a:ext cx="5526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LER</a:t>
            </a:r>
          </a:p>
        </p:txBody>
      </p:sp>
      <p:sp>
        <p:nvSpPr>
          <p:cNvPr id="107" name="Card"/>
          <p:cNvSpPr/>
          <p:nvPr/>
        </p:nvSpPr>
        <p:spPr>
          <a:xfrm>
            <a:off x="12000000" y="2850000"/>
            <a:ext cx="5526000" cy="1833333"/>
          </a:xfrm>
          <a:prstGeom prst="roundRect">
            <a:avLst>
              <a:gd name="adj" fmla="val 598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8" name="Card texto"/>
          <p:cNvSpPr txBox="1"/>
          <p:nvPr/>
        </p:nvSpPr>
        <p:spPr>
          <a:xfrm>
            <a:off x="12200000" y="3000000"/>
            <a:ext cx="5126000" cy="1583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gatilho é volume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Faixas por toneladas/mês: P &lt; 2 · M 2–5 · G 5–12 · Super GG/GG ≥ 12. Subir de faixa muda Camada 1 (tabela), Camada 2 (Especialista/JBP) e mantém a Camada 3.</a:t>
            </a:r>
          </a:p>
        </p:txBody>
      </p:sp>
      <p:sp>
        <p:nvSpPr>
          <p:cNvPr id="109" name="Card"/>
          <p:cNvSpPr/>
          <p:nvPr/>
        </p:nvSpPr>
        <p:spPr>
          <a:xfrm>
            <a:off x="12000000" y="4803333"/>
            <a:ext cx="5526000" cy="1833333"/>
          </a:xfrm>
          <a:prstGeom prst="roundRect">
            <a:avLst>
              <a:gd name="adj" fmla="val 598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0" name="Card texto"/>
          <p:cNvSpPr txBox="1"/>
          <p:nvPr/>
        </p:nvSpPr>
        <p:spPr>
          <a:xfrm>
            <a:off x="12200000" y="4953333"/>
            <a:ext cx="5126000" cy="1583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varejista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 ao Super GG/GG: +4,2 p.p. de margem (1,4 p.p. da tabela e 2,8 p.p. dos incentivos) e lucro bruto 21x maior. A régua mostra ao pequeno o caminho até a condição do grande.</a:t>
            </a:r>
          </a:p>
        </p:txBody>
      </p:sp>
      <p:sp>
        <p:nvSpPr>
          <p:cNvPr id="111" name="Card"/>
          <p:cNvSpPr/>
          <p:nvPr/>
        </p:nvSpPr>
        <p:spPr>
          <a:xfrm>
            <a:off x="12000000" y="6756666"/>
            <a:ext cx="5526000" cy="1833333"/>
          </a:xfrm>
          <a:prstGeom prst="roundRect">
            <a:avLst>
              <a:gd name="adj" fmla="val 598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2" name="Card texto"/>
          <p:cNvSpPr txBox="1"/>
          <p:nvPr/>
        </p:nvSpPr>
        <p:spPr>
          <a:xfrm>
            <a:off x="12200000" y="6906666"/>
            <a:ext cx="5126000" cy="1583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 Premier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margem por kg cai ~16% do P ao Super GG/GG (R$ 3,49 → R$ 2,94), mas o volume que leva a cada salto é 2–3x maior: o lucro bruto da Premier com o cliente cresce 16x.</a:t>
            </a:r>
          </a:p>
        </p:txBody>
      </p:sp>
      <p:sp>
        <p:nvSpPr>
          <p:cNvPr id="114" name="Rodapé"/>
          <p:cNvSpPr txBox="1"/>
          <p:nvPr/>
        </p:nvSpPr>
        <p:spPr>
          <a:xfrm>
            <a:off x="762000" y="9740000"/>
            <a:ext cx="15441168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Cliente-tipo = mediana de toneladas/mês de cada faixa (Lista de Clientes VD 2026) com o mesmo mix (sell-in VD jan–mai/26). Margem com 100% de aproveitamento, sem tático e preço ao shopper igual (RTP retido). Premier: preço líquido na Tabela Nova × (1 − desconto) − custo médio do produto no VD (R$ 4,39/kg). G e M usam a mesma tabela (régua G/M): sem ganho de tabela no salto M → G.</a:t>
            </a:r>
          </a:p>
        </p:txBody>
      </p:sp>
      <p:pic>
        <p:nvPicPr>
          <p:cNvPr id="5122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123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124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125" name="Número da página"/>
          <p:cNvSpPr txBox="1"/>
          <p:nvPr/>
        </p:nvSpPr>
        <p:spPr>
          <a:xfrm>
            <a:off x="16340328" y="974000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-1596340"/>
            <a:ext cx="184404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228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INDIRETOS · MARGENS ATUAIS E FUTURAS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762000" y="-1315352"/>
            <a:ext cx="17266920" cy="943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176"/>
              </a:lnSpc>
              <a:buNone/>
            </a:pPr>
            <a:r>
              <a:rPr lang="en-US" sz="3300" b="1" kern="0" spc="-49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nova tabela com os 5% recoloca o pet shop em ~30% , e quase elimina a diferença entre distribuidores</a:t>
            </a:r>
            <a:endParaRPr lang="en-US" sz="3300"/>
          </a:p>
        </p:txBody>
      </p:sp>
      <p:sp>
        <p:nvSpPr>
          <p:cNvPr id="5" name="Text 3"/>
          <p:cNvSpPr/>
          <p:nvPr/>
        </p:nvSpPr>
        <p:spPr>
          <a:xfrm>
            <a:off x="762000" y="1738610"/>
            <a:ext cx="184404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a margem do pet shop vai de </a:t>
            </a:r>
            <a:r>
              <a:rPr lang="en-US" sz="1800" b="1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27,2% </a:t>
            </a:r>
            <a:r>
              <a:rPr lang="en-US" sz="180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800" b="1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32,2% </a:t>
            </a:r>
            <a:r>
              <a:rPr lang="en-US" sz="180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 o distribuidor. No cenário To Be, todos ficam entre </a:t>
            </a:r>
            <a:r>
              <a:rPr lang="en-US" sz="1800" b="1" i="1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29,9% </a:t>
            </a:r>
            <a:r>
              <a:rPr lang="en-US" sz="180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r>
              <a:rPr lang="en-US" sz="1800" b="1" i="1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30,4%</a:t>
            </a:r>
            <a:r>
              <a:rPr lang="en-US" sz="180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/>
          </a:p>
        </p:txBody>
      </p:sp>
      <p:sp>
        <p:nvSpPr>
          <p:cNvPr id="5131" name="Card gráfico"/>
          <p:cNvSpPr/>
          <p:nvPr/>
        </p:nvSpPr>
        <p:spPr>
          <a:xfrm>
            <a:off x="762000" y="2914427"/>
            <a:ext cx="16764000" cy="5987132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2858" y="3079019"/>
            <a:ext cx="15842283" cy="56579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9767888"/>
            <a:ext cx="154411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Dispersão por SKU × mês (</a:t>
            </a:r>
            <a:r>
              <a:rPr lang="en-US" sz="1125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janmai</a:t>
            </a:r>
            <a:r>
              <a:rPr lang="en-US" sz="11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/26, linhas &gt; R$ 2 mil). Losango = agregado ponderado por faturamento. Linha de : 30%.</a:t>
            </a:r>
            <a:endParaRPr lang="en-US" sz="1125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E35F0F9E-D009-73E7-19B7-ABAE58874877}"/>
              </a:ext>
            </a:extLst>
          </p:cNvPr>
          <p:cNvSpPr/>
          <p:nvPr/>
        </p:nvSpPr>
        <p:spPr>
          <a:xfrm>
            <a:off x="758952" y="747356"/>
            <a:ext cx="13368528" cy="60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4050" b="1" kern="0" spc="-60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Clientes</a:t>
            </a:r>
            <a:r>
              <a:rPr lang="en-US" sz="4050" b="1" kern="0" spc="-6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4050" b="1" kern="0" spc="-60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Indiretos</a:t>
            </a:r>
            <a:r>
              <a:rPr lang="en-US" sz="4050" b="1" kern="0" spc="-6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 | </a:t>
            </a:r>
            <a:r>
              <a:rPr lang="en-US" sz="4050" b="1" kern="0" spc="-60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Margens</a:t>
            </a:r>
            <a:r>
              <a:rPr lang="en-US" sz="4050" b="1" kern="0" spc="-6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4050" b="1" kern="0" spc="-60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atuais</a:t>
            </a:r>
            <a:r>
              <a:rPr lang="en-US" sz="4050" b="1" kern="0" spc="-60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 e </a:t>
            </a:r>
            <a:r>
              <a:rPr lang="en-US" sz="4050" b="1" kern="0" spc="-60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futuras</a:t>
            </a:r>
            <a:endParaRPr lang="en-US" sz="405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C1CFBC76-FAE4-33C1-47C3-400110B70D48}"/>
              </a:ext>
            </a:extLst>
          </p:cNvPr>
          <p:cNvSpPr/>
          <p:nvPr/>
        </p:nvSpPr>
        <p:spPr>
          <a:xfrm>
            <a:off x="762000" y="1383476"/>
            <a:ext cx="184404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pt-BR" sz="180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nova tabela com os 5% recoloca o pet shop em aproximadamente 30% , e quase elimina a diferença entre distribuidores.</a:t>
            </a:r>
          </a:p>
        </p:txBody>
      </p:sp>
      <p:pic>
        <p:nvPicPr>
          <p:cNvPr id="5127" name="Logo PremieRpet" descr="Logo PremieRp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128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129" name="Logo DOC Consulting" descr="Logo DOC Consult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130" name="Número da página"/>
          <p:cNvSpPr txBox="1"/>
          <p:nvPr/>
        </p:nvSpPr>
        <p:spPr>
          <a:xfrm>
            <a:off x="16340328" y="976788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125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ítulo"/>
          <p:cNvSpPr txBox="1"/>
          <p:nvPr/>
        </p:nvSpPr>
        <p:spPr>
          <a:xfrm>
            <a:off x="758952" y="747356"/>
            <a:ext cx="13368528" cy="620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4150" b="1" kern="0" spc="-62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Premier | VD paga a conta; o VI exige volume</a:t>
            </a:r>
          </a:p>
        </p:txBody>
      </p:sp>
      <p:sp>
        <p:nvSpPr>
          <p:cNvPr id="102" name="Subtítulo 1"/>
          <p:cNvSpPr txBox="1"/>
          <p:nvPr/>
        </p:nvSpPr>
        <p:spPr>
          <a:xfrm>
            <a:off x="762000" y="1395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lucro bruto anual da Premier com a nova PC, mantendo o volume de jan–mai/26, e o volume necessário para empatar.</a:t>
            </a:r>
          </a:p>
        </p:txBody>
      </p:sp>
      <p:sp>
        <p:nvSpPr>
          <p:cNvPr id="103" name="Subtítulo 2"/>
          <p:cNvSpPr txBox="1"/>
          <p:nvPr/>
        </p:nvSpPr>
        <p:spPr>
          <a:xfrm>
            <a:off x="762000" y="1750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VD + VI: </a:t>
            </a:r>
            <a:r>
              <a:rPr lang="pt-BR" sz="1800" b="1" dirty="0" i="1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−R$ 22 a −46 M/ano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(2,6–5,4% do LB); para empatar, o volume precisa crescer </a:t>
            </a:r>
            <a:r>
              <a:rPr lang="pt-BR" sz="1800" b="1" dirty="0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2,7–5,7%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5137" name="Card gráfico"/>
          <p:cNvSpPr/>
          <p:nvPr/>
        </p:nvSpPr>
        <p:spPr>
          <a:xfrm>
            <a:off x="762000" y="2420000"/>
            <a:ext cx="10900000" cy="6288461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105" name="Gráfico dispersão por cliente" descr="Dispersão da margem líquida por cliente: só mix vs mix + preço pago, por ca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93" y="2584592"/>
            <a:ext cx="10329414" cy="5959277"/>
          </a:xfrm>
          <a:prstGeom prst="rect">
            <a:avLst/>
          </a:prstGeom>
        </p:spPr>
      </p:pic>
      <p:sp>
        <p:nvSpPr>
          <p:cNvPr id="106" name="Cab. painel"/>
          <p:cNvSpPr txBox="1"/>
          <p:nvPr/>
        </p:nvSpPr>
        <p:spPr>
          <a:xfrm>
            <a:off x="12000000" y="2480000"/>
            <a:ext cx="5526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· 100% DE APROVEITAMENTO (R$ M/ano)</a:t>
            </a:r>
          </a:p>
        </p:txBody>
      </p:sp>
      <p:sp>
        <p:nvSpPr>
          <p:cNvPr id="107" name="Tab fundo"/>
          <p:cNvSpPr/>
          <p:nvPr/>
        </p:nvSpPr>
        <p:spPr>
          <a:xfrm>
            <a:off x="12000000" y="2850000"/>
            <a:ext cx="5526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36" name="Linha cabeçalho"/>
          <p:cNvSpPr/>
          <p:nvPr/>
        </p:nvSpPr>
        <p:spPr>
          <a:xfrm>
            <a:off x="12000000" y="3220856"/>
            <a:ext cx="5526000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8" name="Tab cel"/>
          <p:cNvSpPr txBox="1"/>
          <p:nvPr/>
        </p:nvSpPr>
        <p:spPr>
          <a:xfrm>
            <a:off x="12080000" y="2850000"/>
            <a:ext cx="12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</a:t>
            </a:r>
          </a:p>
        </p:txBody>
      </p:sp>
      <p:sp>
        <p:nvSpPr>
          <p:cNvPr id="109" name="Tab cel"/>
          <p:cNvSpPr txBox="1"/>
          <p:nvPr/>
        </p:nvSpPr>
        <p:spPr>
          <a:xfrm>
            <a:off x="13430000" y="285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ΔLB</a:t>
            </a:r>
          </a:p>
        </p:txBody>
      </p:sp>
      <p:sp>
        <p:nvSpPr>
          <p:cNvPr id="110" name="Tab cel"/>
          <p:cNvSpPr txBox="1"/>
          <p:nvPr/>
        </p:nvSpPr>
        <p:spPr>
          <a:xfrm>
            <a:off x="14430000" y="285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Vol. p/ empatar</a:t>
            </a:r>
          </a:p>
        </p:txBody>
      </p:sp>
      <p:sp>
        <p:nvSpPr>
          <p:cNvPr id="111" name="Tab cel"/>
          <p:cNvSpPr txBox="1"/>
          <p:nvPr/>
        </p:nvSpPr>
        <p:spPr>
          <a:xfrm>
            <a:off x="15430000" y="285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ΔLB 80%</a:t>
            </a:r>
          </a:p>
        </p:txBody>
      </p:sp>
      <p:sp>
        <p:nvSpPr>
          <p:cNvPr id="112" name="Tab cel"/>
          <p:cNvSpPr txBox="1"/>
          <p:nvPr/>
        </p:nvSpPr>
        <p:spPr>
          <a:xfrm>
            <a:off x="16530000" y="2850000"/>
            <a:ext cx="9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 hoje</a:t>
            </a:r>
          </a:p>
        </p:txBody>
      </p:sp>
      <p:sp>
        <p:nvSpPr>
          <p:cNvPr id="113" name="Tab fundo"/>
          <p:cNvSpPr/>
          <p:nvPr/>
        </p:nvSpPr>
        <p:spPr>
          <a:xfrm>
            <a:off x="12000000" y="3230000"/>
            <a:ext cx="5526000" cy="380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4" name="Tab cel"/>
          <p:cNvSpPr txBox="1"/>
          <p:nvPr/>
        </p:nvSpPr>
        <p:spPr>
          <a:xfrm>
            <a:off x="12080000" y="3230000"/>
            <a:ext cx="12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GG/GG</a:t>
            </a:r>
          </a:p>
        </p:txBody>
      </p:sp>
      <p:sp>
        <p:nvSpPr>
          <p:cNvPr id="115" name="Tab cel"/>
          <p:cNvSpPr txBox="1"/>
          <p:nvPr/>
        </p:nvSpPr>
        <p:spPr>
          <a:xfrm>
            <a:off x="13430000" y="323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+7,6</a:t>
            </a:r>
          </a:p>
        </p:txBody>
      </p:sp>
      <p:sp>
        <p:nvSpPr>
          <p:cNvPr id="116" name="Tab cel"/>
          <p:cNvSpPr txBox="1"/>
          <p:nvPr/>
        </p:nvSpPr>
        <p:spPr>
          <a:xfrm>
            <a:off x="14430000" y="323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folga 6,0%</a:t>
            </a:r>
          </a:p>
        </p:txBody>
      </p:sp>
      <p:sp>
        <p:nvSpPr>
          <p:cNvPr id="117" name="Tab cel"/>
          <p:cNvSpPr txBox="1"/>
          <p:nvPr/>
        </p:nvSpPr>
        <p:spPr>
          <a:xfrm>
            <a:off x="15430000" y="323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+13,0</a:t>
            </a:r>
          </a:p>
        </p:txBody>
      </p:sp>
      <p:sp>
        <p:nvSpPr>
          <p:cNvPr id="118" name="Tab cel"/>
          <p:cNvSpPr txBox="1"/>
          <p:nvPr/>
        </p:nvSpPr>
        <p:spPr>
          <a:xfrm>
            <a:off x="16530000" y="3230000"/>
            <a:ext cx="9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</a:p>
        </p:txBody>
      </p:sp>
      <p:sp>
        <p:nvSpPr>
          <p:cNvPr id="119" name="Tab fundo"/>
          <p:cNvSpPr/>
          <p:nvPr/>
        </p:nvSpPr>
        <p:spPr>
          <a:xfrm>
            <a:off x="12000000" y="3610000"/>
            <a:ext cx="5526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0" name="Tab cel"/>
          <p:cNvSpPr txBox="1"/>
          <p:nvPr/>
        </p:nvSpPr>
        <p:spPr>
          <a:xfrm>
            <a:off x="12080000" y="3610000"/>
            <a:ext cx="12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</a:p>
        </p:txBody>
      </p:sp>
      <p:sp>
        <p:nvSpPr>
          <p:cNvPr id="121" name="Tab cel"/>
          <p:cNvSpPr txBox="1"/>
          <p:nvPr/>
        </p:nvSpPr>
        <p:spPr>
          <a:xfrm>
            <a:off x="13430000" y="361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+0,4</a:t>
            </a:r>
          </a:p>
        </p:txBody>
      </p:sp>
      <p:sp>
        <p:nvSpPr>
          <p:cNvPr id="122" name="Tab cel"/>
          <p:cNvSpPr txBox="1"/>
          <p:nvPr/>
        </p:nvSpPr>
        <p:spPr>
          <a:xfrm>
            <a:off x="14430000" y="361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folga 0,3%</a:t>
            </a:r>
          </a:p>
        </p:txBody>
      </p:sp>
      <p:sp>
        <p:nvSpPr>
          <p:cNvPr id="123" name="Tab cel"/>
          <p:cNvSpPr txBox="1"/>
          <p:nvPr/>
        </p:nvSpPr>
        <p:spPr>
          <a:xfrm>
            <a:off x="15430000" y="361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+5,8</a:t>
            </a:r>
          </a:p>
        </p:txBody>
      </p:sp>
      <p:sp>
        <p:nvSpPr>
          <p:cNvPr id="124" name="Tab cel"/>
          <p:cNvSpPr txBox="1"/>
          <p:nvPr/>
        </p:nvSpPr>
        <p:spPr>
          <a:xfrm>
            <a:off x="16530000" y="3610000"/>
            <a:ext cx="9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</a:p>
        </p:txBody>
      </p:sp>
      <p:sp>
        <p:nvSpPr>
          <p:cNvPr id="125" name="Tab fundo"/>
          <p:cNvSpPr/>
          <p:nvPr/>
        </p:nvSpPr>
        <p:spPr>
          <a:xfrm>
            <a:off x="12000000" y="3990000"/>
            <a:ext cx="5526000" cy="380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6" name="Tab cel"/>
          <p:cNvSpPr txBox="1"/>
          <p:nvPr/>
        </p:nvSpPr>
        <p:spPr>
          <a:xfrm>
            <a:off x="12080000" y="3990000"/>
            <a:ext cx="12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</a:p>
        </p:txBody>
      </p:sp>
      <p:sp>
        <p:nvSpPr>
          <p:cNvPr id="127" name="Tab cel"/>
          <p:cNvSpPr txBox="1"/>
          <p:nvPr/>
        </p:nvSpPr>
        <p:spPr>
          <a:xfrm>
            <a:off x="13430000" y="399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+1,3</a:t>
            </a:r>
          </a:p>
        </p:txBody>
      </p:sp>
      <p:sp>
        <p:nvSpPr>
          <p:cNvPr id="128" name="Tab cel"/>
          <p:cNvSpPr txBox="1"/>
          <p:nvPr/>
        </p:nvSpPr>
        <p:spPr>
          <a:xfrm>
            <a:off x="14430000" y="399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folga 0,8%</a:t>
            </a:r>
          </a:p>
        </p:txBody>
      </p:sp>
      <p:sp>
        <p:nvSpPr>
          <p:cNvPr id="129" name="Tab cel"/>
          <p:cNvSpPr txBox="1"/>
          <p:nvPr/>
        </p:nvSpPr>
        <p:spPr>
          <a:xfrm>
            <a:off x="15430000" y="399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+6,4</a:t>
            </a:r>
          </a:p>
        </p:txBody>
      </p:sp>
      <p:sp>
        <p:nvSpPr>
          <p:cNvPr id="130" name="Tab cel"/>
          <p:cNvSpPr txBox="1"/>
          <p:nvPr/>
        </p:nvSpPr>
        <p:spPr>
          <a:xfrm>
            <a:off x="16530000" y="3990000"/>
            <a:ext cx="9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</a:t>
            </a:r>
          </a:p>
        </p:txBody>
      </p:sp>
      <p:sp>
        <p:nvSpPr>
          <p:cNvPr id="131" name="Tab fundo"/>
          <p:cNvSpPr/>
          <p:nvPr/>
        </p:nvSpPr>
        <p:spPr>
          <a:xfrm>
            <a:off x="12000000" y="4370000"/>
            <a:ext cx="5526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2" name="Tab cel"/>
          <p:cNvSpPr txBox="1"/>
          <p:nvPr/>
        </p:nvSpPr>
        <p:spPr>
          <a:xfrm>
            <a:off x="12080000" y="4370000"/>
            <a:ext cx="12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</a:p>
        </p:txBody>
      </p:sp>
      <p:sp>
        <p:nvSpPr>
          <p:cNvPr id="133" name="Tab cel"/>
          <p:cNvSpPr txBox="1"/>
          <p:nvPr/>
        </p:nvSpPr>
        <p:spPr>
          <a:xfrm>
            <a:off x="13430000" y="437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+2,4</a:t>
            </a:r>
          </a:p>
        </p:txBody>
      </p:sp>
      <p:sp>
        <p:nvSpPr>
          <p:cNvPr id="134" name="Tab cel"/>
          <p:cNvSpPr txBox="1"/>
          <p:nvPr/>
        </p:nvSpPr>
        <p:spPr>
          <a:xfrm>
            <a:off x="14430000" y="437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folga 2,3%</a:t>
            </a:r>
          </a:p>
        </p:txBody>
      </p:sp>
      <p:sp>
        <p:nvSpPr>
          <p:cNvPr id="135" name="Tab cel"/>
          <p:cNvSpPr txBox="1"/>
          <p:nvPr/>
        </p:nvSpPr>
        <p:spPr>
          <a:xfrm>
            <a:off x="15430000" y="437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+4,4</a:t>
            </a:r>
          </a:p>
        </p:txBody>
      </p:sp>
      <p:sp>
        <p:nvSpPr>
          <p:cNvPr id="136" name="Tab cel"/>
          <p:cNvSpPr txBox="1"/>
          <p:nvPr/>
        </p:nvSpPr>
        <p:spPr>
          <a:xfrm>
            <a:off x="16530000" y="4370000"/>
            <a:ext cx="9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</a:p>
        </p:txBody>
      </p:sp>
      <p:sp>
        <p:nvSpPr>
          <p:cNvPr id="137" name="Tab fundo"/>
          <p:cNvSpPr/>
          <p:nvPr/>
        </p:nvSpPr>
        <p:spPr>
          <a:xfrm>
            <a:off x="12000000" y="4750000"/>
            <a:ext cx="5526000" cy="380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8" name="Tab cel"/>
          <p:cNvSpPr txBox="1"/>
          <p:nvPr/>
        </p:nvSpPr>
        <p:spPr>
          <a:xfrm>
            <a:off x="12080000" y="4750000"/>
            <a:ext cx="12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</a:t>
            </a:r>
          </a:p>
        </p:txBody>
      </p:sp>
      <p:sp>
        <p:nvSpPr>
          <p:cNvPr id="139" name="Tab cel"/>
          <p:cNvSpPr txBox="1"/>
          <p:nvPr/>
        </p:nvSpPr>
        <p:spPr>
          <a:xfrm>
            <a:off x="13430000" y="475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−57,2</a:t>
            </a:r>
          </a:p>
        </p:txBody>
      </p:sp>
      <p:sp>
        <p:nvSpPr>
          <p:cNvPr id="140" name="Tab cel"/>
          <p:cNvSpPr txBox="1"/>
          <p:nvPr/>
        </p:nvSpPr>
        <p:spPr>
          <a:xfrm>
            <a:off x="14430000" y="475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+21,4%</a:t>
            </a:r>
          </a:p>
        </p:txBody>
      </p:sp>
      <p:sp>
        <p:nvSpPr>
          <p:cNvPr id="141" name="Tab cel"/>
          <p:cNvSpPr txBox="1"/>
          <p:nvPr/>
        </p:nvSpPr>
        <p:spPr>
          <a:xfrm>
            <a:off x="15430000" y="475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−51,8</a:t>
            </a:r>
          </a:p>
        </p:txBody>
      </p:sp>
      <p:sp>
        <p:nvSpPr>
          <p:cNvPr id="142" name="Tab cel"/>
          <p:cNvSpPr txBox="1"/>
          <p:nvPr/>
        </p:nvSpPr>
        <p:spPr>
          <a:xfrm>
            <a:off x="16530000" y="4750000"/>
            <a:ext cx="9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324</a:t>
            </a:r>
          </a:p>
        </p:txBody>
      </p:sp>
      <p:sp>
        <p:nvSpPr>
          <p:cNvPr id="143" name="Tab fundo"/>
          <p:cNvSpPr/>
          <p:nvPr/>
        </p:nvSpPr>
        <p:spPr>
          <a:xfrm>
            <a:off x="12000000" y="5130000"/>
            <a:ext cx="5526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4" name="Tab cel"/>
          <p:cNvSpPr txBox="1"/>
          <p:nvPr/>
        </p:nvSpPr>
        <p:spPr>
          <a:xfrm>
            <a:off x="12080000" y="5130000"/>
            <a:ext cx="12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</a:p>
        </p:txBody>
      </p:sp>
      <p:sp>
        <p:nvSpPr>
          <p:cNvPr id="145" name="Tab cel"/>
          <p:cNvSpPr txBox="1"/>
          <p:nvPr/>
        </p:nvSpPr>
        <p:spPr>
          <a:xfrm>
            <a:off x="13430000" y="513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−45,5</a:t>
            </a:r>
          </a:p>
        </p:txBody>
      </p:sp>
      <p:sp>
        <p:nvSpPr>
          <p:cNvPr id="146" name="Tab cel"/>
          <p:cNvSpPr txBox="1"/>
          <p:nvPr/>
        </p:nvSpPr>
        <p:spPr>
          <a:xfrm>
            <a:off x="14430000" y="513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+5,7%</a:t>
            </a:r>
          </a:p>
        </p:txBody>
      </p:sp>
      <p:sp>
        <p:nvSpPr>
          <p:cNvPr id="147" name="Tab cel"/>
          <p:cNvSpPr txBox="1"/>
          <p:nvPr/>
        </p:nvSpPr>
        <p:spPr>
          <a:xfrm>
            <a:off x="15430000" y="513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−22,1</a:t>
            </a:r>
          </a:p>
        </p:txBody>
      </p:sp>
      <p:sp>
        <p:nvSpPr>
          <p:cNvPr id="148" name="Tab cel"/>
          <p:cNvSpPr txBox="1"/>
          <p:nvPr/>
        </p:nvSpPr>
        <p:spPr>
          <a:xfrm>
            <a:off x="16530000" y="5130000"/>
            <a:ext cx="9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839</a:t>
            </a:r>
          </a:p>
        </p:txBody>
      </p:sp>
      <p:sp>
        <p:nvSpPr>
          <p:cNvPr id="149" name="Card"/>
          <p:cNvSpPr/>
          <p:nvPr/>
        </p:nvSpPr>
        <p:spPr>
          <a:xfrm>
            <a:off x="12000000" y="6040000"/>
            <a:ext cx="5526000" cy="1405000"/>
          </a:xfrm>
          <a:prstGeom prst="roundRect">
            <a:avLst>
              <a:gd name="adj" fmla="val 7809"/>
            </a:avLst>
          </a:prstGeom>
          <a:solidFill>
            <a:srgbClr val="FFF4E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0" name="Card texto"/>
          <p:cNvSpPr txBox="1"/>
          <p:nvPr/>
        </p:nvSpPr>
        <p:spPr>
          <a:xfrm>
            <a:off x="12200000" y="6190000"/>
            <a:ext cx="5126000" cy="115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está o custo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VI, os 5% ao lojista custam ~R$ 45 M/ano (cada 1 p.p. ≈ R$ 9 M). O PPP de 3% ao distribuidor custa só R$ 6–12 M, porque ele já compra 1,7% abaixo da tabela.</a:t>
            </a:r>
          </a:p>
        </p:txBody>
      </p:sp>
      <p:sp>
        <p:nvSpPr>
          <p:cNvPr id="151" name="Card"/>
          <p:cNvSpPr/>
          <p:nvPr/>
        </p:nvSpPr>
        <p:spPr>
          <a:xfrm>
            <a:off x="12000000" y="7565000"/>
            <a:ext cx="5526000" cy="1405000"/>
          </a:xfrm>
          <a:prstGeom prst="roundRect">
            <a:avLst>
              <a:gd name="adj" fmla="val 780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2" name="Card texto"/>
          <p:cNvSpPr txBox="1"/>
          <p:nvPr/>
        </p:nvSpPr>
        <p:spPr>
          <a:xfrm>
            <a:off x="12200000" y="7715000"/>
            <a:ext cx="5126000" cy="115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VD se paga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política dá ao VD menos do que o desconto que ele já recebe hoje: +R$ 12 a 30 M/ano, com folga de 2–6% de volume.</a:t>
            </a:r>
          </a:p>
        </p:txBody>
      </p:sp>
      <p:sp>
        <p:nvSpPr>
          <p:cNvPr id="154" name="Rodapé"/>
          <p:cNvSpPr txBox="1"/>
          <p:nvPr/>
        </p:nvSpPr>
        <p:spPr>
          <a:xfrm>
            <a:off x="762000" y="9740000"/>
            <a:ext cx="15441168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constante; ΔLB = receita líquida na Tabela Nova × (1 − desconto da PC) − receita líquida realizada jan–mai/26, anualizada. LB sem custos variáveis além do produto (frete, comissão). O sell-in não mostra verbas off-invoice: se o VI já recebe verba hoje, a perda real é menor. KA fora do escopo.</a:t>
            </a:r>
          </a:p>
        </p:txBody>
      </p:sp>
      <p:sp>
        <p:nvSpPr>
          <p:cNvPr id="155" name="Tab fundo"/>
          <p:cNvSpPr/>
          <p:nvPr/>
        </p:nvSpPr>
        <p:spPr>
          <a:xfrm>
            <a:off x="12000000" y="5510000"/>
            <a:ext cx="5526000" cy="380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6" name="Tab cel"/>
          <p:cNvSpPr txBox="1"/>
          <p:nvPr/>
        </p:nvSpPr>
        <p:spPr>
          <a:xfrm>
            <a:off x="12080000" y="5510000"/>
            <a:ext cx="12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mix 10 p.p.</a:t>
            </a:r>
          </a:p>
        </p:txBody>
      </p:sp>
      <p:sp>
        <p:nvSpPr>
          <p:cNvPr id="157" name="Tab cel"/>
          <p:cNvSpPr txBox="1"/>
          <p:nvPr/>
        </p:nvSpPr>
        <p:spPr>
          <a:xfrm>
            <a:off x="13430000" y="551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−24,7</a:t>
            </a:r>
          </a:p>
        </p:txBody>
      </p:sp>
      <p:sp>
        <p:nvSpPr>
          <p:cNvPr id="158" name="Tab cel"/>
          <p:cNvSpPr txBox="1"/>
          <p:nvPr/>
        </p:nvSpPr>
        <p:spPr>
          <a:xfrm>
            <a:off x="14430000" y="5510000"/>
            <a:ext cx="8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+3,0%</a:t>
            </a:r>
          </a:p>
        </p:txBody>
      </p:sp>
      <p:sp>
        <p:nvSpPr>
          <p:cNvPr id="159" name="Tab cel"/>
          <p:cNvSpPr txBox="1"/>
          <p:nvPr/>
        </p:nvSpPr>
        <p:spPr>
          <a:xfrm>
            <a:off x="15430000" y="551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−1,3</a:t>
            </a:r>
          </a:p>
        </p:txBody>
      </p:sp>
      <p:sp>
        <p:nvSpPr>
          <p:cNvPr id="160" name="Tab cel"/>
          <p:cNvSpPr txBox="1"/>
          <p:nvPr/>
        </p:nvSpPr>
        <p:spPr>
          <a:xfrm>
            <a:off x="16530000" y="5510000"/>
            <a:ext cx="9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</a:p>
        </p:txBody>
      </p:sp>
      <p:pic>
        <p:nvPicPr>
          <p:cNvPr id="5132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133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134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135" name="Número da página"/>
          <p:cNvSpPr txBox="1"/>
          <p:nvPr/>
        </p:nvSpPr>
        <p:spPr>
          <a:xfrm>
            <a:off x="16340328" y="974000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ítulo"/>
          <p:cNvSpPr txBox="1"/>
          <p:nvPr/>
        </p:nvSpPr>
        <p:spPr>
          <a:xfrm>
            <a:off x="758952" y="747356"/>
            <a:ext cx="13368528" cy="620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3850" b="1" kern="0" spc="-57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Alternativas VI | Capitães + sell-through equilibram a conta</a:t>
            </a:r>
          </a:p>
        </p:txBody>
      </p:sp>
      <p:sp>
        <p:nvSpPr>
          <p:cNvPr id="102" name="Subtítulo 1"/>
          <p:cNvSpPr txBox="1"/>
          <p:nvPr/>
        </p:nvSpPr>
        <p:spPr>
          <a:xfrm>
            <a:off x="762000" y="1395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objetivo (cliente entre 90% e 100% do teto) com menos verba: RTP só em 5–7 capitães de preço por ciclo e o 3% ao lojista pago por sell-through.</a:t>
            </a:r>
          </a:p>
        </p:txBody>
      </p:sp>
      <p:sp>
        <p:nvSpPr>
          <p:cNvPr id="103" name="Subtítulo 2"/>
          <p:cNvSpPr txBox="1"/>
          <p:nvPr/>
        </p:nvSpPr>
        <p:spPr>
          <a:xfrm>
            <a:off x="762000" y="1750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alternativa D leva a Premier a </a:t>
            </a:r>
            <a:r>
              <a:rPr lang="pt-BR" sz="1800" b="1" dirty="0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+R$ 5 M/ano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pet shop a 95% e distribuidor a 99% do teto; o desenho atual custa </a:t>
            </a:r>
            <a:r>
              <a:rPr lang="pt-BR" sz="1800" b="1" dirty="0" i="1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−R$ 46 M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5143" name="Card gráfico"/>
          <p:cNvSpPr/>
          <p:nvPr/>
        </p:nvSpPr>
        <p:spPr>
          <a:xfrm>
            <a:off x="762000" y="2420000"/>
            <a:ext cx="10900000" cy="6288461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105" name="Gráfico dispersão por cliente" descr="Dispersão da margem líquida por cliente: só mix vs mix + preço pago, por ca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93" y="2584592"/>
            <a:ext cx="10329414" cy="5959277"/>
          </a:xfrm>
          <a:prstGeom prst="rect">
            <a:avLst/>
          </a:prstGeom>
        </p:spPr>
      </p:pic>
      <p:sp>
        <p:nvSpPr>
          <p:cNvPr id="106" name="Cab. painel"/>
          <p:cNvSpPr txBox="1"/>
          <p:nvPr/>
        </p:nvSpPr>
        <p:spPr>
          <a:xfrm>
            <a:off x="12000000" y="2480000"/>
            <a:ext cx="5526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ALTERNATIVAS · VD + VI (100% DE APROVEITAMENTO)</a:t>
            </a:r>
          </a:p>
        </p:txBody>
      </p:sp>
      <p:sp>
        <p:nvSpPr>
          <p:cNvPr id="107" name="Tab fundo"/>
          <p:cNvSpPr/>
          <p:nvPr/>
        </p:nvSpPr>
        <p:spPr>
          <a:xfrm>
            <a:off x="12000000" y="2850000"/>
            <a:ext cx="5526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42" name="Linha cabeçalho"/>
          <p:cNvSpPr/>
          <p:nvPr/>
        </p:nvSpPr>
        <p:spPr>
          <a:xfrm>
            <a:off x="12000000" y="3220856"/>
            <a:ext cx="5526000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8" name="Tab cel"/>
          <p:cNvSpPr txBox="1"/>
          <p:nvPr/>
        </p:nvSpPr>
        <p:spPr>
          <a:xfrm>
            <a:off x="12080000" y="2850000"/>
            <a:ext cx="16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</a:t>
            </a:r>
          </a:p>
        </p:txBody>
      </p:sp>
      <p:sp>
        <p:nvSpPr>
          <p:cNvPr id="109" name="Tab cel"/>
          <p:cNvSpPr txBox="1"/>
          <p:nvPr/>
        </p:nvSpPr>
        <p:spPr>
          <a:xfrm>
            <a:off x="13830000" y="2850000"/>
            <a:ext cx="8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ΔLB (R$ M)</a:t>
            </a:r>
          </a:p>
        </p:txBody>
      </p:sp>
      <p:sp>
        <p:nvSpPr>
          <p:cNvPr id="110" name="Tab cel"/>
          <p:cNvSpPr txBox="1"/>
          <p:nvPr/>
        </p:nvSpPr>
        <p:spPr>
          <a:xfrm>
            <a:off x="14780000" y="285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Vol. p/ empatar</a:t>
            </a:r>
          </a:p>
        </p:txBody>
      </p:sp>
      <p:sp>
        <p:nvSpPr>
          <p:cNvPr id="111" name="Tab cel"/>
          <p:cNvSpPr txBox="1"/>
          <p:nvPr/>
        </p:nvSpPr>
        <p:spPr>
          <a:xfrm>
            <a:off x="15880000" y="2850000"/>
            <a:ext cx="7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shop</a:t>
            </a:r>
          </a:p>
        </p:txBody>
      </p:sp>
      <p:sp>
        <p:nvSpPr>
          <p:cNvPr id="112" name="Tab cel"/>
          <p:cNvSpPr txBox="1"/>
          <p:nvPr/>
        </p:nvSpPr>
        <p:spPr>
          <a:xfrm>
            <a:off x="16730000" y="2850000"/>
            <a:ext cx="7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mín.</a:t>
            </a:r>
          </a:p>
        </p:txBody>
      </p:sp>
      <p:sp>
        <p:nvSpPr>
          <p:cNvPr id="113" name="Tab fundo"/>
          <p:cNvSpPr/>
          <p:nvPr/>
        </p:nvSpPr>
        <p:spPr>
          <a:xfrm>
            <a:off x="12000000" y="3230000"/>
            <a:ext cx="5526000" cy="380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4" name="Tab cel"/>
          <p:cNvSpPr txBox="1"/>
          <p:nvPr/>
        </p:nvSpPr>
        <p:spPr>
          <a:xfrm>
            <a:off x="12080000" y="3230000"/>
            <a:ext cx="16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Atual</a:t>
            </a:r>
          </a:p>
        </p:txBody>
      </p:sp>
      <p:sp>
        <p:nvSpPr>
          <p:cNvPr id="115" name="Tab cel"/>
          <p:cNvSpPr txBox="1"/>
          <p:nvPr/>
        </p:nvSpPr>
        <p:spPr>
          <a:xfrm>
            <a:off x="13830000" y="3230000"/>
            <a:ext cx="8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−45,5</a:t>
            </a:r>
          </a:p>
        </p:txBody>
      </p:sp>
      <p:sp>
        <p:nvSpPr>
          <p:cNvPr id="116" name="Tab cel"/>
          <p:cNvSpPr txBox="1"/>
          <p:nvPr/>
        </p:nvSpPr>
        <p:spPr>
          <a:xfrm>
            <a:off x="14780000" y="323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+5,7%</a:t>
            </a:r>
          </a:p>
        </p:txBody>
      </p:sp>
      <p:sp>
        <p:nvSpPr>
          <p:cNvPr id="117" name="Tab cel"/>
          <p:cNvSpPr txBox="1"/>
          <p:nvPr/>
        </p:nvSpPr>
        <p:spPr>
          <a:xfrm>
            <a:off x="15880000" y="3230000"/>
            <a:ext cx="7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101%</a:t>
            </a:r>
          </a:p>
        </p:txBody>
      </p:sp>
      <p:sp>
        <p:nvSpPr>
          <p:cNvPr id="118" name="Tab cel"/>
          <p:cNvSpPr txBox="1"/>
          <p:nvPr/>
        </p:nvSpPr>
        <p:spPr>
          <a:xfrm>
            <a:off x="16730000" y="3230000"/>
            <a:ext cx="7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</a:p>
        </p:txBody>
      </p:sp>
      <p:sp>
        <p:nvSpPr>
          <p:cNvPr id="119" name="Tab fundo"/>
          <p:cNvSpPr/>
          <p:nvPr/>
        </p:nvSpPr>
        <p:spPr>
          <a:xfrm>
            <a:off x="12000000" y="3610000"/>
            <a:ext cx="5526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0" name="Tab cel"/>
          <p:cNvSpPr txBox="1"/>
          <p:nvPr/>
        </p:nvSpPr>
        <p:spPr>
          <a:xfrm>
            <a:off x="12080000" y="3610000"/>
            <a:ext cx="16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Capitães VI</a:t>
            </a:r>
          </a:p>
        </p:txBody>
      </p:sp>
      <p:sp>
        <p:nvSpPr>
          <p:cNvPr id="121" name="Tab cel"/>
          <p:cNvSpPr txBox="1"/>
          <p:nvPr/>
        </p:nvSpPr>
        <p:spPr>
          <a:xfrm>
            <a:off x="13830000" y="3610000"/>
            <a:ext cx="8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−33,3</a:t>
            </a:r>
          </a:p>
        </p:txBody>
      </p:sp>
      <p:sp>
        <p:nvSpPr>
          <p:cNvPr id="122" name="Tab cel"/>
          <p:cNvSpPr txBox="1"/>
          <p:nvPr/>
        </p:nvSpPr>
        <p:spPr>
          <a:xfrm>
            <a:off x="14780000" y="361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+4,1%</a:t>
            </a:r>
          </a:p>
        </p:txBody>
      </p:sp>
      <p:sp>
        <p:nvSpPr>
          <p:cNvPr id="123" name="Tab cel"/>
          <p:cNvSpPr txBox="1"/>
          <p:nvPr/>
        </p:nvSpPr>
        <p:spPr>
          <a:xfrm>
            <a:off x="15880000" y="3610000"/>
            <a:ext cx="7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</a:p>
        </p:txBody>
      </p:sp>
      <p:sp>
        <p:nvSpPr>
          <p:cNvPr id="124" name="Tab cel"/>
          <p:cNvSpPr txBox="1"/>
          <p:nvPr/>
        </p:nvSpPr>
        <p:spPr>
          <a:xfrm>
            <a:off x="16730000" y="3610000"/>
            <a:ext cx="7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</a:p>
        </p:txBody>
      </p:sp>
      <p:sp>
        <p:nvSpPr>
          <p:cNvPr id="125" name="Tab fundo"/>
          <p:cNvSpPr/>
          <p:nvPr/>
        </p:nvSpPr>
        <p:spPr>
          <a:xfrm>
            <a:off x="12000000" y="3990000"/>
            <a:ext cx="5526000" cy="380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6" name="Tab cel"/>
          <p:cNvSpPr txBox="1"/>
          <p:nvPr/>
        </p:nvSpPr>
        <p:spPr>
          <a:xfrm>
            <a:off x="12080000" y="3990000"/>
            <a:ext cx="16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Capitães VD+VI</a:t>
            </a:r>
          </a:p>
        </p:txBody>
      </p:sp>
      <p:sp>
        <p:nvSpPr>
          <p:cNvPr id="127" name="Tab cel"/>
          <p:cNvSpPr txBox="1"/>
          <p:nvPr/>
        </p:nvSpPr>
        <p:spPr>
          <a:xfrm>
            <a:off x="13830000" y="3990000"/>
            <a:ext cx="8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−2,9</a:t>
            </a:r>
          </a:p>
        </p:txBody>
      </p:sp>
      <p:sp>
        <p:nvSpPr>
          <p:cNvPr id="128" name="Tab cel"/>
          <p:cNvSpPr txBox="1"/>
          <p:nvPr/>
        </p:nvSpPr>
        <p:spPr>
          <a:xfrm>
            <a:off x="14780000" y="399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+0,3%</a:t>
            </a:r>
          </a:p>
        </p:txBody>
      </p:sp>
      <p:sp>
        <p:nvSpPr>
          <p:cNvPr id="129" name="Tab cel"/>
          <p:cNvSpPr txBox="1"/>
          <p:nvPr/>
        </p:nvSpPr>
        <p:spPr>
          <a:xfrm>
            <a:off x="15880000" y="3990000"/>
            <a:ext cx="7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</a:p>
        </p:txBody>
      </p:sp>
      <p:sp>
        <p:nvSpPr>
          <p:cNvPr id="130" name="Tab cel"/>
          <p:cNvSpPr txBox="1"/>
          <p:nvPr/>
        </p:nvSpPr>
        <p:spPr>
          <a:xfrm>
            <a:off x="16730000" y="3990000"/>
            <a:ext cx="7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</a:p>
        </p:txBody>
      </p:sp>
      <p:sp>
        <p:nvSpPr>
          <p:cNvPr id="131" name="Tab fundo"/>
          <p:cNvSpPr/>
          <p:nvPr/>
        </p:nvSpPr>
        <p:spPr>
          <a:xfrm>
            <a:off x="12000000" y="4370000"/>
            <a:ext cx="5526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2" name="Tab cel"/>
          <p:cNvSpPr txBox="1"/>
          <p:nvPr/>
        </p:nvSpPr>
        <p:spPr>
          <a:xfrm>
            <a:off x="12080000" y="4370000"/>
            <a:ext cx="16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C + ST 70%</a:t>
            </a:r>
          </a:p>
        </p:txBody>
      </p:sp>
      <p:sp>
        <p:nvSpPr>
          <p:cNvPr id="133" name="Tab cel"/>
          <p:cNvSpPr txBox="1"/>
          <p:nvPr/>
        </p:nvSpPr>
        <p:spPr>
          <a:xfrm>
            <a:off x="13830000" y="4370000"/>
            <a:ext cx="8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+5,3</a:t>
            </a:r>
          </a:p>
        </p:txBody>
      </p:sp>
      <p:sp>
        <p:nvSpPr>
          <p:cNvPr id="134" name="Tab cel"/>
          <p:cNvSpPr txBox="1"/>
          <p:nvPr/>
        </p:nvSpPr>
        <p:spPr>
          <a:xfrm>
            <a:off x="14780000" y="437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folga 0,6%</a:t>
            </a:r>
          </a:p>
        </p:txBody>
      </p:sp>
      <p:sp>
        <p:nvSpPr>
          <p:cNvPr id="135" name="Tab cel"/>
          <p:cNvSpPr txBox="1"/>
          <p:nvPr/>
        </p:nvSpPr>
        <p:spPr>
          <a:xfrm>
            <a:off x="15880000" y="4370000"/>
            <a:ext cx="7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</a:p>
        </p:txBody>
      </p:sp>
      <p:sp>
        <p:nvSpPr>
          <p:cNvPr id="136" name="Tab cel"/>
          <p:cNvSpPr txBox="1"/>
          <p:nvPr/>
        </p:nvSpPr>
        <p:spPr>
          <a:xfrm>
            <a:off x="16730000" y="4370000"/>
            <a:ext cx="7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</a:p>
        </p:txBody>
      </p:sp>
      <p:sp>
        <p:nvSpPr>
          <p:cNvPr id="137" name="Tab fundo"/>
          <p:cNvSpPr/>
          <p:nvPr/>
        </p:nvSpPr>
        <p:spPr>
          <a:xfrm>
            <a:off x="12000000" y="4750000"/>
            <a:ext cx="5526000" cy="380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8" name="Tab cel"/>
          <p:cNvSpPr txBox="1"/>
          <p:nvPr/>
        </p:nvSpPr>
        <p:spPr>
          <a:xfrm>
            <a:off x="12080000" y="4750000"/>
            <a:ext cx="16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C + ST 50%</a:t>
            </a:r>
          </a:p>
        </p:txBody>
      </p:sp>
      <p:sp>
        <p:nvSpPr>
          <p:cNvPr id="139" name="Tab cel"/>
          <p:cNvSpPr txBox="1"/>
          <p:nvPr/>
        </p:nvSpPr>
        <p:spPr>
          <a:xfrm>
            <a:off x="13830000" y="4750000"/>
            <a:ext cx="8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+10,8</a:t>
            </a:r>
          </a:p>
        </p:txBody>
      </p:sp>
      <p:sp>
        <p:nvSpPr>
          <p:cNvPr id="140" name="Tab cel"/>
          <p:cNvSpPr txBox="1"/>
          <p:nvPr/>
        </p:nvSpPr>
        <p:spPr>
          <a:xfrm>
            <a:off x="14780000" y="475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folga 1,3%</a:t>
            </a:r>
          </a:p>
        </p:txBody>
      </p:sp>
      <p:sp>
        <p:nvSpPr>
          <p:cNvPr id="141" name="Tab cel"/>
          <p:cNvSpPr txBox="1"/>
          <p:nvPr/>
        </p:nvSpPr>
        <p:spPr>
          <a:xfrm>
            <a:off x="15880000" y="4750000"/>
            <a:ext cx="7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</a:p>
        </p:txBody>
      </p:sp>
      <p:sp>
        <p:nvSpPr>
          <p:cNvPr id="142" name="Tab cel"/>
          <p:cNvSpPr txBox="1"/>
          <p:nvPr/>
        </p:nvSpPr>
        <p:spPr>
          <a:xfrm>
            <a:off x="16730000" y="4750000"/>
            <a:ext cx="7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</a:p>
        </p:txBody>
      </p:sp>
      <p:sp>
        <p:nvSpPr>
          <p:cNvPr id="143" name="Tab fundo"/>
          <p:cNvSpPr/>
          <p:nvPr/>
        </p:nvSpPr>
        <p:spPr>
          <a:xfrm>
            <a:off x="12000000" y="5130000"/>
            <a:ext cx="55260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4" name="Tab cel"/>
          <p:cNvSpPr txBox="1"/>
          <p:nvPr/>
        </p:nvSpPr>
        <p:spPr>
          <a:xfrm>
            <a:off x="12080000" y="5130000"/>
            <a:ext cx="16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· Só PPP</a:t>
            </a:r>
          </a:p>
        </p:txBody>
      </p:sp>
      <p:sp>
        <p:nvSpPr>
          <p:cNvPr id="145" name="Tab cel"/>
          <p:cNvSpPr txBox="1"/>
          <p:nvPr/>
        </p:nvSpPr>
        <p:spPr>
          <a:xfrm>
            <a:off x="13830000" y="5130000"/>
            <a:ext cx="8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+30,4</a:t>
            </a:r>
          </a:p>
        </p:txBody>
      </p:sp>
      <p:sp>
        <p:nvSpPr>
          <p:cNvPr id="146" name="Tab cel"/>
          <p:cNvSpPr txBox="1"/>
          <p:nvPr/>
        </p:nvSpPr>
        <p:spPr>
          <a:xfrm>
            <a:off x="14780000" y="513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folga 3,5%</a:t>
            </a:r>
          </a:p>
        </p:txBody>
      </p:sp>
      <p:sp>
        <p:nvSpPr>
          <p:cNvPr id="147" name="Tab cel"/>
          <p:cNvSpPr txBox="1"/>
          <p:nvPr/>
        </p:nvSpPr>
        <p:spPr>
          <a:xfrm>
            <a:off x="15880000" y="5130000"/>
            <a:ext cx="7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</a:p>
        </p:txBody>
      </p:sp>
      <p:sp>
        <p:nvSpPr>
          <p:cNvPr id="148" name="Tab cel"/>
          <p:cNvSpPr txBox="1"/>
          <p:nvPr/>
        </p:nvSpPr>
        <p:spPr>
          <a:xfrm>
            <a:off x="16730000" y="5130000"/>
            <a:ext cx="7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</a:p>
        </p:txBody>
      </p:sp>
      <p:sp>
        <p:nvSpPr>
          <p:cNvPr id="149" name="Card"/>
          <p:cNvSpPr/>
          <p:nvPr/>
        </p:nvSpPr>
        <p:spPr>
          <a:xfrm>
            <a:off x="12000000" y="6040000"/>
            <a:ext cx="5526000" cy="1405000"/>
          </a:xfrm>
          <a:prstGeom prst="roundRect">
            <a:avLst>
              <a:gd name="adj" fmla="val 780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0" name="Card texto"/>
          <p:cNvSpPr txBox="1"/>
          <p:nvPr/>
        </p:nvSpPr>
        <p:spPr>
          <a:xfrm>
            <a:off x="12200000" y="6190000"/>
            <a:ext cx="5126000" cy="115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Recomendação: alternativa D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RTP em 5–7 capitães por ciclo no VD e no VI + 3% ao lojista atrelado ao sell-through do distribuidor. O RTP fica controlável (poucos SKUs, prova de repasse) e o 3% só é pago com meta batida.</a:t>
            </a:r>
          </a:p>
        </p:txBody>
      </p:sp>
      <p:sp>
        <p:nvSpPr>
          <p:cNvPr id="151" name="Card"/>
          <p:cNvSpPr/>
          <p:nvPr/>
        </p:nvSpPr>
        <p:spPr>
          <a:xfrm>
            <a:off x="12000000" y="7565000"/>
            <a:ext cx="5526000" cy="1405000"/>
          </a:xfrm>
          <a:prstGeom prst="roundRect">
            <a:avLst>
              <a:gd name="adj" fmla="val 7809"/>
            </a:avLst>
          </a:prstGeom>
          <a:solidFill>
            <a:srgbClr val="FFF4E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2" name="Card texto"/>
          <p:cNvSpPr txBox="1"/>
          <p:nvPr/>
        </p:nvSpPr>
        <p:spPr>
          <a:xfrm>
            <a:off x="12200000" y="7715000"/>
            <a:ext cx="5126000" cy="115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atenção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RTP só em capitães, o Super GG/GG cai a 89% do teto. Saídas: capitães próprios para o cluster ou JBP ajustado. A viabilidade de gerir metas do pequeno varejo ainda precisa ser confirmada.</a:t>
            </a:r>
          </a:p>
        </p:txBody>
      </p:sp>
      <p:sp>
        <p:nvSpPr>
          <p:cNvPr id="154" name="Rodapé"/>
          <p:cNvSpPr txBox="1"/>
          <p:nvPr/>
        </p:nvSpPr>
        <p:spPr>
          <a:xfrm>
            <a:off x="762000" y="9740000"/>
            <a:ext cx="15441168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Capitães = 7 SKUs ≈ 25% do faturamento no VD e 33% no VI (maiores SKUs atuais; com rodízio, a fração tende a ser menor). VI: PPP 3% (100%) + sell-through 3% × atingimento + RTP 2% × fração em capitães. VD: condicional 100% + RTP 3% × fração em capitães. Volume constante; vol. p/ empatar sobre LB anual VD + VI de R$ 839 M.</a:t>
            </a:r>
          </a:p>
        </p:txBody>
      </p:sp>
      <p:sp>
        <p:nvSpPr>
          <p:cNvPr id="155" name="Tab fundo"/>
          <p:cNvSpPr/>
          <p:nvPr/>
        </p:nvSpPr>
        <p:spPr>
          <a:xfrm>
            <a:off x="12000000" y="5510000"/>
            <a:ext cx="5526000" cy="380000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6" name="Tab cel"/>
          <p:cNvSpPr txBox="1"/>
          <p:nvPr/>
        </p:nvSpPr>
        <p:spPr>
          <a:xfrm>
            <a:off x="12080000" y="5510000"/>
            <a:ext cx="16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mix 10 p.p.</a:t>
            </a:r>
          </a:p>
        </p:txBody>
      </p:sp>
      <p:sp>
        <p:nvSpPr>
          <p:cNvPr id="157" name="Tab cel"/>
          <p:cNvSpPr txBox="1"/>
          <p:nvPr/>
        </p:nvSpPr>
        <p:spPr>
          <a:xfrm>
            <a:off x="13830000" y="5510000"/>
            <a:ext cx="8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+20,8</a:t>
            </a:r>
          </a:p>
        </p:txBody>
      </p:sp>
      <p:sp>
        <p:nvSpPr>
          <p:cNvPr id="158" name="Tab cel"/>
          <p:cNvSpPr txBox="1"/>
          <p:nvPr/>
        </p:nvSpPr>
        <p:spPr>
          <a:xfrm>
            <a:off x="14780000" y="5510000"/>
            <a:ext cx="9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−2,5 p.p.</a:t>
            </a:r>
          </a:p>
        </p:txBody>
      </p:sp>
      <p:sp>
        <p:nvSpPr>
          <p:cNvPr id="159" name="Tab cel"/>
          <p:cNvSpPr txBox="1"/>
          <p:nvPr/>
        </p:nvSpPr>
        <p:spPr>
          <a:xfrm>
            <a:off x="15880000" y="5510000"/>
            <a:ext cx="73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todas</a:t>
            </a:r>
          </a:p>
        </p:txBody>
      </p:sp>
      <p:sp>
        <p:nvSpPr>
          <p:cNvPr id="160" name="Tab cel"/>
          <p:cNvSpPr txBox="1"/>
          <p:nvPr/>
        </p:nvSpPr>
        <p:spPr>
          <a:xfrm>
            <a:off x="16730000" y="5510000"/>
            <a:ext cx="756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alt.</a:t>
            </a:r>
          </a:p>
        </p:txBody>
      </p:sp>
      <p:pic>
        <p:nvPicPr>
          <p:cNvPr id="5138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139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140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141" name="Número da página"/>
          <p:cNvSpPr txBox="1"/>
          <p:nvPr/>
        </p:nvSpPr>
        <p:spPr>
          <a:xfrm>
            <a:off x="16340328" y="974000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ítulo"/>
          <p:cNvSpPr txBox="1"/>
          <p:nvPr/>
        </p:nvSpPr>
        <p:spPr>
          <a:xfrm>
            <a:off x="758952" y="747356"/>
            <a:ext cx="13368528" cy="620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3850" b="1" kern="0" spc="-57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Alternativas VI | Capitães + sell-through equilibram a conta</a:t>
            </a:r>
          </a:p>
        </p:txBody>
      </p:sp>
      <p:sp>
        <p:nvSpPr>
          <p:cNvPr id="102" name="Subtítulo 1"/>
          <p:cNvSpPr txBox="1"/>
          <p:nvPr/>
        </p:nvSpPr>
        <p:spPr>
          <a:xfrm>
            <a:off x="762000" y="1395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alternativa aberta por cluster e canal: índice da margem do cliente vs. teto e efeito no lucro bruto da Premier.</a:t>
            </a:r>
          </a:p>
        </p:txBody>
      </p:sp>
      <p:sp>
        <p:nvSpPr>
          <p:cNvPr id="103" name="Subtítulo 2"/>
          <p:cNvSpPr txBox="1"/>
          <p:nvPr/>
        </p:nvSpPr>
        <p:spPr>
          <a:xfrm>
            <a:off x="762000" y="1750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 alternativa D leva a Premier a +R$ 5 M/ano (+R$ 26 M com premiumização de 10 p.p.), com o varejo na faixa, exceto o Super GG/GG (89%).</a:t>
            </a:r>
            <a:r>
              <a:rPr lang="pt-BR" sz="1800" b="1" dirty="0" i="1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r>
              <a:rPr lang="pt-BR" sz="1800" b="1" dirty="0" i="1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/>
            </a:r>
          </a:p>
        </p:txBody>
      </p:sp>
      <p:sp>
        <p:nvSpPr>
          <p:cNvPr id="5148" name="Card gráfico"/>
          <p:cNvSpPr/>
          <p:nvPr/>
        </p:nvSpPr>
        <p:spPr>
          <a:xfrm>
            <a:off x="762000" y="2420000"/>
            <a:ext cx="10900000" cy="6169811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105" name="Gráfico dispersão por cliente" descr="Dispersão da margem líquida por cliente: só mix vs mix + preço pago, por ca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79" y="2584592"/>
            <a:ext cx="10318442" cy="5840627"/>
          </a:xfrm>
          <a:prstGeom prst="rect">
            <a:avLst/>
          </a:prstGeom>
        </p:spPr>
      </p:pic>
      <p:sp>
        <p:nvSpPr>
          <p:cNvPr id="106" name="Cab. painel"/>
          <p:cNvSpPr txBox="1"/>
          <p:nvPr/>
        </p:nvSpPr>
        <p:spPr>
          <a:xfrm>
            <a:off x="12000000" y="2480000"/>
            <a:ext cx="5526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LER A MATRIZ</a:t>
            </a:r>
          </a:p>
        </p:txBody>
      </p:sp>
      <p:sp>
        <p:nvSpPr>
          <p:cNvPr id="107" name="Card"/>
          <p:cNvSpPr/>
          <p:nvPr/>
        </p:nvSpPr>
        <p:spPr>
          <a:xfrm>
            <a:off x="12000000" y="2850000"/>
            <a:ext cx="5526000" cy="2810000"/>
          </a:xfrm>
          <a:prstGeom prst="roundRect">
            <a:avLst>
              <a:gd name="adj" fmla="val 390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8" name="Card texto"/>
          <p:cNvSpPr txBox="1"/>
          <p:nvPr/>
        </p:nvSpPr>
        <p:spPr>
          <a:xfrm>
            <a:off x="12200000" y="3000000"/>
            <a:ext cx="5126000" cy="2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alavancas independentes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RTP em capitães no VD (B → C): +R$ 30 M e −4 a 5 pontos de índice em cada cluster. Sell-through condicional no VI (C → D/E): +R$ 8 a 14 M e −2 a 3 pontos no pet shop. O distribuidor fica em 99% em todas.</a:t>
            </a:r>
          </a:p>
        </p:txBody>
      </p:sp>
      <p:sp>
        <p:nvSpPr>
          <p:cNvPr id="109" name="Card"/>
          <p:cNvSpPr/>
          <p:nvPr/>
        </p:nvSpPr>
        <p:spPr>
          <a:xfrm>
            <a:off x="12000000" y="5780000"/>
            <a:ext cx="5526000" cy="2810000"/>
          </a:xfrm>
          <a:prstGeom prst="roundRect">
            <a:avLst>
              <a:gd name="adj" fmla="val 3904"/>
            </a:avLst>
          </a:prstGeom>
          <a:solidFill>
            <a:srgbClr val="FFF4E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0" name="Card texto"/>
          <p:cNvSpPr txBox="1"/>
          <p:nvPr/>
        </p:nvSpPr>
        <p:spPr>
          <a:xfrm>
            <a:off x="12200000" y="5930000"/>
            <a:ext cx="5126000" cy="2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Recomendação: D, com ajuste no Super GG/GG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voltar à faixa: 10 capitães no cluster (cerca de 90%), +1 p.p. de JBP, ou RTP em todos os SKUs só no Super GG/GG (custo de cerca de R$ 7 M; D fica em cerca de −R$ 2 M).</a:t>
            </a:r>
          </a:p>
        </p:txBody>
      </p:sp>
      <p:sp>
        <p:nvSpPr>
          <p:cNvPr id="112" name="Rodapé"/>
          <p:cNvSpPr txBox="1"/>
          <p:nvPr/>
        </p:nvSpPr>
        <p:spPr>
          <a:xfrm>
            <a:off x="762000" y="9740000"/>
            <a:ext cx="15441168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Capitães = 7 SKUs ≈ 25% do faturamento no VD e 33% no VI (maiores SKUs atuais; com rodízio, a fração tende a ser menor). VI: PPP 3% + sell-through 3% × atingimento + RTP 2% × fração em capitães. 100% de aproveitamento, preço ao shopper igual, volume constante.</a:t>
            </a:r>
          </a:p>
        </p:txBody>
      </p:sp>
      <p:pic>
        <p:nvPicPr>
          <p:cNvPr id="5144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145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146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147" name="Número da página"/>
          <p:cNvSpPr txBox="1"/>
          <p:nvPr/>
        </p:nvSpPr>
        <p:spPr>
          <a:xfrm>
            <a:off x="16340328" y="974000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ítulo"/>
          <p:cNvSpPr txBox="1"/>
          <p:nvPr/>
        </p:nvSpPr>
        <p:spPr>
          <a:xfrm>
            <a:off x="758952" y="747356"/>
            <a:ext cx="13368528" cy="620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4150" b="1" kern="0" spc="-62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| O que precisamos fechar hoje</a:t>
            </a:r>
          </a:p>
        </p:txBody>
      </p:sp>
      <p:sp>
        <p:nvSpPr>
          <p:cNvPr id="102" name="Subtítulo 1"/>
          <p:cNvSpPr txBox="1"/>
          <p:nvPr/>
        </p:nvSpPr>
        <p:spPr>
          <a:xfrm>
            <a:off x="762000" y="1395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pontos para a Premier decidir; os números de cada um estão nos slides anteriores.</a:t>
            </a:r>
          </a:p>
        </p:txBody>
      </p:sp>
      <p:sp>
        <p:nvSpPr>
          <p:cNvPr id="104" name="H"/>
          <p:cNvSpPr/>
          <p:nvPr/>
        </p:nvSpPr>
        <p:spPr>
          <a:xfrm>
            <a:off x="762000" y="2450000"/>
            <a:ext cx="60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5" name="H"/>
          <p:cNvSpPr txBox="1"/>
          <p:nvPr/>
        </p:nvSpPr>
        <p:spPr>
          <a:xfrm>
            <a:off x="882000" y="2450000"/>
            <a:ext cx="4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</a:p>
        </p:txBody>
      </p:sp>
      <p:sp>
        <p:nvSpPr>
          <p:cNvPr id="106" name="H"/>
          <p:cNvSpPr/>
          <p:nvPr/>
        </p:nvSpPr>
        <p:spPr>
          <a:xfrm>
            <a:off x="1362000" y="2450000"/>
            <a:ext cx="430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7" name="H"/>
          <p:cNvSpPr txBox="1"/>
          <p:nvPr/>
        </p:nvSpPr>
        <p:spPr>
          <a:xfrm>
            <a:off x="1482000" y="2450000"/>
            <a:ext cx="4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</a:p>
        </p:txBody>
      </p:sp>
      <p:sp>
        <p:nvSpPr>
          <p:cNvPr id="108" name="H"/>
          <p:cNvSpPr/>
          <p:nvPr/>
        </p:nvSpPr>
        <p:spPr>
          <a:xfrm>
            <a:off x="5662000" y="2450000"/>
            <a:ext cx="5600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9" name="H"/>
          <p:cNvSpPr txBox="1"/>
          <p:nvPr/>
        </p:nvSpPr>
        <p:spPr>
          <a:xfrm>
            <a:off x="5782000" y="2450000"/>
            <a:ext cx="54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Opções</a:t>
            </a:r>
          </a:p>
        </p:txBody>
      </p:sp>
      <p:sp>
        <p:nvSpPr>
          <p:cNvPr id="110" name="H"/>
          <p:cNvSpPr/>
          <p:nvPr/>
        </p:nvSpPr>
        <p:spPr>
          <a:xfrm>
            <a:off x="11262000" y="2450000"/>
            <a:ext cx="6264000" cy="3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53" name="Linha cabeçalho"/>
          <p:cNvSpPr/>
          <p:nvPr/>
        </p:nvSpPr>
        <p:spPr>
          <a:xfrm>
            <a:off x="762000" y="2820856"/>
            <a:ext cx="16764000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1" name="H"/>
          <p:cNvSpPr txBox="1"/>
          <p:nvPr/>
        </p:nvSpPr>
        <p:spPr>
          <a:xfrm>
            <a:off x="11382000" y="2450000"/>
            <a:ext cx="6064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</a:t>
            </a:r>
          </a:p>
        </p:txBody>
      </p:sp>
      <p:sp>
        <p:nvSpPr>
          <p:cNvPr id="112" name="R"/>
          <p:cNvSpPr/>
          <p:nvPr/>
        </p:nvSpPr>
        <p:spPr>
          <a:xfrm>
            <a:off x="762000" y="2830000"/>
            <a:ext cx="16764000" cy="1020000"/>
          </a:xfrm>
          <a:prstGeom prst="roundRect">
            <a:avLst>
              <a:gd name="adj" fmla="val 1075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3" name="C"/>
          <p:cNvSpPr txBox="1"/>
          <p:nvPr/>
        </p:nvSpPr>
        <p:spPr>
          <a:xfrm>
            <a:off x="882000" y="2830000"/>
            <a:ext cx="3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4" name="C"/>
          <p:cNvSpPr txBox="1"/>
          <p:nvPr/>
        </p:nvSpPr>
        <p:spPr>
          <a:xfrm>
            <a:off x="1482000" y="2830000"/>
            <a:ext cx="40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Teto de margem do VD</a:t>
            </a:r>
          </a:p>
        </p:txBody>
      </p:sp>
      <p:sp>
        <p:nvSpPr>
          <p:cNvPr id="115" name="C"/>
          <p:cNvSpPr txBox="1"/>
          <p:nvPr/>
        </p:nvSpPr>
        <p:spPr>
          <a:xfrm>
            <a:off x="5782000" y="2830000"/>
            <a:ext cx="53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bruta (38 / 35 / 35 / 33%) ou mark-up (60 / 55 / 50 / 45%), hoje inconsistentes no M e no P</a:t>
            </a:r>
          </a:p>
        </p:txBody>
      </p:sp>
      <p:sp>
        <p:nvSpPr>
          <p:cNvPr id="116" name="C"/>
          <p:cNvSpPr txBox="1"/>
          <p:nvPr/>
        </p:nvSpPr>
        <p:spPr>
          <a:xfrm>
            <a:off x="11382000" y="2830000"/>
            <a:ext cx="6024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a MB como referência e alinhar o mark-up a ela (61 / 54 / 54 / 49%)</a:t>
            </a:r>
          </a:p>
        </p:txBody>
      </p:sp>
      <p:sp>
        <p:nvSpPr>
          <p:cNvPr id="117" name="R"/>
          <p:cNvSpPr/>
          <p:nvPr/>
        </p:nvSpPr>
        <p:spPr>
          <a:xfrm>
            <a:off x="762000" y="3850000"/>
            <a:ext cx="16764000" cy="10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8" name="C"/>
          <p:cNvSpPr txBox="1"/>
          <p:nvPr/>
        </p:nvSpPr>
        <p:spPr>
          <a:xfrm>
            <a:off x="882000" y="3850000"/>
            <a:ext cx="3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119" name="C"/>
          <p:cNvSpPr txBox="1"/>
          <p:nvPr/>
        </p:nvSpPr>
        <p:spPr>
          <a:xfrm>
            <a:off x="1482000" y="3850000"/>
            <a:ext cx="40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1%</a:t>
            </a:r>
          </a:p>
        </p:txBody>
      </p:sp>
      <p:sp>
        <p:nvSpPr>
          <p:cNvPr id="120" name="C"/>
          <p:cNvSpPr txBox="1"/>
          <p:nvPr/>
        </p:nvSpPr>
        <p:spPr>
          <a:xfrm>
            <a:off x="5782000" y="3850000"/>
            <a:ext cx="53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premiumização (Premier sobre Golden) ou B · penetração Nattu</a:t>
            </a:r>
          </a:p>
        </p:txBody>
      </p:sp>
      <p:sp>
        <p:nvSpPr>
          <p:cNvPr id="121" name="C"/>
          <p:cNvSpPr txBox="1"/>
          <p:nvPr/>
        </p:nvSpPr>
        <p:spPr>
          <a:xfrm>
            <a:off x="11382000" y="3850000"/>
            <a:ext cx="6024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A: é o único incentivo que se paga pela margem da Premier (+R$ 21 M/ano a cada 10 p.p., VD + VI)</a:t>
            </a:r>
          </a:p>
        </p:txBody>
      </p:sp>
      <p:sp>
        <p:nvSpPr>
          <p:cNvPr id="122" name="R"/>
          <p:cNvSpPr/>
          <p:nvPr/>
        </p:nvSpPr>
        <p:spPr>
          <a:xfrm>
            <a:off x="762000" y="4870000"/>
            <a:ext cx="16764000" cy="1020000"/>
          </a:xfrm>
          <a:prstGeom prst="roundRect">
            <a:avLst>
              <a:gd name="adj" fmla="val 1075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3" name="C"/>
          <p:cNvSpPr txBox="1"/>
          <p:nvPr/>
        </p:nvSpPr>
        <p:spPr>
          <a:xfrm>
            <a:off x="882000" y="4870000"/>
            <a:ext cx="3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24" name="C"/>
          <p:cNvSpPr txBox="1"/>
          <p:nvPr/>
        </p:nvSpPr>
        <p:spPr>
          <a:xfrm>
            <a:off x="1482000" y="4870000"/>
            <a:ext cx="40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RTP</a:t>
            </a:r>
          </a:p>
        </p:txBody>
      </p:sp>
      <p:sp>
        <p:nvSpPr>
          <p:cNvPr id="125" name="C"/>
          <p:cNvSpPr txBox="1"/>
          <p:nvPr/>
        </p:nvSpPr>
        <p:spPr>
          <a:xfrm>
            <a:off x="5782000" y="4870000"/>
            <a:ext cx="53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 em todos os SKUs ou em 5–7 capitães de preço por ciclo (VD e VI)</a:t>
            </a:r>
          </a:p>
        </p:txBody>
      </p:sp>
      <p:sp>
        <p:nvSpPr>
          <p:cNvPr id="126" name="C"/>
          <p:cNvSpPr txBox="1"/>
          <p:nvPr/>
        </p:nvSpPr>
        <p:spPr>
          <a:xfrm>
            <a:off x="11382000" y="4870000"/>
            <a:ext cx="6024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Capitães, com exceção para o Super GG/GG (mais capitães ou JBP)</a:t>
            </a:r>
          </a:p>
        </p:txBody>
      </p:sp>
      <p:sp>
        <p:nvSpPr>
          <p:cNvPr id="127" name="R"/>
          <p:cNvSpPr/>
          <p:nvPr/>
        </p:nvSpPr>
        <p:spPr>
          <a:xfrm>
            <a:off x="762000" y="5890000"/>
            <a:ext cx="16764000" cy="10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8" name="C"/>
          <p:cNvSpPr txBox="1"/>
          <p:nvPr/>
        </p:nvSpPr>
        <p:spPr>
          <a:xfrm>
            <a:off x="882000" y="5890000"/>
            <a:ext cx="3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29" name="C"/>
          <p:cNvSpPr txBox="1"/>
          <p:nvPr/>
        </p:nvSpPr>
        <p:spPr>
          <a:xfrm>
            <a:off x="1482000" y="5890000"/>
            <a:ext cx="40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 ao lojista no VI</a:t>
            </a:r>
          </a:p>
        </p:txBody>
      </p:sp>
      <p:sp>
        <p:nvSpPr>
          <p:cNvPr id="130" name="C"/>
          <p:cNvSpPr txBox="1"/>
          <p:nvPr/>
        </p:nvSpPr>
        <p:spPr>
          <a:xfrm>
            <a:off x="5782000" y="5890000"/>
            <a:ext cx="53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por sell-through do distribuidor, com metas ao pequeno varejo</a:t>
            </a:r>
          </a:p>
        </p:txBody>
      </p:sp>
      <p:sp>
        <p:nvSpPr>
          <p:cNvPr id="131" name="C"/>
          <p:cNvSpPr txBox="1"/>
          <p:nvPr/>
        </p:nvSpPr>
        <p:spPr>
          <a:xfrm>
            <a:off x="11382000" y="5890000"/>
            <a:ext cx="6024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Aprovar o desenho e validar a viabilidade operacional (dono, apuração, prazo)</a:t>
            </a:r>
          </a:p>
        </p:txBody>
      </p:sp>
      <p:sp>
        <p:nvSpPr>
          <p:cNvPr id="132" name="R"/>
          <p:cNvSpPr/>
          <p:nvPr/>
        </p:nvSpPr>
        <p:spPr>
          <a:xfrm>
            <a:off x="762000" y="6910000"/>
            <a:ext cx="16764000" cy="1020000"/>
          </a:xfrm>
          <a:prstGeom prst="roundRect">
            <a:avLst>
              <a:gd name="adj" fmla="val 1075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3" name="C"/>
          <p:cNvSpPr txBox="1"/>
          <p:nvPr/>
        </p:nvSpPr>
        <p:spPr>
          <a:xfrm>
            <a:off x="882000" y="6910000"/>
            <a:ext cx="3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sp>
        <p:nvSpPr>
          <p:cNvPr id="134" name="C"/>
          <p:cNvSpPr txBox="1"/>
          <p:nvPr/>
        </p:nvSpPr>
        <p:spPr>
          <a:xfrm>
            <a:off x="1482000" y="6910000"/>
            <a:ext cx="40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Tático do gerente</a:t>
            </a:r>
          </a:p>
        </p:txBody>
      </p:sp>
      <p:sp>
        <p:nvSpPr>
          <p:cNvPr id="135" name="C"/>
          <p:cNvSpPr txBox="1"/>
          <p:nvPr/>
        </p:nvSpPr>
        <p:spPr>
          <a:xfrm>
            <a:off x="5782000" y="6910000"/>
            <a:ext cx="53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1% por cliente, teto de 5% no cliente</a:t>
            </a:r>
          </a:p>
        </p:txBody>
      </p:sp>
      <p:sp>
        <p:nvSpPr>
          <p:cNvPr id="136" name="C"/>
          <p:cNvSpPr txBox="1"/>
          <p:nvPr/>
        </p:nvSpPr>
        <p:spPr>
          <a:xfrm>
            <a:off x="11382000" y="6910000"/>
            <a:ext cx="6024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como budget fora da régua, com alçada e registro</a:t>
            </a:r>
          </a:p>
        </p:txBody>
      </p:sp>
      <p:sp>
        <p:nvSpPr>
          <p:cNvPr id="137" name="R"/>
          <p:cNvSpPr/>
          <p:nvPr/>
        </p:nvSpPr>
        <p:spPr>
          <a:xfrm>
            <a:off x="762000" y="7930000"/>
            <a:ext cx="16764000" cy="10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8" name="C"/>
          <p:cNvSpPr txBox="1"/>
          <p:nvPr/>
        </p:nvSpPr>
        <p:spPr>
          <a:xfrm>
            <a:off x="882000" y="7930000"/>
            <a:ext cx="3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</a:p>
        </p:txBody>
      </p:sp>
      <p:sp>
        <p:nvSpPr>
          <p:cNvPr id="139" name="C"/>
          <p:cNvSpPr txBox="1"/>
          <p:nvPr/>
        </p:nvSpPr>
        <p:spPr>
          <a:xfrm>
            <a:off x="1482000" y="7930000"/>
            <a:ext cx="40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(Frente 5)</a:t>
            </a:r>
          </a:p>
        </p:txBody>
      </p:sp>
      <p:sp>
        <p:nvSpPr>
          <p:cNvPr id="140" name="C"/>
          <p:cNvSpPr txBox="1"/>
          <p:nvPr/>
        </p:nvSpPr>
        <p:spPr>
          <a:xfrm>
            <a:off x="5782000" y="7930000"/>
            <a:ext cx="5360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necessário: +5,7% no desenho atual; cerca de 0% na alternativa D</a:t>
            </a:r>
          </a:p>
        </p:txBody>
      </p:sp>
      <p:sp>
        <p:nvSpPr>
          <p:cNvPr id="141" name="C"/>
          <p:cNvSpPr txBox="1"/>
          <p:nvPr/>
        </p:nvSpPr>
        <p:spPr>
          <a:xfrm>
            <a:off x="11382000" y="7930000"/>
            <a:ext cx="6024000" cy="10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5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Alternativa D como caso-base para 30/10; premiumização como upside (+R$ 10 a 31 M/ano)</a:t>
            </a:r>
          </a:p>
        </p:txBody>
      </p:sp>
      <p:sp>
        <p:nvSpPr>
          <p:cNvPr id="143" name="Rodapé"/>
          <p:cNvSpPr txBox="1"/>
          <p:nvPr/>
        </p:nvSpPr>
        <p:spPr>
          <a:xfrm>
            <a:off x="762000" y="9740000"/>
            <a:ext cx="15441168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com volume constante, sell-in jan–mai/26 e tabela 26/05. Itens 3 e 4 dependem da validação operacional antes de entrar no business case.</a:t>
            </a:r>
          </a:p>
        </p:txBody>
      </p:sp>
      <p:pic>
        <p:nvPicPr>
          <p:cNvPr id="5149" name="Logo PremieRpet" descr="Logo PremieRp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150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151" name="Logo DOC Consulting" descr="Logo DOC Consul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152" name="Número da página"/>
          <p:cNvSpPr txBox="1"/>
          <p:nvPr/>
        </p:nvSpPr>
        <p:spPr>
          <a:xfrm>
            <a:off x="16340328" y="974000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4" name="Fundo gradient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50E2A"/>
              </a:gs>
              <a:gs pos="55000">
                <a:srgbClr val="0A1D5C"/>
              </a:gs>
              <a:gs pos="100000">
                <a:srgbClr val="0E2F8A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155" name="Logo PremieRpet" descr="Logo PremieRp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0789" y="667512"/>
            <a:ext cx="2070384" cy="381030"/>
          </a:xfrm>
          <a:prstGeom prst="rect">
            <a:avLst/>
          </a:prstGeom>
        </p:spPr>
      </p:pic>
      <p:sp>
        <p:nvSpPr>
          <p:cNvPr id="5156" name="Divisor logos"/>
          <p:cNvSpPr/>
          <p:nvPr/>
        </p:nvSpPr>
        <p:spPr>
          <a:xfrm>
            <a:off x="15270571" y="720867"/>
            <a:ext cx="951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157" name="Logo DOC Consulting" descr="Logo DOC Consul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9479" y="696087"/>
            <a:ext cx="2039569" cy="323880"/>
          </a:xfrm>
          <a:prstGeom prst="rect">
            <a:avLst/>
          </a:prstGeom>
        </p:spPr>
      </p:pic>
      <p:sp>
        <p:nvSpPr>
          <p:cNvPr id="5158" name="Título"/>
          <p:cNvSpPr txBox="1"/>
          <p:nvPr/>
        </p:nvSpPr>
        <p:spPr>
          <a:xfrm>
            <a:off x="758952" y="4023360"/>
            <a:ext cx="13716000" cy="1051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96000"/>
              </a:lnSpc>
              <a:buNone/>
            </a:pPr>
            <a:r>
              <a:rPr lang="pt-BR" sz="7200" b="1" spc="-14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Apêndice</a:t>
            </a:r>
          </a:p>
        </p:txBody>
      </p:sp>
      <p:sp>
        <p:nvSpPr>
          <p:cNvPr id="5159" name="Subtítulo"/>
          <p:cNvSpPr txBox="1"/>
          <p:nvPr/>
        </p:nvSpPr>
        <p:spPr>
          <a:xfrm>
            <a:off x="758952" y="5212080"/>
            <a:ext cx="1371600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pt-BR" sz="2400" dirty="0">
                <a:solidFill>
                  <a:srgbClr val="9BB5EF"/>
                </a:solidFill>
                <a:latin typeface="Arial"/>
                <a:ea typeface="Arial"/>
                <a:cs typeface="Arial"/>
              </a:rPr>
              <a:t>Detalhes de apoio: dispersão por cliente, margem líquida, mark-up, mix e calibragem.</a:t>
            </a:r>
          </a:p>
        </p:txBody>
      </p:sp>
      <p:sp>
        <p:nvSpPr>
          <p:cNvPr id="5160" name="Número da página"/>
          <p:cNvSpPr txBox="1"/>
          <p:nvPr/>
        </p:nvSpPr>
        <p:spPr>
          <a:xfrm>
            <a:off x="16340328" y="9482328"/>
            <a:ext cx="1188720" cy="26517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350" dirty="0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rPr>
              <a:t>Página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ítulo"/>
          <p:cNvSpPr txBox="1"/>
          <p:nvPr/>
        </p:nvSpPr>
        <p:spPr>
          <a:xfrm>
            <a:off x="758952" y="747356"/>
            <a:ext cx="13368528" cy="620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3700" b="1" kern="0" spc="-55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Dispersão por cliente | Mesmo mix, margens muito diferentes</a:t>
            </a:r>
          </a:p>
        </p:txBody>
      </p:sp>
      <p:sp>
        <p:nvSpPr>
          <p:cNvPr id="102" name="Subtítulo 1"/>
          <p:cNvSpPr txBox="1"/>
          <p:nvPr/>
        </p:nvSpPr>
        <p:spPr>
          <a:xfrm>
            <a:off x="762000" y="1395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ponto é um cliente VD: no eixo horizontal, a margem que a tabela daria pelo mix dele; no vertical, a margem com o preço que ele de fato pagou.</a:t>
            </a:r>
          </a:p>
        </p:txBody>
      </p:sp>
      <p:sp>
        <p:nvSpPr>
          <p:cNvPr id="103" name="Subtítulo 2"/>
          <p:cNvSpPr txBox="1"/>
          <p:nvPr/>
        </p:nvSpPr>
        <p:spPr>
          <a:xfrm>
            <a:off x="762000" y="1750000"/>
            <a:ext cx="1676400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preço fosse o mesmo para todos, os pontos estariam sobre a linha tracejada. A distância vertical à linha é </a:t>
            </a:r>
            <a:r>
              <a:rPr lang="pt-BR" sz="1800" b="1" dirty="0" i="1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do preço</a:t>
            </a:r>
            <a:r>
              <a:rPr lang="pt-BR" sz="1800" dirty="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não do mix.</a:t>
            </a:r>
          </a:p>
        </p:txBody>
      </p:sp>
      <p:sp>
        <p:nvSpPr>
          <p:cNvPr id="5165" name="Card gráfico"/>
          <p:cNvSpPr/>
          <p:nvPr/>
        </p:nvSpPr>
        <p:spPr>
          <a:xfrm>
            <a:off x="762000" y="2420000"/>
            <a:ext cx="10900000" cy="649807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105" name="Gráfico dispersão por cliente" descr="Dispersão da margem líquida por cliente: só mix vs mix + preço pago, por ca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90" y="2584592"/>
            <a:ext cx="10347820" cy="6168892"/>
          </a:xfrm>
          <a:prstGeom prst="rect">
            <a:avLst/>
          </a:prstGeom>
        </p:spPr>
      </p:pic>
      <p:sp>
        <p:nvSpPr>
          <p:cNvPr id="106" name="Cab. painel"/>
          <p:cNvSpPr txBox="1"/>
          <p:nvPr/>
        </p:nvSpPr>
        <p:spPr>
          <a:xfrm>
            <a:off x="12000000" y="2480000"/>
            <a:ext cx="5526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b="1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LER O GRÁFICO</a:t>
            </a:r>
          </a:p>
        </p:txBody>
      </p:sp>
      <p:sp>
        <p:nvSpPr>
          <p:cNvPr id="107" name="Card"/>
          <p:cNvSpPr/>
          <p:nvPr/>
        </p:nvSpPr>
        <p:spPr>
          <a:xfrm>
            <a:off x="12000000" y="2850000"/>
            <a:ext cx="5526000" cy="1833333"/>
          </a:xfrm>
          <a:prstGeom prst="roundRect">
            <a:avLst>
              <a:gd name="adj" fmla="val 598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8" name="Card texto"/>
          <p:cNvSpPr txBox="1"/>
          <p:nvPr/>
        </p:nvSpPr>
        <p:spPr>
          <a:xfrm>
            <a:off x="12200000" y="3000000"/>
            <a:ext cx="5126000" cy="1583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ler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faixa azul (horizontal) mostra o efeito do mix: 1,4 p.p. entre p10 e p90. A faixa laranja (vertical) mostra o efeito do preço: 10,1 p.p.</a:t>
            </a:r>
          </a:p>
        </p:txBody>
      </p:sp>
      <p:sp>
        <p:nvSpPr>
          <p:cNvPr id="109" name="Card"/>
          <p:cNvSpPr/>
          <p:nvPr/>
        </p:nvSpPr>
        <p:spPr>
          <a:xfrm>
            <a:off x="12000000" y="4803333"/>
            <a:ext cx="5526000" cy="1833333"/>
          </a:xfrm>
          <a:prstGeom prst="roundRect">
            <a:avLst>
              <a:gd name="adj" fmla="val 598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0" name="Card texto"/>
          <p:cNvSpPr txBox="1"/>
          <p:nvPr/>
        </p:nvSpPr>
        <p:spPr>
          <a:xfrm>
            <a:off x="12200000" y="4953333"/>
            <a:ext cx="5126000" cy="1583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mix, margens opostas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SEPPA e SEROPEC (RJ) têm mix quase igual (22,3% e 22,0%), mas com o preço pago ficam em 29,3% e 18,4%: 11 p.p. de diferença.</a:t>
            </a:r>
          </a:p>
        </p:txBody>
      </p:sp>
      <p:sp>
        <p:nvSpPr>
          <p:cNvPr id="111" name="Card"/>
          <p:cNvSpPr/>
          <p:nvPr/>
        </p:nvSpPr>
        <p:spPr>
          <a:xfrm>
            <a:off x="12000000" y="6756666"/>
            <a:ext cx="5526000" cy="1833333"/>
          </a:xfrm>
          <a:prstGeom prst="roundRect">
            <a:avLst>
              <a:gd name="adj" fmla="val 598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2" name="Card texto"/>
          <p:cNvSpPr txBox="1"/>
          <p:nvPr/>
        </p:nvSpPr>
        <p:spPr>
          <a:xfrm>
            <a:off x="12200000" y="6906666"/>
            <a:ext cx="5126000" cy="1583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diferente, margens parecidas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pt-BR" sz="1250" dirty="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IVESS (5% Premier) e LAIÇÃO (55% Premier) diferem 2,2 p.p. pelo mix, e só 2,3 p.p. com o preço pago.</a:t>
            </a:r>
          </a:p>
        </p:txBody>
      </p:sp>
      <p:sp>
        <p:nvSpPr>
          <p:cNvPr id="114" name="Rodapé"/>
          <p:cNvSpPr txBox="1"/>
          <p:nvPr/>
        </p:nvSpPr>
        <p:spPr>
          <a:xfrm>
            <a:off x="762000" y="9740000"/>
            <a:ext cx="15441168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050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sell-in DataSul jan–mai/26, 2.744 clientes VD com receita &gt; R$ 50 mil; tamanho do ponto = receita. Eixo X: margem líquida da tabela 26/05 (régua VD G/M) pelo mix de SKU do cliente. Eixo Y: 1 − (1 − ML do mix) × índice de preço (receita líquida por unidade vs. mediana do SKU × UF × mês); supõe o mesmo preço de revenda; eixo Y limitado a 6–44%.</a:t>
            </a:r>
          </a:p>
        </p:txBody>
      </p:sp>
      <p:pic>
        <p:nvPicPr>
          <p:cNvPr id="5161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162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163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164" name="Número da página"/>
          <p:cNvSpPr txBox="1"/>
          <p:nvPr/>
        </p:nvSpPr>
        <p:spPr>
          <a:xfrm>
            <a:off x="16340328" y="974000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050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457200"/>
            <a:ext cx="184404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228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1B · MARGEM LÍQUIDA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758952" y="738188"/>
            <a:ext cx="13368528" cy="52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000" b="1" kern="0" spc="-4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margem líquida, a política leva o VD de ~22% para 27–31% no esperado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762000" y="1286024"/>
            <a:ext cx="184404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partida ponderado pelo mix real de cada canal (sell-in jan–mai/26), tabela 26/05.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762000" y="1986111"/>
            <a:ext cx="3990975" cy="38100"/>
          </a:xfrm>
          <a:prstGeom prst="rect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2000" y="2138511"/>
            <a:ext cx="4390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tabela</a:t>
            </a:r>
            <a:endParaRPr lang="en-US" sz="1575"/>
          </a:p>
        </p:txBody>
      </p:sp>
      <p:sp>
        <p:nvSpPr>
          <p:cNvPr id="8" name="Text 6"/>
          <p:cNvSpPr/>
          <p:nvPr/>
        </p:nvSpPr>
        <p:spPr>
          <a:xfrm>
            <a:off x="762000" y="2405211"/>
            <a:ext cx="4390073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líquida de tabela ponderada pelo mix real.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5019675" y="1986111"/>
            <a:ext cx="3990975" cy="38100"/>
          </a:xfrm>
          <a:prstGeom prst="rect">
            <a:avLst/>
          </a:prstGeom>
          <a:solidFill>
            <a:srgbClr val="FF6E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19675" y="2138511"/>
            <a:ext cx="4390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potencial futura</a:t>
            </a:r>
            <a:endParaRPr lang="en-US" sz="1575"/>
          </a:p>
        </p:txBody>
      </p:sp>
      <p:sp>
        <p:nvSpPr>
          <p:cNvPr id="11" name="Text 9"/>
          <p:cNvSpPr/>
          <p:nvPr/>
        </p:nvSpPr>
        <p:spPr>
          <a:xfrm>
            <a:off x="5019675" y="2405211"/>
            <a:ext cx="4110704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 a antiga coluna “Hoje (real)”, que estava vazia no VD por falta de base de sell-in.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9277350" y="1986111"/>
            <a:ext cx="3990975" cy="38100"/>
          </a:xfrm>
          <a:prstGeom prst="rect">
            <a:avLst/>
          </a:prstGeom>
          <a:solidFill>
            <a:srgbClr val="7BA0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277350" y="2138511"/>
            <a:ext cx="4390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Regular com RTP</a:t>
            </a:r>
            <a:endParaRPr lang="en-US" sz="1575"/>
          </a:p>
        </p:txBody>
      </p:sp>
      <p:sp>
        <p:nvSpPr>
          <p:cNvPr id="14" name="Text 12"/>
          <p:cNvSpPr/>
          <p:nvPr/>
        </p:nvSpPr>
        <p:spPr>
          <a:xfrm>
            <a:off x="9277350" y="2405211"/>
            <a:ext cx="4110704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 política recebida, venda a tabela cheia. Segundo valor: +1% tático.</a:t>
            </a:r>
            <a:endParaRPr lang="en-US" sz="1350"/>
          </a:p>
        </p:txBody>
      </p:sp>
      <p:sp>
        <p:nvSpPr>
          <p:cNvPr id="15" name="Shape 13"/>
          <p:cNvSpPr/>
          <p:nvPr/>
        </p:nvSpPr>
        <p:spPr>
          <a:xfrm>
            <a:off x="13535025" y="1986111"/>
            <a:ext cx="3990975" cy="38100"/>
          </a:xfrm>
          <a:prstGeom prst="rect">
            <a:avLst/>
          </a:prstGeom>
          <a:solidFill>
            <a:srgbClr val="C3D3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3535025" y="2138511"/>
            <a:ext cx="4390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7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Rebaixa sem RTP</a:t>
            </a:r>
            <a:endParaRPr lang="en-US" sz="1575"/>
          </a:p>
        </p:txBody>
      </p:sp>
      <p:sp>
        <p:nvSpPr>
          <p:cNvPr id="17" name="Text 15"/>
          <p:cNvSpPr/>
          <p:nvPr/>
        </p:nvSpPr>
        <p:spPr>
          <a:xfrm>
            <a:off x="13535025" y="2405211"/>
            <a:ext cx="4110704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135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RTP repassada integralmente ao shopper. Margem estrutural do canal.</a:t>
            </a:r>
            <a:endParaRPr lang="en-US" sz="1350"/>
          </a:p>
        </p:txBody>
      </p:sp>
      <p:sp>
        <p:nvSpPr>
          <p:cNvPr id="18" name="Shape 16"/>
          <p:cNvSpPr/>
          <p:nvPr/>
        </p:nvSpPr>
        <p:spPr>
          <a:xfrm>
            <a:off x="762000" y="3134767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95350" y="3268117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/ cluster</a:t>
            </a:r>
            <a:endParaRPr lang="en-US" sz="1350"/>
          </a:p>
        </p:txBody>
      </p:sp>
      <p:sp>
        <p:nvSpPr>
          <p:cNvPr id="20" name="Shape 18"/>
          <p:cNvSpPr/>
          <p:nvPr/>
        </p:nvSpPr>
        <p:spPr>
          <a:xfrm>
            <a:off x="2857500" y="3134767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2952750" y="3268117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tabela </a:t>
            </a: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(pond. mix)</a:t>
            </a:r>
            <a:endParaRPr lang="en-US" sz="1350"/>
          </a:p>
        </p:txBody>
      </p:sp>
      <p:sp>
        <p:nvSpPr>
          <p:cNvPr id="22" name="Shape 20"/>
          <p:cNvSpPr/>
          <p:nvPr/>
        </p:nvSpPr>
        <p:spPr>
          <a:xfrm>
            <a:off x="4953000" y="3134767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048250" y="3268117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C2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Comercial potencial futura</a:t>
            </a:r>
            <a:endParaRPr lang="en-US" sz="1350"/>
          </a:p>
        </p:txBody>
      </p:sp>
      <p:sp>
        <p:nvSpPr>
          <p:cNvPr id="24" name="Shape 22"/>
          <p:cNvSpPr/>
          <p:nvPr/>
        </p:nvSpPr>
        <p:spPr>
          <a:xfrm>
            <a:off x="7048500" y="3134767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143750" y="3268117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Regular com RTP </a:t>
            </a: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c/ tático</a:t>
            </a:r>
            <a:endParaRPr lang="en-US" sz="1350"/>
          </a:p>
        </p:txBody>
      </p:sp>
      <p:sp>
        <p:nvSpPr>
          <p:cNvPr id="26" name="Shape 24"/>
          <p:cNvSpPr/>
          <p:nvPr/>
        </p:nvSpPr>
        <p:spPr>
          <a:xfrm>
            <a:off x="9144000" y="3134767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9239250" y="3268117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Esperado </a:t>
            </a: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(30% promo)</a:t>
            </a:r>
            <a:endParaRPr lang="en-US" sz="1350"/>
          </a:p>
        </p:txBody>
      </p:sp>
      <p:sp>
        <p:nvSpPr>
          <p:cNvPr id="28" name="Shape 26"/>
          <p:cNvSpPr/>
          <p:nvPr/>
        </p:nvSpPr>
        <p:spPr>
          <a:xfrm>
            <a:off x="11239500" y="3134767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1334750" y="3268117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Rebaixa sem RTP</a:t>
            </a:r>
            <a:endParaRPr lang="en-US" sz="1350"/>
          </a:p>
        </p:txBody>
      </p:sp>
      <p:sp>
        <p:nvSpPr>
          <p:cNvPr id="30" name="Shape 28"/>
          <p:cNvSpPr/>
          <p:nvPr/>
        </p:nvSpPr>
        <p:spPr>
          <a:xfrm>
            <a:off x="13335000" y="3134767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3430250" y="3268117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Teto recomendado</a:t>
            </a:r>
            <a:endParaRPr lang="en-US" sz="1350"/>
          </a:p>
        </p:txBody>
      </p:sp>
      <p:sp>
        <p:nvSpPr>
          <p:cNvPr id="32" name="Shape 30"/>
          <p:cNvSpPr/>
          <p:nvPr/>
        </p:nvSpPr>
        <p:spPr>
          <a:xfrm>
            <a:off x="15430500" y="3134767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5169" name="Linha cabeçalho"/>
          <p:cNvSpPr/>
          <p:nvPr/>
        </p:nvSpPr>
        <p:spPr>
          <a:xfrm>
            <a:off x="762000" y="3801898"/>
            <a:ext cx="16764000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5525750" y="3268117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1350"/>
          </a:p>
        </p:txBody>
      </p:sp>
      <p:sp>
        <p:nvSpPr>
          <p:cNvPr id="34" name="Shape 32"/>
          <p:cNvSpPr/>
          <p:nvPr/>
        </p:nvSpPr>
        <p:spPr>
          <a:xfrm>
            <a:off x="762000" y="4392067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895350" y="3963442"/>
            <a:ext cx="1905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Super GG / GG</a:t>
            </a:r>
            <a:endParaRPr lang="en-US" sz="1650"/>
          </a:p>
        </p:txBody>
      </p:sp>
      <p:sp>
        <p:nvSpPr>
          <p:cNvPr id="36" name="Shape 34"/>
          <p:cNvSpPr/>
          <p:nvPr/>
        </p:nvSpPr>
        <p:spPr>
          <a:xfrm>
            <a:off x="2857500" y="4392067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2952750" y="3963442"/>
            <a:ext cx="1905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23,1%</a:t>
            </a:r>
            <a:endParaRPr lang="en-US" sz="1800"/>
          </a:p>
        </p:txBody>
      </p:sp>
      <p:sp>
        <p:nvSpPr>
          <p:cNvPr id="38" name="Shape 36"/>
          <p:cNvSpPr/>
          <p:nvPr/>
        </p:nvSpPr>
        <p:spPr>
          <a:xfrm>
            <a:off x="4953000" y="3811042"/>
            <a:ext cx="2095500" cy="590550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4953000" y="4392067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5048250" y="3963442"/>
            <a:ext cx="1905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 / 12%</a:t>
            </a:r>
            <a:endParaRPr lang="en-US" sz="1425"/>
          </a:p>
        </p:txBody>
      </p:sp>
      <p:sp>
        <p:nvSpPr>
          <p:cNvPr id="42" name="Shape 40"/>
          <p:cNvSpPr/>
          <p:nvPr/>
        </p:nvSpPr>
        <p:spPr>
          <a:xfrm>
            <a:off x="7048500" y="4392067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7143750" y="3963442"/>
            <a:ext cx="1905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31,5% · 32,3%</a:t>
            </a:r>
            <a:endParaRPr lang="en-US" sz="1725"/>
          </a:p>
        </p:txBody>
      </p:sp>
      <p:sp>
        <p:nvSpPr>
          <p:cNvPr id="45" name="Shape 43"/>
          <p:cNvSpPr/>
          <p:nvPr/>
        </p:nvSpPr>
        <p:spPr>
          <a:xfrm>
            <a:off x="9144000" y="4392067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9239250" y="3963442"/>
            <a:ext cx="1905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30,8%</a:t>
            </a:r>
            <a:endParaRPr lang="en-US" sz="1725"/>
          </a:p>
        </p:txBody>
      </p:sp>
      <p:sp>
        <p:nvSpPr>
          <p:cNvPr id="48" name="Shape 46"/>
          <p:cNvSpPr/>
          <p:nvPr/>
        </p:nvSpPr>
        <p:spPr>
          <a:xfrm>
            <a:off x="11239500" y="4392067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11334750" y="3963442"/>
            <a:ext cx="1905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29,2%</a:t>
            </a:r>
            <a:endParaRPr lang="en-US" sz="1725"/>
          </a:p>
        </p:txBody>
      </p:sp>
      <p:sp>
        <p:nvSpPr>
          <p:cNvPr id="51" name="Shape 49"/>
          <p:cNvSpPr/>
          <p:nvPr/>
        </p:nvSpPr>
        <p:spPr>
          <a:xfrm>
            <a:off x="13335000" y="4392067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13430250" y="3963442"/>
            <a:ext cx="1905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definir</a:t>
            </a:r>
            <a:endParaRPr lang="en-US" sz="1425"/>
          </a:p>
        </p:txBody>
      </p:sp>
      <p:sp>
        <p:nvSpPr>
          <p:cNvPr id="54" name="Shape 52"/>
          <p:cNvSpPr/>
          <p:nvPr/>
        </p:nvSpPr>
        <p:spPr>
          <a:xfrm>
            <a:off x="15430500" y="4392067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15525750" y="3963442"/>
            <a:ext cx="1905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25"/>
          </a:p>
        </p:txBody>
      </p:sp>
      <p:sp>
        <p:nvSpPr>
          <p:cNvPr id="56" name="Shape 54"/>
          <p:cNvSpPr/>
          <p:nvPr/>
        </p:nvSpPr>
        <p:spPr>
          <a:xfrm>
            <a:off x="762000" y="4401592"/>
            <a:ext cx="16764000" cy="595313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762000" y="49873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895350" y="4553992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G</a:t>
            </a:r>
            <a:endParaRPr lang="en-US" sz="1650"/>
          </a:p>
        </p:txBody>
      </p:sp>
      <p:sp>
        <p:nvSpPr>
          <p:cNvPr id="59" name="Shape 57"/>
          <p:cNvSpPr/>
          <p:nvPr/>
        </p:nvSpPr>
        <p:spPr>
          <a:xfrm>
            <a:off x="2857500" y="49873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2952750" y="4553992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22,8%</a:t>
            </a:r>
            <a:endParaRPr lang="en-US" sz="1800"/>
          </a:p>
        </p:txBody>
      </p:sp>
      <p:sp>
        <p:nvSpPr>
          <p:cNvPr id="61" name="Shape 59"/>
          <p:cNvSpPr/>
          <p:nvPr/>
        </p:nvSpPr>
        <p:spPr>
          <a:xfrm>
            <a:off x="4953000" y="4401592"/>
            <a:ext cx="2095500" cy="595313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4953000" y="49873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5048250" y="4553992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 / 12%</a:t>
            </a:r>
            <a:endParaRPr lang="en-US" sz="1425"/>
          </a:p>
        </p:txBody>
      </p:sp>
      <p:sp>
        <p:nvSpPr>
          <p:cNvPr id="65" name="Shape 63"/>
          <p:cNvSpPr/>
          <p:nvPr/>
        </p:nvSpPr>
        <p:spPr>
          <a:xfrm>
            <a:off x="7048500" y="49873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7143750" y="4553992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31,3% · 32,0%</a:t>
            </a:r>
            <a:endParaRPr lang="en-US" sz="1725"/>
          </a:p>
        </p:txBody>
      </p:sp>
      <p:sp>
        <p:nvSpPr>
          <p:cNvPr id="68" name="Shape 66"/>
          <p:cNvSpPr/>
          <p:nvPr/>
        </p:nvSpPr>
        <p:spPr>
          <a:xfrm>
            <a:off x="9144000" y="49873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9239250" y="4553992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30,6%</a:t>
            </a:r>
            <a:endParaRPr lang="en-US" sz="1725"/>
          </a:p>
        </p:txBody>
      </p:sp>
      <p:sp>
        <p:nvSpPr>
          <p:cNvPr id="71" name="Shape 69"/>
          <p:cNvSpPr/>
          <p:nvPr/>
        </p:nvSpPr>
        <p:spPr>
          <a:xfrm>
            <a:off x="11239500" y="49873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Text 70"/>
          <p:cNvSpPr/>
          <p:nvPr/>
        </p:nvSpPr>
        <p:spPr>
          <a:xfrm>
            <a:off x="11334750" y="4553992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28,9%</a:t>
            </a:r>
            <a:endParaRPr lang="en-US" sz="1725"/>
          </a:p>
        </p:txBody>
      </p:sp>
      <p:sp>
        <p:nvSpPr>
          <p:cNvPr id="74" name="Shape 72"/>
          <p:cNvSpPr/>
          <p:nvPr/>
        </p:nvSpPr>
        <p:spPr>
          <a:xfrm>
            <a:off x="13335000" y="49873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13430250" y="4553992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definir</a:t>
            </a:r>
            <a:endParaRPr lang="en-US" sz="1425"/>
          </a:p>
        </p:txBody>
      </p:sp>
      <p:sp>
        <p:nvSpPr>
          <p:cNvPr id="77" name="Shape 75"/>
          <p:cNvSpPr/>
          <p:nvPr/>
        </p:nvSpPr>
        <p:spPr>
          <a:xfrm>
            <a:off x="15430500" y="49873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8" name="Text 76"/>
          <p:cNvSpPr/>
          <p:nvPr/>
        </p:nvSpPr>
        <p:spPr>
          <a:xfrm>
            <a:off x="15525750" y="4553992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25"/>
          </a:p>
        </p:txBody>
      </p:sp>
      <p:sp>
        <p:nvSpPr>
          <p:cNvPr id="79" name="Shape 77"/>
          <p:cNvSpPr/>
          <p:nvPr/>
        </p:nvSpPr>
        <p:spPr>
          <a:xfrm>
            <a:off x="762000" y="5582692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0" name="Text 78"/>
          <p:cNvSpPr/>
          <p:nvPr/>
        </p:nvSpPr>
        <p:spPr>
          <a:xfrm>
            <a:off x="895350" y="5149304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M</a:t>
            </a:r>
            <a:endParaRPr lang="en-US" sz="1650"/>
          </a:p>
        </p:txBody>
      </p:sp>
      <p:sp>
        <p:nvSpPr>
          <p:cNvPr id="81" name="Shape 79"/>
          <p:cNvSpPr/>
          <p:nvPr/>
        </p:nvSpPr>
        <p:spPr>
          <a:xfrm>
            <a:off x="2857500" y="5582692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2" name="Text 80"/>
          <p:cNvSpPr/>
          <p:nvPr/>
        </p:nvSpPr>
        <p:spPr>
          <a:xfrm>
            <a:off x="2952750" y="5149304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22,8%</a:t>
            </a:r>
            <a:endParaRPr lang="en-US" sz="1800"/>
          </a:p>
        </p:txBody>
      </p:sp>
      <p:sp>
        <p:nvSpPr>
          <p:cNvPr id="83" name="Shape 81"/>
          <p:cNvSpPr/>
          <p:nvPr/>
        </p:nvSpPr>
        <p:spPr>
          <a:xfrm>
            <a:off x="4953000" y="4996904"/>
            <a:ext cx="2095500" cy="595313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4" name="Shape 82"/>
          <p:cNvSpPr/>
          <p:nvPr/>
        </p:nvSpPr>
        <p:spPr>
          <a:xfrm>
            <a:off x="4953000" y="5582692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5" name="Text 83"/>
          <p:cNvSpPr/>
          <p:nvPr/>
        </p:nvSpPr>
        <p:spPr>
          <a:xfrm>
            <a:off x="5048250" y="5149304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/ 10%</a:t>
            </a:r>
            <a:endParaRPr lang="en-US" sz="1425"/>
          </a:p>
        </p:txBody>
      </p:sp>
      <p:sp>
        <p:nvSpPr>
          <p:cNvPr id="87" name="Shape 85"/>
          <p:cNvSpPr/>
          <p:nvPr/>
        </p:nvSpPr>
        <p:spPr>
          <a:xfrm>
            <a:off x="7048500" y="5582692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8" name="Text 86"/>
          <p:cNvSpPr/>
          <p:nvPr/>
        </p:nvSpPr>
        <p:spPr>
          <a:xfrm>
            <a:off x="7143750" y="5149304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29,7% · 30,5%</a:t>
            </a:r>
            <a:endParaRPr lang="en-US" sz="1725"/>
          </a:p>
        </p:txBody>
      </p:sp>
      <p:sp>
        <p:nvSpPr>
          <p:cNvPr id="90" name="Shape 88"/>
          <p:cNvSpPr/>
          <p:nvPr/>
        </p:nvSpPr>
        <p:spPr>
          <a:xfrm>
            <a:off x="9144000" y="5582692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1" name="Text 89"/>
          <p:cNvSpPr/>
          <p:nvPr/>
        </p:nvSpPr>
        <p:spPr>
          <a:xfrm>
            <a:off x="9239250" y="5149304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29,0%</a:t>
            </a:r>
            <a:endParaRPr lang="en-US" sz="1725"/>
          </a:p>
        </p:txBody>
      </p:sp>
      <p:sp>
        <p:nvSpPr>
          <p:cNvPr id="93" name="Shape 91"/>
          <p:cNvSpPr/>
          <p:nvPr/>
        </p:nvSpPr>
        <p:spPr>
          <a:xfrm>
            <a:off x="11239500" y="5582692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4" name="Text 92"/>
          <p:cNvSpPr/>
          <p:nvPr/>
        </p:nvSpPr>
        <p:spPr>
          <a:xfrm>
            <a:off x="11334750" y="5149304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27,4%</a:t>
            </a:r>
            <a:endParaRPr lang="en-US" sz="1725"/>
          </a:p>
        </p:txBody>
      </p:sp>
      <p:sp>
        <p:nvSpPr>
          <p:cNvPr id="96" name="Shape 94"/>
          <p:cNvSpPr/>
          <p:nvPr/>
        </p:nvSpPr>
        <p:spPr>
          <a:xfrm>
            <a:off x="13335000" y="5582692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7" name="Text 95"/>
          <p:cNvSpPr/>
          <p:nvPr/>
        </p:nvSpPr>
        <p:spPr>
          <a:xfrm>
            <a:off x="13430250" y="5149304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definir</a:t>
            </a:r>
            <a:endParaRPr lang="en-US" sz="1425"/>
          </a:p>
        </p:txBody>
      </p:sp>
      <p:sp>
        <p:nvSpPr>
          <p:cNvPr id="99" name="Shape 97"/>
          <p:cNvSpPr/>
          <p:nvPr/>
        </p:nvSpPr>
        <p:spPr>
          <a:xfrm>
            <a:off x="15430500" y="5582692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0" name="Text 98"/>
          <p:cNvSpPr/>
          <p:nvPr/>
        </p:nvSpPr>
        <p:spPr>
          <a:xfrm>
            <a:off x="15525750" y="5149304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25"/>
          </a:p>
        </p:txBody>
      </p:sp>
      <p:sp>
        <p:nvSpPr>
          <p:cNvPr id="101" name="Shape 99"/>
          <p:cNvSpPr/>
          <p:nvPr/>
        </p:nvSpPr>
        <p:spPr>
          <a:xfrm>
            <a:off x="762000" y="5592217"/>
            <a:ext cx="16764000" cy="595313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2" name="Shape 100"/>
          <p:cNvSpPr/>
          <p:nvPr/>
        </p:nvSpPr>
        <p:spPr>
          <a:xfrm>
            <a:off x="762000" y="617800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3" name="Text 101"/>
          <p:cNvSpPr/>
          <p:nvPr/>
        </p:nvSpPr>
        <p:spPr>
          <a:xfrm>
            <a:off x="895350" y="5744617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P</a:t>
            </a:r>
            <a:endParaRPr lang="en-US" sz="1650"/>
          </a:p>
        </p:txBody>
      </p:sp>
      <p:sp>
        <p:nvSpPr>
          <p:cNvPr id="104" name="Shape 102"/>
          <p:cNvSpPr/>
          <p:nvPr/>
        </p:nvSpPr>
        <p:spPr>
          <a:xfrm>
            <a:off x="2857500" y="617800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5" name="Text 103"/>
          <p:cNvSpPr/>
          <p:nvPr/>
        </p:nvSpPr>
        <p:spPr>
          <a:xfrm>
            <a:off x="2952750" y="5744617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21,8%</a:t>
            </a:r>
            <a:endParaRPr lang="en-US" sz="1800"/>
          </a:p>
        </p:txBody>
      </p:sp>
      <p:sp>
        <p:nvSpPr>
          <p:cNvPr id="106" name="Shape 104"/>
          <p:cNvSpPr/>
          <p:nvPr/>
        </p:nvSpPr>
        <p:spPr>
          <a:xfrm>
            <a:off x="4953000" y="5592217"/>
            <a:ext cx="2095500" cy="595313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7" name="Shape 105"/>
          <p:cNvSpPr/>
          <p:nvPr/>
        </p:nvSpPr>
        <p:spPr>
          <a:xfrm>
            <a:off x="4953000" y="617800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8" name="Text 106"/>
          <p:cNvSpPr/>
          <p:nvPr/>
        </p:nvSpPr>
        <p:spPr>
          <a:xfrm>
            <a:off x="5048250" y="5744617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 / 8%</a:t>
            </a:r>
            <a:endParaRPr lang="en-US" sz="1425"/>
          </a:p>
        </p:txBody>
      </p:sp>
      <p:sp>
        <p:nvSpPr>
          <p:cNvPr id="110" name="Shape 108"/>
          <p:cNvSpPr/>
          <p:nvPr/>
        </p:nvSpPr>
        <p:spPr>
          <a:xfrm>
            <a:off x="7048500" y="617800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1" name="Text 109"/>
          <p:cNvSpPr/>
          <p:nvPr/>
        </p:nvSpPr>
        <p:spPr>
          <a:xfrm>
            <a:off x="7143750" y="5744617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27,3% · 28,0%</a:t>
            </a:r>
            <a:endParaRPr lang="en-US" sz="1725"/>
          </a:p>
        </p:txBody>
      </p:sp>
      <p:sp>
        <p:nvSpPr>
          <p:cNvPr id="113" name="Shape 111"/>
          <p:cNvSpPr/>
          <p:nvPr/>
        </p:nvSpPr>
        <p:spPr>
          <a:xfrm>
            <a:off x="9144000" y="617800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4" name="Text 112"/>
          <p:cNvSpPr/>
          <p:nvPr/>
        </p:nvSpPr>
        <p:spPr>
          <a:xfrm>
            <a:off x="9239250" y="5744617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26,6%</a:t>
            </a:r>
            <a:endParaRPr lang="en-US" sz="1725"/>
          </a:p>
        </p:txBody>
      </p:sp>
      <p:sp>
        <p:nvSpPr>
          <p:cNvPr id="116" name="Shape 114"/>
          <p:cNvSpPr/>
          <p:nvPr/>
        </p:nvSpPr>
        <p:spPr>
          <a:xfrm>
            <a:off x="11239500" y="617800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7" name="Text 115"/>
          <p:cNvSpPr/>
          <p:nvPr/>
        </p:nvSpPr>
        <p:spPr>
          <a:xfrm>
            <a:off x="11334750" y="5744617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24,9%</a:t>
            </a:r>
            <a:endParaRPr lang="en-US" sz="1725"/>
          </a:p>
        </p:txBody>
      </p:sp>
      <p:sp>
        <p:nvSpPr>
          <p:cNvPr id="119" name="Shape 117"/>
          <p:cNvSpPr/>
          <p:nvPr/>
        </p:nvSpPr>
        <p:spPr>
          <a:xfrm>
            <a:off x="13335000" y="617800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0" name="Text 118"/>
          <p:cNvSpPr/>
          <p:nvPr/>
        </p:nvSpPr>
        <p:spPr>
          <a:xfrm>
            <a:off x="13430250" y="5744617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definir</a:t>
            </a:r>
            <a:endParaRPr lang="en-US" sz="1425"/>
          </a:p>
        </p:txBody>
      </p:sp>
      <p:sp>
        <p:nvSpPr>
          <p:cNvPr id="122" name="Shape 120"/>
          <p:cNvSpPr/>
          <p:nvPr/>
        </p:nvSpPr>
        <p:spPr>
          <a:xfrm>
            <a:off x="15430500" y="617800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3" name="Text 121"/>
          <p:cNvSpPr/>
          <p:nvPr/>
        </p:nvSpPr>
        <p:spPr>
          <a:xfrm>
            <a:off x="15525750" y="5744617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25"/>
          </a:p>
        </p:txBody>
      </p:sp>
      <p:sp>
        <p:nvSpPr>
          <p:cNvPr id="124" name="Shape 122"/>
          <p:cNvSpPr/>
          <p:nvPr/>
        </p:nvSpPr>
        <p:spPr>
          <a:xfrm>
            <a:off x="762000" y="69685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5" name="Text 123"/>
          <p:cNvSpPr/>
          <p:nvPr/>
        </p:nvSpPr>
        <p:spPr>
          <a:xfrm>
            <a:off x="895350" y="6339929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shop independente</a:t>
            </a:r>
            <a:endParaRPr lang="en-US" sz="1650"/>
          </a:p>
        </p:txBody>
      </p:sp>
      <p:sp>
        <p:nvSpPr>
          <p:cNvPr id="127" name="Shape 125"/>
          <p:cNvSpPr/>
          <p:nvPr/>
        </p:nvSpPr>
        <p:spPr>
          <a:xfrm>
            <a:off x="2857500" y="69685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8" name="Text 126"/>
          <p:cNvSpPr/>
          <p:nvPr/>
        </p:nvSpPr>
        <p:spPr>
          <a:xfrm>
            <a:off x="2952750" y="6339929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23,4%</a:t>
            </a:r>
            <a:endParaRPr lang="en-US" sz="1725"/>
          </a:p>
        </p:txBody>
      </p:sp>
      <p:sp>
        <p:nvSpPr>
          <p:cNvPr id="129" name="Shape 127"/>
          <p:cNvSpPr/>
          <p:nvPr/>
        </p:nvSpPr>
        <p:spPr>
          <a:xfrm>
            <a:off x="4953000" y="6187529"/>
            <a:ext cx="2095500" cy="790575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0" name="Shape 128"/>
          <p:cNvSpPr/>
          <p:nvPr/>
        </p:nvSpPr>
        <p:spPr>
          <a:xfrm>
            <a:off x="4953000" y="69685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1" name="Text 129"/>
          <p:cNvSpPr/>
          <p:nvPr/>
        </p:nvSpPr>
        <p:spPr>
          <a:xfrm>
            <a:off x="5048250" y="6339929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/ 5%</a:t>
            </a:r>
            <a:endParaRPr lang="en-US" sz="1425"/>
          </a:p>
        </p:txBody>
      </p:sp>
      <p:sp>
        <p:nvSpPr>
          <p:cNvPr id="133" name="Shape 131"/>
          <p:cNvSpPr/>
          <p:nvPr/>
        </p:nvSpPr>
        <p:spPr>
          <a:xfrm>
            <a:off x="7048500" y="69685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4" name="Text 132"/>
          <p:cNvSpPr/>
          <p:nvPr/>
        </p:nvSpPr>
        <p:spPr>
          <a:xfrm>
            <a:off x="7143750" y="6339929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27,2%</a:t>
            </a:r>
            <a:endParaRPr lang="en-US" sz="1725"/>
          </a:p>
        </p:txBody>
      </p:sp>
      <p:sp>
        <p:nvSpPr>
          <p:cNvPr id="136" name="Shape 134"/>
          <p:cNvSpPr/>
          <p:nvPr/>
        </p:nvSpPr>
        <p:spPr>
          <a:xfrm>
            <a:off x="9144000" y="69685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7" name="Text 135"/>
          <p:cNvSpPr/>
          <p:nvPr/>
        </p:nvSpPr>
        <p:spPr>
          <a:xfrm>
            <a:off x="9239250" y="6339929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26,8%</a:t>
            </a:r>
            <a:endParaRPr lang="en-US" sz="1725"/>
          </a:p>
        </p:txBody>
      </p:sp>
      <p:sp>
        <p:nvSpPr>
          <p:cNvPr id="139" name="Shape 137"/>
          <p:cNvSpPr/>
          <p:nvPr/>
        </p:nvSpPr>
        <p:spPr>
          <a:xfrm>
            <a:off x="11239500" y="69685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0" name="Text 138"/>
          <p:cNvSpPr/>
          <p:nvPr/>
        </p:nvSpPr>
        <p:spPr>
          <a:xfrm>
            <a:off x="11334750" y="6339929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25,7%</a:t>
            </a:r>
            <a:endParaRPr lang="en-US" sz="1725"/>
          </a:p>
        </p:txBody>
      </p:sp>
      <p:sp>
        <p:nvSpPr>
          <p:cNvPr id="142" name="Shape 140"/>
          <p:cNvSpPr/>
          <p:nvPr/>
        </p:nvSpPr>
        <p:spPr>
          <a:xfrm>
            <a:off x="13335000" y="69685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3" name="Text 141"/>
          <p:cNvSpPr/>
          <p:nvPr/>
        </p:nvSpPr>
        <p:spPr>
          <a:xfrm>
            <a:off x="13430250" y="6339929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definir</a:t>
            </a:r>
            <a:endParaRPr lang="en-US" sz="1425"/>
          </a:p>
        </p:txBody>
      </p:sp>
      <p:sp>
        <p:nvSpPr>
          <p:cNvPr id="145" name="Shape 143"/>
          <p:cNvSpPr/>
          <p:nvPr/>
        </p:nvSpPr>
        <p:spPr>
          <a:xfrm>
            <a:off x="15430500" y="696857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6" name="Text 144"/>
          <p:cNvSpPr/>
          <p:nvPr/>
        </p:nvSpPr>
        <p:spPr>
          <a:xfrm>
            <a:off x="15525750" y="6339929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25"/>
          </a:p>
        </p:txBody>
      </p:sp>
      <p:sp>
        <p:nvSpPr>
          <p:cNvPr id="147" name="Shape 145"/>
          <p:cNvSpPr/>
          <p:nvPr/>
        </p:nvSpPr>
        <p:spPr>
          <a:xfrm>
            <a:off x="762000" y="6978104"/>
            <a:ext cx="16764000" cy="595313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8" name="Shape 146"/>
          <p:cNvSpPr/>
          <p:nvPr/>
        </p:nvSpPr>
        <p:spPr>
          <a:xfrm>
            <a:off x="762000" y="7563892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9" name="Text 147"/>
          <p:cNvSpPr/>
          <p:nvPr/>
        </p:nvSpPr>
        <p:spPr>
          <a:xfrm>
            <a:off x="895350" y="7130504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</a:t>
            </a:r>
            <a:endParaRPr lang="en-US" sz="1650"/>
          </a:p>
        </p:txBody>
      </p:sp>
      <p:sp>
        <p:nvSpPr>
          <p:cNvPr id="150" name="Shape 148"/>
          <p:cNvSpPr/>
          <p:nvPr/>
        </p:nvSpPr>
        <p:spPr>
          <a:xfrm>
            <a:off x="2857500" y="7563892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1" name="Text 149"/>
          <p:cNvSpPr/>
          <p:nvPr/>
        </p:nvSpPr>
        <p:spPr>
          <a:xfrm>
            <a:off x="2952750" y="7130504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17,2%</a:t>
            </a:r>
            <a:endParaRPr lang="en-US" sz="1800"/>
          </a:p>
        </p:txBody>
      </p:sp>
      <p:sp>
        <p:nvSpPr>
          <p:cNvPr id="152" name="Shape 150"/>
          <p:cNvSpPr/>
          <p:nvPr/>
        </p:nvSpPr>
        <p:spPr>
          <a:xfrm>
            <a:off x="4953000" y="6978104"/>
            <a:ext cx="2095500" cy="595313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3" name="Shape 151"/>
          <p:cNvSpPr/>
          <p:nvPr/>
        </p:nvSpPr>
        <p:spPr>
          <a:xfrm>
            <a:off x="4953000" y="7563892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4" name="Text 152"/>
          <p:cNvSpPr/>
          <p:nvPr/>
        </p:nvSpPr>
        <p:spPr>
          <a:xfrm>
            <a:off x="5048250" y="7130504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 / 3%</a:t>
            </a:r>
            <a:endParaRPr lang="en-US" sz="1425"/>
          </a:p>
        </p:txBody>
      </p:sp>
      <p:sp>
        <p:nvSpPr>
          <p:cNvPr id="156" name="Shape 154"/>
          <p:cNvSpPr/>
          <p:nvPr/>
        </p:nvSpPr>
        <p:spPr>
          <a:xfrm>
            <a:off x="7048500" y="7563892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7" name="Text 155"/>
          <p:cNvSpPr/>
          <p:nvPr/>
        </p:nvSpPr>
        <p:spPr>
          <a:xfrm>
            <a:off x="7143750" y="7130504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19,7%</a:t>
            </a:r>
            <a:endParaRPr lang="en-US" sz="1725"/>
          </a:p>
        </p:txBody>
      </p:sp>
      <p:sp>
        <p:nvSpPr>
          <p:cNvPr id="159" name="Shape 157"/>
          <p:cNvSpPr/>
          <p:nvPr/>
        </p:nvSpPr>
        <p:spPr>
          <a:xfrm>
            <a:off x="9144000" y="7563892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0" name="Text 158"/>
          <p:cNvSpPr/>
          <p:nvPr/>
        </p:nvSpPr>
        <p:spPr>
          <a:xfrm>
            <a:off x="9239250" y="7130504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19,7%</a:t>
            </a:r>
            <a:endParaRPr lang="en-US" sz="1725"/>
          </a:p>
        </p:txBody>
      </p:sp>
      <p:sp>
        <p:nvSpPr>
          <p:cNvPr id="162" name="Shape 160"/>
          <p:cNvSpPr/>
          <p:nvPr/>
        </p:nvSpPr>
        <p:spPr>
          <a:xfrm>
            <a:off x="11239500" y="7563892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3" name="Text 161"/>
          <p:cNvSpPr/>
          <p:nvPr/>
        </p:nvSpPr>
        <p:spPr>
          <a:xfrm>
            <a:off x="11334750" y="7130504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19,7%</a:t>
            </a:r>
            <a:endParaRPr lang="en-US" sz="1725"/>
          </a:p>
        </p:txBody>
      </p:sp>
      <p:sp>
        <p:nvSpPr>
          <p:cNvPr id="165" name="Shape 163"/>
          <p:cNvSpPr/>
          <p:nvPr/>
        </p:nvSpPr>
        <p:spPr>
          <a:xfrm>
            <a:off x="13335000" y="7563892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6" name="Text 164"/>
          <p:cNvSpPr/>
          <p:nvPr/>
        </p:nvSpPr>
        <p:spPr>
          <a:xfrm>
            <a:off x="13430250" y="7130504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definir</a:t>
            </a:r>
            <a:endParaRPr lang="en-US" sz="1425"/>
          </a:p>
        </p:txBody>
      </p:sp>
      <p:sp>
        <p:nvSpPr>
          <p:cNvPr id="168" name="Shape 166"/>
          <p:cNvSpPr/>
          <p:nvPr/>
        </p:nvSpPr>
        <p:spPr>
          <a:xfrm>
            <a:off x="15430500" y="7563892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9" name="Text 167"/>
          <p:cNvSpPr/>
          <p:nvPr/>
        </p:nvSpPr>
        <p:spPr>
          <a:xfrm>
            <a:off x="15525750" y="7130504"/>
            <a:ext cx="19050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25"/>
          </a:p>
        </p:txBody>
      </p:sp>
      <p:sp>
        <p:nvSpPr>
          <p:cNvPr id="170" name="Shape 168"/>
          <p:cNvSpPr/>
          <p:nvPr/>
        </p:nvSpPr>
        <p:spPr>
          <a:xfrm>
            <a:off x="762000" y="7787729"/>
            <a:ext cx="47625" cy="440010"/>
          </a:xfrm>
          <a:prstGeom prst="rect">
            <a:avLst/>
          </a:prstGeom>
          <a:solidFill>
            <a:srgbClr val="FF6E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1" name="Text 169"/>
          <p:cNvSpPr/>
          <p:nvPr/>
        </p:nvSpPr>
        <p:spPr>
          <a:xfrm>
            <a:off x="1000125" y="7863929"/>
            <a:ext cx="17028795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800"/>
              </a:lnSpc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Pendência de dado. </a:t>
            </a:r>
            <a:r>
              <a:rPr lang="en-US" sz="1650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teto recomendado foi acordado em margem bruta / mark-up (slides seguintes); falta a versão em margem líquida. Nada aqui foi estimado.</a:t>
            </a:r>
            <a:endParaRPr lang="en-US" sz="1650"/>
          </a:p>
        </p:txBody>
      </p:sp>
      <p:sp>
        <p:nvSpPr>
          <p:cNvPr id="173" name="Text 171"/>
          <p:cNvSpPr/>
          <p:nvPr/>
        </p:nvSpPr>
        <p:spPr>
          <a:xfrm>
            <a:off x="762000" y="9767888"/>
            <a:ext cx="154411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ponderada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mix real,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26/05; sell-in jan–mai/26 por SKU (margem líquida não varia por UF).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esperado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÷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teto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KA fora do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 </a:t>
            </a:r>
            <a:r>
              <a:rPr lang="en-US" sz="1125" dirty="0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pilotos</a:t>
            </a:r>
            <a:r>
              <a:rPr lang="en-US" sz="1125" dirty="0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25" dirty="0"/>
          </a:p>
        </p:txBody>
      </p:sp>
      <p:pic>
        <p:nvPicPr>
          <p:cNvPr id="5166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167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168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-1297817"/>
            <a:ext cx="184404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228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1B · MARK-UP ESTIMADO</a:t>
            </a:r>
            <a:endParaRPr lang="en-US" sz="1425"/>
          </a:p>
        </p:txBody>
      </p:sp>
      <p:sp>
        <p:nvSpPr>
          <p:cNvPr id="4" name="Text 2"/>
          <p:cNvSpPr/>
          <p:nvPr/>
        </p:nvSpPr>
        <p:spPr>
          <a:xfrm>
            <a:off x="544286" y="-483429"/>
            <a:ext cx="18440400" cy="490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176"/>
              </a:lnSpc>
              <a:buNone/>
            </a:pPr>
            <a:r>
              <a:rPr lang="en-US" sz="3300" b="1" kern="0" spc="-49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mark-up, o único cluster que fica claramente abaixo da faixa acordada é o Super GG</a:t>
            </a:r>
            <a:endParaRPr lang="en-US" sz="3300"/>
          </a:p>
        </p:txBody>
      </p:sp>
      <p:sp>
        <p:nvSpPr>
          <p:cNvPr id="5" name="Text 3"/>
          <p:cNvSpPr/>
          <p:nvPr/>
        </p:nvSpPr>
        <p:spPr>
          <a:xfrm>
            <a:off x="762000" y="1405086"/>
            <a:ext cx="184404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i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Mark-up = MB ÷ (1 − MB), sobre o preço de compra. Teto VD = faixa acordada com o comercial (60 / 55 / 50 / 45).</a:t>
            </a:r>
            <a:endParaRPr lang="en-US" sz="1800" i="1"/>
          </a:p>
        </p:txBody>
      </p:sp>
      <p:sp>
        <p:nvSpPr>
          <p:cNvPr id="6" name="Shape 4"/>
          <p:cNvSpPr/>
          <p:nvPr/>
        </p:nvSpPr>
        <p:spPr>
          <a:xfrm>
            <a:off x="762000" y="2062311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95350" y="2195661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/ cluster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2857500" y="2062311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952750" y="2195661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Mark-up tabela </a:t>
            </a: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(pond. mix)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4953000" y="2062311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48250" y="2195661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C2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Comercial potencial futura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7048500" y="2062311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143750" y="2195661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Regular com RTP </a:t>
            </a: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c/ tático</a:t>
            </a:r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9144000" y="2062311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239250" y="2195661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Esperado </a:t>
            </a: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(30% promo)</a:t>
            </a:r>
            <a:endParaRPr lang="en-US" sz="1350"/>
          </a:p>
        </p:txBody>
      </p:sp>
      <p:sp>
        <p:nvSpPr>
          <p:cNvPr id="16" name="Shape 14"/>
          <p:cNvSpPr/>
          <p:nvPr/>
        </p:nvSpPr>
        <p:spPr>
          <a:xfrm>
            <a:off x="11239500" y="2062311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1334750" y="2195661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Rebaixa sem RTP</a:t>
            </a:r>
            <a:endParaRPr lang="en-US" sz="1350"/>
          </a:p>
        </p:txBody>
      </p:sp>
      <p:sp>
        <p:nvSpPr>
          <p:cNvPr id="18" name="Shape 16"/>
          <p:cNvSpPr/>
          <p:nvPr/>
        </p:nvSpPr>
        <p:spPr>
          <a:xfrm>
            <a:off x="13335000" y="2062311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3430250" y="2195661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Teto recomendado</a:t>
            </a:r>
            <a:endParaRPr lang="en-US" sz="1350"/>
          </a:p>
        </p:txBody>
      </p:sp>
      <p:sp>
        <p:nvSpPr>
          <p:cNvPr id="20" name="Shape 18"/>
          <p:cNvSpPr/>
          <p:nvPr/>
        </p:nvSpPr>
        <p:spPr>
          <a:xfrm>
            <a:off x="15430500" y="2062311"/>
            <a:ext cx="2095500" cy="676275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5174" name="Linha cabeçalho"/>
          <p:cNvSpPr/>
          <p:nvPr/>
        </p:nvSpPr>
        <p:spPr>
          <a:xfrm>
            <a:off x="762000" y="2729442"/>
            <a:ext cx="16764000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5525750" y="2195661"/>
            <a:ext cx="1905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1350"/>
          </a:p>
        </p:txBody>
      </p:sp>
      <p:sp>
        <p:nvSpPr>
          <p:cNvPr id="22" name="Shape 20"/>
          <p:cNvSpPr/>
          <p:nvPr/>
        </p:nvSpPr>
        <p:spPr>
          <a:xfrm>
            <a:off x="762000" y="330532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95350" y="2890986"/>
            <a:ext cx="1905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Super GG / GG</a:t>
            </a:r>
            <a:endParaRPr lang="en-US" sz="1650"/>
          </a:p>
        </p:txBody>
      </p:sp>
      <p:sp>
        <p:nvSpPr>
          <p:cNvPr id="24" name="Shape 22"/>
          <p:cNvSpPr/>
          <p:nvPr/>
        </p:nvSpPr>
        <p:spPr>
          <a:xfrm>
            <a:off x="2857500" y="330532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2952750" y="2890986"/>
            <a:ext cx="1905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39,0%</a:t>
            </a:r>
            <a:endParaRPr lang="en-US" sz="1725"/>
          </a:p>
        </p:txBody>
      </p:sp>
      <p:sp>
        <p:nvSpPr>
          <p:cNvPr id="26" name="Shape 24"/>
          <p:cNvSpPr/>
          <p:nvPr/>
        </p:nvSpPr>
        <p:spPr>
          <a:xfrm>
            <a:off x="4953000" y="2738586"/>
            <a:ext cx="2095500" cy="576263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953000" y="330532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7048500" y="330532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143750" y="2890986"/>
            <a:ext cx="1905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56,2% · </a:t>
            </a:r>
            <a:r>
              <a:rPr lang="en-US" sz="17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58,0%</a:t>
            </a:r>
            <a:endParaRPr lang="en-US" sz="1725"/>
          </a:p>
        </p:txBody>
      </p:sp>
      <p:sp>
        <p:nvSpPr>
          <p:cNvPr id="31" name="Shape 29"/>
          <p:cNvSpPr/>
          <p:nvPr/>
        </p:nvSpPr>
        <p:spPr>
          <a:xfrm>
            <a:off x="9144000" y="330532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9239250" y="2890986"/>
            <a:ext cx="1905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54,6%</a:t>
            </a:r>
            <a:endParaRPr lang="en-US" sz="1725"/>
          </a:p>
        </p:txBody>
      </p:sp>
      <p:sp>
        <p:nvSpPr>
          <p:cNvPr id="33" name="Shape 31"/>
          <p:cNvSpPr/>
          <p:nvPr/>
        </p:nvSpPr>
        <p:spPr>
          <a:xfrm>
            <a:off x="11239500" y="330532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11334750" y="2890986"/>
            <a:ext cx="1905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51,1%</a:t>
            </a:r>
            <a:endParaRPr lang="en-US" sz="1725"/>
          </a:p>
        </p:txBody>
      </p:sp>
      <p:sp>
        <p:nvSpPr>
          <p:cNvPr id="35" name="Shape 33"/>
          <p:cNvSpPr/>
          <p:nvPr/>
        </p:nvSpPr>
        <p:spPr>
          <a:xfrm>
            <a:off x="13335000" y="330532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13430250" y="2890986"/>
            <a:ext cx="1905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60,0%</a:t>
            </a:r>
            <a:endParaRPr lang="en-US" sz="1725"/>
          </a:p>
        </p:txBody>
      </p:sp>
      <p:sp>
        <p:nvSpPr>
          <p:cNvPr id="37" name="Shape 35"/>
          <p:cNvSpPr/>
          <p:nvPr/>
        </p:nvSpPr>
        <p:spPr>
          <a:xfrm>
            <a:off x="15430500" y="330532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15525750" y="2890986"/>
            <a:ext cx="1905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1725"/>
          </a:p>
        </p:txBody>
      </p:sp>
      <p:sp>
        <p:nvSpPr>
          <p:cNvPr id="39" name="Shape 37"/>
          <p:cNvSpPr/>
          <p:nvPr/>
        </p:nvSpPr>
        <p:spPr>
          <a:xfrm>
            <a:off x="762000" y="3314849"/>
            <a:ext cx="16764000" cy="581025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762000" y="388634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895350" y="346724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G</a:t>
            </a:r>
            <a:endParaRPr lang="en-US" sz="1650"/>
          </a:p>
        </p:txBody>
      </p:sp>
      <p:sp>
        <p:nvSpPr>
          <p:cNvPr id="42" name="Shape 40"/>
          <p:cNvSpPr/>
          <p:nvPr/>
        </p:nvSpPr>
        <p:spPr>
          <a:xfrm>
            <a:off x="2857500" y="388634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2952750" y="346724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38,4%</a:t>
            </a:r>
            <a:endParaRPr lang="en-US" sz="1725"/>
          </a:p>
        </p:txBody>
      </p:sp>
      <p:sp>
        <p:nvSpPr>
          <p:cNvPr id="44" name="Shape 42"/>
          <p:cNvSpPr/>
          <p:nvPr/>
        </p:nvSpPr>
        <p:spPr>
          <a:xfrm>
            <a:off x="4953000" y="3314849"/>
            <a:ext cx="2095500" cy="581025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4953000" y="388634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7048500" y="388634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7143750" y="346724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55,5% · </a:t>
            </a:r>
            <a:r>
              <a:rPr lang="en-US" sz="17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57,2%</a:t>
            </a:r>
            <a:endParaRPr lang="en-US" sz="1725"/>
          </a:p>
        </p:txBody>
      </p:sp>
      <p:sp>
        <p:nvSpPr>
          <p:cNvPr id="49" name="Shape 47"/>
          <p:cNvSpPr/>
          <p:nvPr/>
        </p:nvSpPr>
        <p:spPr>
          <a:xfrm>
            <a:off x="9144000" y="388634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9239250" y="346724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53,9%</a:t>
            </a:r>
            <a:endParaRPr lang="en-US" sz="1725"/>
          </a:p>
        </p:txBody>
      </p:sp>
      <p:sp>
        <p:nvSpPr>
          <p:cNvPr id="51" name="Shape 49"/>
          <p:cNvSpPr/>
          <p:nvPr/>
        </p:nvSpPr>
        <p:spPr>
          <a:xfrm>
            <a:off x="11239500" y="388634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11334750" y="346724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50,4%</a:t>
            </a:r>
            <a:endParaRPr lang="en-US" sz="1725"/>
          </a:p>
        </p:txBody>
      </p:sp>
      <p:sp>
        <p:nvSpPr>
          <p:cNvPr id="53" name="Shape 51"/>
          <p:cNvSpPr/>
          <p:nvPr/>
        </p:nvSpPr>
        <p:spPr>
          <a:xfrm>
            <a:off x="13335000" y="388634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13430250" y="346724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55,0%</a:t>
            </a:r>
            <a:endParaRPr lang="en-US" sz="1725"/>
          </a:p>
        </p:txBody>
      </p:sp>
      <p:sp>
        <p:nvSpPr>
          <p:cNvPr id="55" name="Shape 53"/>
          <p:cNvSpPr/>
          <p:nvPr/>
        </p:nvSpPr>
        <p:spPr>
          <a:xfrm>
            <a:off x="15430500" y="388634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15525750" y="346724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725"/>
          </a:p>
        </p:txBody>
      </p:sp>
      <p:sp>
        <p:nvSpPr>
          <p:cNvPr id="57" name="Shape 55"/>
          <p:cNvSpPr/>
          <p:nvPr/>
        </p:nvSpPr>
        <p:spPr>
          <a:xfrm>
            <a:off x="762000" y="446737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895350" y="404827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M</a:t>
            </a:r>
            <a:endParaRPr lang="en-US" sz="1650"/>
          </a:p>
        </p:txBody>
      </p:sp>
      <p:sp>
        <p:nvSpPr>
          <p:cNvPr id="59" name="Shape 57"/>
          <p:cNvSpPr/>
          <p:nvPr/>
        </p:nvSpPr>
        <p:spPr>
          <a:xfrm>
            <a:off x="2857500" y="446737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2952750" y="404827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38,4%</a:t>
            </a:r>
            <a:endParaRPr lang="en-US" sz="1725"/>
          </a:p>
        </p:txBody>
      </p:sp>
      <p:sp>
        <p:nvSpPr>
          <p:cNvPr id="61" name="Shape 59"/>
          <p:cNvSpPr/>
          <p:nvPr/>
        </p:nvSpPr>
        <p:spPr>
          <a:xfrm>
            <a:off x="4953000" y="3895874"/>
            <a:ext cx="2095500" cy="581025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4953000" y="446737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Shape 62"/>
          <p:cNvSpPr/>
          <p:nvPr/>
        </p:nvSpPr>
        <p:spPr>
          <a:xfrm>
            <a:off x="7048500" y="446737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7143750" y="404827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52,0% · </a:t>
            </a:r>
            <a:r>
              <a:rPr lang="en-US" sz="17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53,7%</a:t>
            </a:r>
            <a:endParaRPr lang="en-US" sz="1725"/>
          </a:p>
        </p:txBody>
      </p:sp>
      <p:sp>
        <p:nvSpPr>
          <p:cNvPr id="66" name="Shape 64"/>
          <p:cNvSpPr/>
          <p:nvPr/>
        </p:nvSpPr>
        <p:spPr>
          <a:xfrm>
            <a:off x="9144000" y="446737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9239250" y="404827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50,6%</a:t>
            </a:r>
            <a:endParaRPr lang="en-US" sz="1725"/>
          </a:p>
        </p:txBody>
      </p:sp>
      <p:sp>
        <p:nvSpPr>
          <p:cNvPr id="68" name="Shape 66"/>
          <p:cNvSpPr/>
          <p:nvPr/>
        </p:nvSpPr>
        <p:spPr>
          <a:xfrm>
            <a:off x="11239500" y="446737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11334750" y="404827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47,2%</a:t>
            </a:r>
            <a:endParaRPr lang="en-US" sz="1725"/>
          </a:p>
        </p:txBody>
      </p:sp>
      <p:sp>
        <p:nvSpPr>
          <p:cNvPr id="70" name="Shape 68"/>
          <p:cNvSpPr/>
          <p:nvPr/>
        </p:nvSpPr>
        <p:spPr>
          <a:xfrm>
            <a:off x="13335000" y="446737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13430250" y="404827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50,0%</a:t>
            </a:r>
            <a:endParaRPr lang="en-US" sz="1725"/>
          </a:p>
        </p:txBody>
      </p:sp>
      <p:sp>
        <p:nvSpPr>
          <p:cNvPr id="72" name="Shape 70"/>
          <p:cNvSpPr/>
          <p:nvPr/>
        </p:nvSpPr>
        <p:spPr>
          <a:xfrm>
            <a:off x="15430500" y="446737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Text 71"/>
          <p:cNvSpPr/>
          <p:nvPr/>
        </p:nvSpPr>
        <p:spPr>
          <a:xfrm>
            <a:off x="15525750" y="4048274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101%</a:t>
            </a:r>
            <a:endParaRPr lang="en-US" sz="1725"/>
          </a:p>
        </p:txBody>
      </p:sp>
      <p:sp>
        <p:nvSpPr>
          <p:cNvPr id="74" name="Shape 72"/>
          <p:cNvSpPr/>
          <p:nvPr/>
        </p:nvSpPr>
        <p:spPr>
          <a:xfrm>
            <a:off x="762000" y="4476899"/>
            <a:ext cx="16764000" cy="581025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Shape 73"/>
          <p:cNvSpPr/>
          <p:nvPr/>
        </p:nvSpPr>
        <p:spPr>
          <a:xfrm>
            <a:off x="762000" y="504839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6" name="Text 74"/>
          <p:cNvSpPr/>
          <p:nvPr/>
        </p:nvSpPr>
        <p:spPr>
          <a:xfrm>
            <a:off x="895350" y="462929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P</a:t>
            </a:r>
            <a:endParaRPr lang="en-US" sz="1650"/>
          </a:p>
        </p:txBody>
      </p:sp>
      <p:sp>
        <p:nvSpPr>
          <p:cNvPr id="77" name="Shape 75"/>
          <p:cNvSpPr/>
          <p:nvPr/>
        </p:nvSpPr>
        <p:spPr>
          <a:xfrm>
            <a:off x="2857500" y="504839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8" name="Text 76"/>
          <p:cNvSpPr/>
          <p:nvPr/>
        </p:nvSpPr>
        <p:spPr>
          <a:xfrm>
            <a:off x="2952750" y="462929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36,4%</a:t>
            </a:r>
            <a:endParaRPr lang="en-US" sz="1725"/>
          </a:p>
        </p:txBody>
      </p:sp>
      <p:sp>
        <p:nvSpPr>
          <p:cNvPr id="79" name="Shape 77"/>
          <p:cNvSpPr/>
          <p:nvPr/>
        </p:nvSpPr>
        <p:spPr>
          <a:xfrm>
            <a:off x="4953000" y="4476899"/>
            <a:ext cx="2095500" cy="581025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0" name="Shape 78"/>
          <p:cNvSpPr/>
          <p:nvPr/>
        </p:nvSpPr>
        <p:spPr>
          <a:xfrm>
            <a:off x="4953000" y="504839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2" name="Shape 80"/>
          <p:cNvSpPr/>
          <p:nvPr/>
        </p:nvSpPr>
        <p:spPr>
          <a:xfrm>
            <a:off x="7048500" y="504839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Text 81"/>
          <p:cNvSpPr/>
          <p:nvPr/>
        </p:nvSpPr>
        <p:spPr>
          <a:xfrm>
            <a:off x="7143750" y="462929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46,6% · </a:t>
            </a:r>
            <a:r>
              <a:rPr lang="en-US" sz="17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48,2%</a:t>
            </a:r>
            <a:endParaRPr lang="en-US" sz="1725"/>
          </a:p>
        </p:txBody>
      </p:sp>
      <p:sp>
        <p:nvSpPr>
          <p:cNvPr id="84" name="Shape 82"/>
          <p:cNvSpPr/>
          <p:nvPr/>
        </p:nvSpPr>
        <p:spPr>
          <a:xfrm>
            <a:off x="9144000" y="504839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5" name="Text 83"/>
          <p:cNvSpPr/>
          <p:nvPr/>
        </p:nvSpPr>
        <p:spPr>
          <a:xfrm>
            <a:off x="9239250" y="462929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45,2%</a:t>
            </a:r>
            <a:endParaRPr lang="en-US" sz="1725"/>
          </a:p>
        </p:txBody>
      </p:sp>
      <p:sp>
        <p:nvSpPr>
          <p:cNvPr id="86" name="Shape 84"/>
          <p:cNvSpPr/>
          <p:nvPr/>
        </p:nvSpPr>
        <p:spPr>
          <a:xfrm>
            <a:off x="11239500" y="504839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7" name="Text 85"/>
          <p:cNvSpPr/>
          <p:nvPr/>
        </p:nvSpPr>
        <p:spPr>
          <a:xfrm>
            <a:off x="11334750" y="462929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42,0%</a:t>
            </a:r>
            <a:endParaRPr lang="en-US" sz="1725"/>
          </a:p>
        </p:txBody>
      </p:sp>
      <p:sp>
        <p:nvSpPr>
          <p:cNvPr id="88" name="Shape 86"/>
          <p:cNvSpPr/>
          <p:nvPr/>
        </p:nvSpPr>
        <p:spPr>
          <a:xfrm>
            <a:off x="13335000" y="504839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9" name="Text 87"/>
          <p:cNvSpPr/>
          <p:nvPr/>
        </p:nvSpPr>
        <p:spPr>
          <a:xfrm>
            <a:off x="13430250" y="462929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45,0%</a:t>
            </a:r>
            <a:endParaRPr lang="en-US" sz="1725"/>
          </a:p>
        </p:txBody>
      </p:sp>
      <p:sp>
        <p:nvSpPr>
          <p:cNvPr id="90" name="Shape 88"/>
          <p:cNvSpPr/>
          <p:nvPr/>
        </p:nvSpPr>
        <p:spPr>
          <a:xfrm>
            <a:off x="15430500" y="504839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1" name="Text 89"/>
          <p:cNvSpPr/>
          <p:nvPr/>
        </p:nvSpPr>
        <p:spPr>
          <a:xfrm>
            <a:off x="15525750" y="462929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725"/>
          </a:p>
        </p:txBody>
      </p:sp>
      <p:sp>
        <p:nvSpPr>
          <p:cNvPr id="92" name="Shape 90"/>
          <p:cNvSpPr/>
          <p:nvPr/>
        </p:nvSpPr>
        <p:spPr>
          <a:xfrm>
            <a:off x="762000" y="583897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3" name="Text 91"/>
          <p:cNvSpPr/>
          <p:nvPr/>
        </p:nvSpPr>
        <p:spPr>
          <a:xfrm>
            <a:off x="895350" y="5210324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shop independente</a:t>
            </a:r>
            <a:endParaRPr lang="en-US" sz="1650"/>
          </a:p>
        </p:txBody>
      </p:sp>
      <p:sp>
        <p:nvSpPr>
          <p:cNvPr id="94" name="Shape 92"/>
          <p:cNvSpPr/>
          <p:nvPr/>
        </p:nvSpPr>
        <p:spPr>
          <a:xfrm>
            <a:off x="2857500" y="583897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5" name="Text 93"/>
          <p:cNvSpPr/>
          <p:nvPr/>
        </p:nvSpPr>
        <p:spPr>
          <a:xfrm>
            <a:off x="2952750" y="5210324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36,1%</a:t>
            </a:r>
            <a:endParaRPr lang="en-US" sz="1725"/>
          </a:p>
        </p:txBody>
      </p:sp>
      <p:sp>
        <p:nvSpPr>
          <p:cNvPr id="96" name="Shape 94"/>
          <p:cNvSpPr/>
          <p:nvPr/>
        </p:nvSpPr>
        <p:spPr>
          <a:xfrm>
            <a:off x="4953000" y="5057924"/>
            <a:ext cx="2095500" cy="790575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7" name="Shape 95"/>
          <p:cNvSpPr/>
          <p:nvPr/>
        </p:nvSpPr>
        <p:spPr>
          <a:xfrm>
            <a:off x="4953000" y="583897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9" name="Shape 97"/>
          <p:cNvSpPr/>
          <p:nvPr/>
        </p:nvSpPr>
        <p:spPr>
          <a:xfrm>
            <a:off x="7048500" y="583897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0" name="Text 98"/>
          <p:cNvSpPr/>
          <p:nvPr/>
        </p:nvSpPr>
        <p:spPr>
          <a:xfrm>
            <a:off x="7143750" y="5210324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43,2%</a:t>
            </a:r>
            <a:endParaRPr lang="en-US" sz="1725"/>
          </a:p>
        </p:txBody>
      </p:sp>
      <p:sp>
        <p:nvSpPr>
          <p:cNvPr id="101" name="Shape 99"/>
          <p:cNvSpPr/>
          <p:nvPr/>
        </p:nvSpPr>
        <p:spPr>
          <a:xfrm>
            <a:off x="9144000" y="583897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2" name="Text 100"/>
          <p:cNvSpPr/>
          <p:nvPr/>
        </p:nvSpPr>
        <p:spPr>
          <a:xfrm>
            <a:off x="9239250" y="5210324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42,3%</a:t>
            </a:r>
            <a:endParaRPr lang="en-US" sz="1725"/>
          </a:p>
        </p:txBody>
      </p:sp>
      <p:sp>
        <p:nvSpPr>
          <p:cNvPr id="103" name="Shape 101"/>
          <p:cNvSpPr/>
          <p:nvPr/>
        </p:nvSpPr>
        <p:spPr>
          <a:xfrm>
            <a:off x="11239500" y="583897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4" name="Text 102"/>
          <p:cNvSpPr/>
          <p:nvPr/>
        </p:nvSpPr>
        <p:spPr>
          <a:xfrm>
            <a:off x="11334750" y="5210324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40,3%</a:t>
            </a:r>
            <a:endParaRPr lang="en-US" sz="1725"/>
          </a:p>
        </p:txBody>
      </p:sp>
      <p:sp>
        <p:nvSpPr>
          <p:cNvPr id="105" name="Shape 103"/>
          <p:cNvSpPr/>
          <p:nvPr/>
        </p:nvSpPr>
        <p:spPr>
          <a:xfrm>
            <a:off x="13335000" y="583897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6" name="Text 104"/>
          <p:cNvSpPr/>
          <p:nvPr/>
        </p:nvSpPr>
        <p:spPr>
          <a:xfrm>
            <a:off x="13430250" y="5210324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42,9%</a:t>
            </a:r>
            <a:endParaRPr lang="en-US" sz="1725"/>
          </a:p>
        </p:txBody>
      </p:sp>
      <p:sp>
        <p:nvSpPr>
          <p:cNvPr id="107" name="Shape 105"/>
          <p:cNvSpPr/>
          <p:nvPr/>
        </p:nvSpPr>
        <p:spPr>
          <a:xfrm>
            <a:off x="15430500" y="5838974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8" name="Text 106"/>
          <p:cNvSpPr/>
          <p:nvPr/>
        </p:nvSpPr>
        <p:spPr>
          <a:xfrm>
            <a:off x="15525750" y="5210324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1725"/>
          </a:p>
        </p:txBody>
      </p:sp>
      <p:sp>
        <p:nvSpPr>
          <p:cNvPr id="109" name="Shape 107"/>
          <p:cNvSpPr/>
          <p:nvPr/>
        </p:nvSpPr>
        <p:spPr>
          <a:xfrm>
            <a:off x="762000" y="5848499"/>
            <a:ext cx="16764000" cy="581025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0" name="Shape 108"/>
          <p:cNvSpPr/>
          <p:nvPr/>
        </p:nvSpPr>
        <p:spPr>
          <a:xfrm>
            <a:off x="762000" y="641999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1" name="Text 109"/>
          <p:cNvSpPr/>
          <p:nvPr/>
        </p:nvSpPr>
        <p:spPr>
          <a:xfrm>
            <a:off x="895350" y="600089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</a:t>
            </a:r>
            <a:endParaRPr lang="en-US" sz="1650"/>
          </a:p>
        </p:txBody>
      </p:sp>
      <p:sp>
        <p:nvSpPr>
          <p:cNvPr id="112" name="Shape 110"/>
          <p:cNvSpPr/>
          <p:nvPr/>
        </p:nvSpPr>
        <p:spPr>
          <a:xfrm>
            <a:off x="2857500" y="641999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3" name="Text 111"/>
          <p:cNvSpPr/>
          <p:nvPr/>
        </p:nvSpPr>
        <p:spPr>
          <a:xfrm>
            <a:off x="2952750" y="600089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28,8%</a:t>
            </a:r>
            <a:endParaRPr lang="en-US" sz="1725"/>
          </a:p>
        </p:txBody>
      </p:sp>
      <p:sp>
        <p:nvSpPr>
          <p:cNvPr id="114" name="Shape 112"/>
          <p:cNvSpPr/>
          <p:nvPr/>
        </p:nvSpPr>
        <p:spPr>
          <a:xfrm>
            <a:off x="4953000" y="5848499"/>
            <a:ext cx="2095500" cy="581025"/>
          </a:xfrm>
          <a:prstGeom prst="rect">
            <a:avLst/>
          </a:prstGeom>
          <a:solidFill>
            <a:srgbClr val="FFF4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5" name="Shape 113"/>
          <p:cNvSpPr/>
          <p:nvPr/>
        </p:nvSpPr>
        <p:spPr>
          <a:xfrm>
            <a:off x="4953000" y="641999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7" name="Shape 115"/>
          <p:cNvSpPr/>
          <p:nvPr/>
        </p:nvSpPr>
        <p:spPr>
          <a:xfrm>
            <a:off x="7048500" y="641999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8" name="Text 116"/>
          <p:cNvSpPr/>
          <p:nvPr/>
        </p:nvSpPr>
        <p:spPr>
          <a:xfrm>
            <a:off x="7143750" y="600089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32,8%</a:t>
            </a:r>
            <a:endParaRPr lang="en-US" sz="1725"/>
          </a:p>
        </p:txBody>
      </p:sp>
      <p:sp>
        <p:nvSpPr>
          <p:cNvPr id="119" name="Shape 117"/>
          <p:cNvSpPr/>
          <p:nvPr/>
        </p:nvSpPr>
        <p:spPr>
          <a:xfrm>
            <a:off x="9144000" y="641999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0" name="Text 118"/>
          <p:cNvSpPr/>
          <p:nvPr/>
        </p:nvSpPr>
        <p:spPr>
          <a:xfrm>
            <a:off x="9239250" y="600089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32,8%</a:t>
            </a:r>
            <a:endParaRPr lang="en-US" sz="1725"/>
          </a:p>
        </p:txBody>
      </p:sp>
      <p:sp>
        <p:nvSpPr>
          <p:cNvPr id="121" name="Shape 119"/>
          <p:cNvSpPr/>
          <p:nvPr/>
        </p:nvSpPr>
        <p:spPr>
          <a:xfrm>
            <a:off x="11239500" y="641999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2" name="Text 120"/>
          <p:cNvSpPr/>
          <p:nvPr/>
        </p:nvSpPr>
        <p:spPr>
          <a:xfrm>
            <a:off x="11334750" y="600089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32,8%</a:t>
            </a:r>
            <a:endParaRPr lang="en-US" sz="1725"/>
          </a:p>
        </p:txBody>
      </p:sp>
      <p:sp>
        <p:nvSpPr>
          <p:cNvPr id="123" name="Shape 121"/>
          <p:cNvSpPr/>
          <p:nvPr/>
        </p:nvSpPr>
        <p:spPr>
          <a:xfrm>
            <a:off x="13335000" y="641999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4" name="Text 122"/>
          <p:cNvSpPr/>
          <p:nvPr/>
        </p:nvSpPr>
        <p:spPr>
          <a:xfrm>
            <a:off x="13430250" y="600089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33,3%</a:t>
            </a:r>
            <a:endParaRPr lang="en-US" sz="1725"/>
          </a:p>
        </p:txBody>
      </p:sp>
      <p:sp>
        <p:nvSpPr>
          <p:cNvPr id="125" name="Shape 123"/>
          <p:cNvSpPr/>
          <p:nvPr/>
        </p:nvSpPr>
        <p:spPr>
          <a:xfrm>
            <a:off x="15430500" y="6419999"/>
            <a:ext cx="2095500" cy="9525"/>
          </a:xfrm>
          <a:prstGeom prst="rect">
            <a:avLst/>
          </a:prstGeom>
          <a:solidFill>
            <a:srgbClr val="EEF0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6" name="Text 124"/>
          <p:cNvSpPr/>
          <p:nvPr/>
        </p:nvSpPr>
        <p:spPr>
          <a:xfrm>
            <a:off x="15525750" y="6000899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>
                <a:solidFill>
                  <a:srgbClr val="14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725"/>
          </a:p>
        </p:txBody>
      </p:sp>
      <p:sp>
        <p:nvSpPr>
          <p:cNvPr id="128" name="Text 126"/>
          <p:cNvSpPr/>
          <p:nvPr/>
        </p:nvSpPr>
        <p:spPr>
          <a:xfrm>
            <a:off x="762000" y="9767888"/>
            <a:ext cx="154411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= esperado ÷ teto. KA fora do escopo dos pilotos. MB de partida ponderada por SKU × UF (sell-in jan–mai/26). Mark-up real de hoje, medido: pet shop 37,0–47,1% (média 43,1%) · </a:t>
            </a:r>
            <a:r>
              <a:rPr lang="en-US" sz="1125" err="1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</a:t>
            </a:r>
            <a:r>
              <a:rPr lang="en-US" sz="1125">
                <a:solidFill>
                  <a:srgbClr val="888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30,7–51,1% (média 40,1%) · VD requer base de faturamento por cliente.</a:t>
            </a:r>
            <a:endParaRPr lang="en-US" sz="1125"/>
          </a:p>
        </p:txBody>
      </p:sp>
      <p:sp>
        <p:nvSpPr>
          <p:cNvPr id="130" name="Text 38">
            <a:extLst>
              <a:ext uri="{FF2B5EF4-FFF2-40B4-BE49-F238E27FC236}">
                <a16:creationId xmlns:a16="http://schemas.microsoft.com/office/drawing/2014/main" id="{77FE7DFD-339A-72A1-21D2-E4E32739042A}"/>
              </a:ext>
            </a:extLst>
          </p:cNvPr>
          <p:cNvSpPr/>
          <p:nvPr/>
        </p:nvSpPr>
        <p:spPr>
          <a:xfrm>
            <a:off x="5048250" y="2861393"/>
            <a:ext cx="19050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 / 12%</a:t>
            </a:r>
            <a:endParaRPr lang="en-US" sz="1425"/>
          </a:p>
        </p:txBody>
      </p:sp>
      <p:sp>
        <p:nvSpPr>
          <p:cNvPr id="132" name="Text 56">
            <a:extLst>
              <a:ext uri="{FF2B5EF4-FFF2-40B4-BE49-F238E27FC236}">
                <a16:creationId xmlns:a16="http://schemas.microsoft.com/office/drawing/2014/main" id="{21C853AC-E7F2-4B6C-C373-554EA5772684}"/>
              </a:ext>
            </a:extLst>
          </p:cNvPr>
          <p:cNvSpPr/>
          <p:nvPr/>
        </p:nvSpPr>
        <p:spPr>
          <a:xfrm>
            <a:off x="5048250" y="3437655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 / 12%</a:t>
            </a:r>
            <a:endParaRPr lang="en-US" sz="1425"/>
          </a:p>
        </p:txBody>
      </p:sp>
      <p:sp>
        <p:nvSpPr>
          <p:cNvPr id="134" name="Text 73">
            <a:extLst>
              <a:ext uri="{FF2B5EF4-FFF2-40B4-BE49-F238E27FC236}">
                <a16:creationId xmlns:a16="http://schemas.microsoft.com/office/drawing/2014/main" id="{1EE515BC-1329-9A51-1BFD-A143E88BFFBD}"/>
              </a:ext>
            </a:extLst>
          </p:cNvPr>
          <p:cNvSpPr/>
          <p:nvPr/>
        </p:nvSpPr>
        <p:spPr>
          <a:xfrm>
            <a:off x="5048250" y="4018680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/>
            <a:r>
              <a:rPr lang="pt-BR" sz="1600">
                <a:solidFill>
                  <a:srgbClr val="FF6E08"/>
                </a:solidFill>
              </a:rPr>
              <a:t>9% / 10%</a:t>
            </a:r>
            <a:endParaRPr lang="en-US" sz="1425">
              <a:solidFill>
                <a:srgbClr val="FF6E08"/>
              </a:solidFill>
            </a:endParaRPr>
          </a:p>
        </p:txBody>
      </p:sp>
      <p:sp>
        <p:nvSpPr>
          <p:cNvPr id="136" name="Text 91">
            <a:extLst>
              <a:ext uri="{FF2B5EF4-FFF2-40B4-BE49-F238E27FC236}">
                <a16:creationId xmlns:a16="http://schemas.microsoft.com/office/drawing/2014/main" id="{135A7E03-4675-7DB9-A29A-0395C155937C}"/>
              </a:ext>
            </a:extLst>
          </p:cNvPr>
          <p:cNvSpPr/>
          <p:nvPr/>
        </p:nvSpPr>
        <p:spPr>
          <a:xfrm>
            <a:off x="5048250" y="4599705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/>
            <a:r>
              <a:rPr lang="pt-BR" sz="1600">
                <a:solidFill>
                  <a:srgbClr val="FF6E08"/>
                </a:solidFill>
              </a:rPr>
              <a:t>7% / 8%</a:t>
            </a:r>
            <a:endParaRPr lang="en-US" sz="1425">
              <a:solidFill>
                <a:srgbClr val="FF6E08"/>
              </a:solidFill>
            </a:endParaRPr>
          </a:p>
        </p:txBody>
      </p:sp>
      <p:sp>
        <p:nvSpPr>
          <p:cNvPr id="138" name="Text 108">
            <a:extLst>
              <a:ext uri="{FF2B5EF4-FFF2-40B4-BE49-F238E27FC236}">
                <a16:creationId xmlns:a16="http://schemas.microsoft.com/office/drawing/2014/main" id="{B22EB58C-0423-47DE-20D5-B8B314E368E4}"/>
              </a:ext>
            </a:extLst>
          </p:cNvPr>
          <p:cNvSpPr/>
          <p:nvPr/>
        </p:nvSpPr>
        <p:spPr>
          <a:xfrm>
            <a:off x="5048250" y="5180730"/>
            <a:ext cx="1905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pt-BR" sz="1600">
                <a:solidFill>
                  <a:srgbClr val="FF6E08"/>
                </a:solidFill>
              </a:rPr>
              <a:t>5% / 5% </a:t>
            </a:r>
            <a:br>
              <a:rPr lang="pt-BR" sz="1600">
                <a:solidFill>
                  <a:srgbClr val="FF6E08"/>
                </a:solidFill>
              </a:rPr>
            </a:br>
            <a:r>
              <a:rPr lang="pt-BR" sz="1100">
                <a:solidFill>
                  <a:srgbClr val="FF6E08"/>
                </a:solidFill>
              </a:rPr>
              <a:t>(3% cond. + 2% RTP; sem tático)</a:t>
            </a:r>
            <a:endParaRPr lang="en-US" sz="1600">
              <a:solidFill>
                <a:srgbClr val="FF6E08"/>
              </a:solidFill>
            </a:endParaRPr>
          </a:p>
        </p:txBody>
      </p:sp>
      <p:sp>
        <p:nvSpPr>
          <p:cNvPr id="140" name="Text 126">
            <a:extLst>
              <a:ext uri="{FF2B5EF4-FFF2-40B4-BE49-F238E27FC236}">
                <a16:creationId xmlns:a16="http://schemas.microsoft.com/office/drawing/2014/main" id="{F0826433-7922-CC94-4D5A-18E47128CBD6}"/>
              </a:ext>
            </a:extLst>
          </p:cNvPr>
          <p:cNvSpPr/>
          <p:nvPr/>
        </p:nvSpPr>
        <p:spPr>
          <a:xfrm>
            <a:off x="5048250" y="5971305"/>
            <a:ext cx="1905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pt-BR" sz="1425">
                <a:solidFill>
                  <a:srgbClr val="FF6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</a:p>
          <a:p>
            <a:pPr marL="0" indent="0" algn="ctr">
              <a:buNone/>
            </a:pPr>
            <a:r>
              <a:rPr lang="pt-BR" sz="6400">
                <a:solidFill>
                  <a:srgbClr val="FF6E08"/>
                </a:solidFill>
                <a:ea typeface="Arial" pitchFamily="34" charset="-122"/>
                <a:cs typeface="Arial" pitchFamily="34" charset="-120"/>
              </a:rPr>
              <a:t>3% / 3% </a:t>
            </a:r>
            <a:br>
              <a:rPr lang="pt-BR" sz="6400">
                <a:solidFill>
                  <a:srgbClr val="FF6E08"/>
                </a:solidFill>
                <a:ea typeface="Arial" pitchFamily="34" charset="-122"/>
                <a:cs typeface="Arial" pitchFamily="34" charset="-120"/>
              </a:rPr>
            </a:br>
            <a:r>
              <a:rPr lang="pt-BR" sz="4400">
                <a:solidFill>
                  <a:srgbClr val="FF6E08"/>
                </a:solidFill>
                <a:ea typeface="Arial" pitchFamily="34" charset="-122"/>
                <a:cs typeface="Arial" pitchFamily="34" charset="-120"/>
              </a:rPr>
              <a:t>(só PPP; sem RTP/tático)</a:t>
            </a:r>
            <a:endParaRPr lang="en-US" sz="4400"/>
          </a:p>
        </p:txBody>
      </p:sp>
      <p:sp>
        <p:nvSpPr>
          <p:cNvPr id="146" name="Text 1">
            <a:extLst>
              <a:ext uri="{FF2B5EF4-FFF2-40B4-BE49-F238E27FC236}">
                <a16:creationId xmlns:a16="http://schemas.microsoft.com/office/drawing/2014/main" id="{0A36BB18-45C4-B054-5C8F-7CE543133823}"/>
              </a:ext>
            </a:extLst>
          </p:cNvPr>
          <p:cNvSpPr/>
          <p:nvPr/>
        </p:nvSpPr>
        <p:spPr>
          <a:xfrm>
            <a:off x="758952" y="747356"/>
            <a:ext cx="13368528" cy="630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4200" b="1" kern="0" spc="-63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Camada</a:t>
            </a:r>
            <a:r>
              <a:rPr lang="en-US" sz="4200" b="1" kern="0" spc="-63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 1B | Mark-up </a:t>
            </a:r>
            <a:r>
              <a:rPr lang="en-US" sz="4200" b="1" kern="0" spc="-63" err="1">
                <a:solidFill>
                  <a:srgbClr val="14171F"/>
                </a:solidFill>
                <a:latin typeface="Arial" pitchFamily="34" charset="0"/>
                <a:cs typeface="Arial" pitchFamily="34" charset="-120"/>
              </a:rPr>
              <a:t>estimado</a:t>
            </a:r>
            <a:endParaRPr lang="en-US" sz="4200"/>
          </a:p>
        </p:txBody>
      </p:sp>
      <p:pic>
        <p:nvPicPr>
          <p:cNvPr id="5170" name="Logo PremieRpet" descr="Logo PremieRp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171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172" name="Logo DOC Consulting" descr="Logo DOC Consul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  <p:sp>
        <p:nvSpPr>
          <p:cNvPr id="5173" name="Número da página"/>
          <p:cNvSpPr txBox="1"/>
          <p:nvPr/>
        </p:nvSpPr>
        <p:spPr>
          <a:xfrm>
            <a:off x="16340328" y="976788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pt-BR" sz="1125" dirty="0">
                <a:solidFill>
                  <a:srgbClr val="888D97"/>
                </a:solidFill>
                <a:latin typeface="Arial"/>
                <a:ea typeface="Arial"/>
                <a:cs typeface="Arial"/>
              </a:rPr>
              <a:t>Página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58952" y="457200"/>
            <a:ext cx="1682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425" b="1" i="0">
                <a:solidFill>
                  <a:srgbClr val="9CA3AF"/>
                </a:solidFill>
                <a:latin typeface="Arial"/>
              </a:rPr>
              <a:t xml:space="preserve">CAMADA 2 · INCENTIVO AO CLIENTE · CALIBRAGEM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749808"/>
            <a:ext cx="13368528" cy="5394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/>
            <a:r>
              <a:rPr sz="3600" b="1" i="0" spc="-54" kern="0">
                <a:solidFill>
                  <a:srgbClr val="14171F"/>
                </a:solidFill>
                <a:latin typeface="Arial"/>
              </a:rPr>
              <a:t>No canal, mix quase não move a margem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316736"/>
            <a:ext cx="172821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650" b="0" i="1">
                <a:solidFill>
                  <a:srgbClr val="888D97"/>
                </a:solidFill>
                <a:latin typeface="Arial"/>
              </a:rPr>
              <a:t>Aproveitamento de tabela por cenário de mix — consolidado piloto RJ+RS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2377440"/>
            <a:ext cx="27432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1" i="0">
                <a:solidFill>
                  <a:srgbClr val="5B6472"/>
                </a:solidFill>
                <a:latin typeface="Arial"/>
              </a:rPr>
              <a:t>Cluster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2152" y="2377440"/>
            <a:ext cx="246888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1" i="0">
                <a:solidFill>
                  <a:srgbClr val="5B6472"/>
                </a:solidFill>
                <a:latin typeface="Arial"/>
              </a:rPr>
              <a:t>As-is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71032" y="2377440"/>
            <a:ext cx="2651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1" i="0">
                <a:solidFill>
                  <a:srgbClr val="5B6472"/>
                </a:solidFill>
                <a:latin typeface="Arial"/>
              </a:rPr>
              <a:t>+Nattu (+3pp)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22792" y="2377440"/>
            <a:ext cx="2651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1" i="0">
                <a:solidFill>
                  <a:srgbClr val="5B6472"/>
                </a:solidFill>
                <a:latin typeface="Arial"/>
              </a:rPr>
              <a:t>+Úmidos (+2pp)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0"/>
            <a:ext cx="246888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1" i="0">
                <a:solidFill>
                  <a:srgbClr val="5B6472"/>
                </a:solidFill>
                <a:latin typeface="Arial"/>
              </a:rPr>
              <a:t>Mix-alvo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43432" y="2377440"/>
            <a:ext cx="19202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250" b="1" i="0">
                <a:solidFill>
                  <a:srgbClr val="5B6472"/>
                </a:solidFill>
                <a:latin typeface="Arial"/>
              </a:rPr>
              <a:t>Uplift</a:t>
            </a:r>
          </a:p>
        </p:txBody>
      </p:sp>
      <p:sp>
        <p:nvSpPr>
          <p:cNvPr id="5178" name="Linha cabeçalho"/>
          <p:cNvSpPr/>
          <p:nvPr/>
        </p:nvSpPr>
        <p:spPr>
          <a:xfrm>
            <a:off x="758952" y="2871216"/>
            <a:ext cx="14904720" cy="951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758952" y="2880360"/>
            <a:ext cx="27432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 i="0">
                <a:solidFill>
                  <a:srgbClr val="14171F"/>
                </a:solidFill>
                <a:latin typeface="Arial"/>
              </a:rPr>
              <a:t>GG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2152" y="2880360"/>
            <a:ext cx="24688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0" i="0">
                <a:solidFill>
                  <a:srgbClr val="14171F"/>
                </a:solidFill>
                <a:latin typeface="Arial"/>
              </a:rPr>
              <a:t>22,67%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71032" y="288036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0" i="0">
                <a:solidFill>
                  <a:srgbClr val="14171F"/>
                </a:solidFill>
                <a:latin typeface="Arial"/>
              </a:rPr>
              <a:t>22,69%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22792" y="288036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0" i="0">
                <a:solidFill>
                  <a:srgbClr val="14171F"/>
                </a:solidFill>
                <a:latin typeface="Arial"/>
              </a:rPr>
              <a:t>22,69%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274552" y="2880360"/>
            <a:ext cx="24688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0" i="0">
                <a:solidFill>
                  <a:srgbClr val="14171F"/>
                </a:solidFill>
                <a:latin typeface="Arial"/>
              </a:rPr>
              <a:t>22,71%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43432" y="2880360"/>
            <a:ext cx="19202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 i="0">
                <a:solidFill>
                  <a:srgbClr val="FF6E08"/>
                </a:solidFill>
                <a:latin typeface="Arial"/>
              </a:rPr>
              <a:t>+0,04 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" y="3429000"/>
            <a:ext cx="2743200" cy="5486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 i="0">
                <a:solidFill>
                  <a:srgbClr val="14171F"/>
                </a:solidFill>
                <a:latin typeface="Arial"/>
              </a:rPr>
              <a:t>M/G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2152" y="3429000"/>
            <a:ext cx="2468880" cy="5486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0" i="0">
                <a:solidFill>
                  <a:srgbClr val="14171F"/>
                </a:solidFill>
                <a:latin typeface="Arial"/>
              </a:rPr>
              <a:t>22,79%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71032" y="3429000"/>
            <a:ext cx="2651760" cy="5486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0" i="0">
                <a:solidFill>
                  <a:srgbClr val="14171F"/>
                </a:solidFill>
                <a:latin typeface="Arial"/>
              </a:rPr>
              <a:t>22,80%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22792" y="3429000"/>
            <a:ext cx="2651760" cy="5486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0" i="0">
                <a:solidFill>
                  <a:srgbClr val="14171F"/>
                </a:solidFill>
                <a:latin typeface="Arial"/>
              </a:rPr>
              <a:t>22,80%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274552" y="3429000"/>
            <a:ext cx="2468880" cy="5486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0" i="0">
                <a:solidFill>
                  <a:srgbClr val="14171F"/>
                </a:solidFill>
                <a:latin typeface="Arial"/>
              </a:rPr>
              <a:t>22,81%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43432" y="3429000"/>
            <a:ext cx="1920240" cy="5486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 i="0">
                <a:solidFill>
                  <a:srgbClr val="FF6E08"/>
                </a:solidFill>
                <a:latin typeface="Arial"/>
              </a:rPr>
              <a:t>+0,02 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3977640"/>
            <a:ext cx="27432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 i="0">
                <a:solidFill>
                  <a:srgbClr val="14171F"/>
                </a:solidFill>
                <a:latin typeface="Arial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02152" y="3977640"/>
            <a:ext cx="24688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0" i="0">
                <a:solidFill>
                  <a:srgbClr val="14171F"/>
                </a:solidFill>
                <a:latin typeface="Arial"/>
              </a:rPr>
              <a:t>22,97%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71032" y="397764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0" i="0">
                <a:solidFill>
                  <a:srgbClr val="14171F"/>
                </a:solidFill>
                <a:latin typeface="Arial"/>
              </a:rPr>
              <a:t>22,97%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22792" y="3977640"/>
            <a:ext cx="2651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0" i="0">
                <a:solidFill>
                  <a:srgbClr val="14171F"/>
                </a:solidFill>
                <a:latin typeface="Arial"/>
              </a:rPr>
              <a:t>22,98%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274552" y="3977640"/>
            <a:ext cx="24688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0" i="0">
                <a:solidFill>
                  <a:srgbClr val="14171F"/>
                </a:solidFill>
                <a:latin typeface="Arial"/>
              </a:rPr>
              <a:t>22,98%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43432" y="3977640"/>
            <a:ext cx="19202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300" b="1" i="0">
                <a:solidFill>
                  <a:srgbClr val="FF6E08"/>
                </a:solidFill>
                <a:latin typeface="Arial"/>
              </a:rPr>
              <a:t>+0,00 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4892040"/>
            <a:ext cx="7680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300" b="1" i="0">
                <a:solidFill>
                  <a:srgbClr val="14171F"/>
                </a:solidFill>
                <a:latin typeface="Arial"/>
              </a:rPr>
              <a:t>DUAS LEITURAS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5257800"/>
            <a:ext cx="76809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t"/>
          <a:lstStyle/>
          <a:p>
            <a:pPr algn="l"/>
            <a:r>
              <a:rPr sz="1300" b="0" i="0">
                <a:solidFill>
                  <a:srgbClr val="14171F"/>
                </a:solidFill>
                <a:latin typeface="Arial"/>
              </a:rPr>
              <a:t>1 · No canal, quem fecha o gap para o teto é a TABELA (base) e o Sell-in Volume — não o mix. Mesmo o cenário mix-alvo move &lt; 0,1 p.p.</a:t>
            </a:r>
          </a:p>
          <a:p>
            <a:pPr algn="l"/>
            <a:endParaRPr sz="1300" b="0" i="0">
              <a:solidFill>
                <a:srgbClr val="14171F"/>
              </a:solidFill>
              <a:latin typeface="Arial"/>
            </a:endParaRPr>
          </a:p>
          <a:p>
            <a:pPr algn="l"/>
            <a:r>
              <a:rPr sz="1300" b="0" i="0">
                <a:solidFill>
                  <a:srgbClr val="14171F"/>
                </a:solidFill>
                <a:latin typeface="Arial"/>
              </a:rPr>
              <a:t>2 · Em RS o "+Nattu" é NEGATIVO: a ST faz a margem do Golden sacaria (24,2%) superar a do Nattu (22,5%). Incentivo de marca uniforme empurra em direções opostas nas duas praças.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4892040"/>
            <a:ext cx="87782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300" b="1" i="0">
                <a:solidFill>
                  <a:srgbClr val="FF6E08"/>
                </a:solidFill>
                <a:latin typeface="Arial"/>
              </a:rPr>
              <a:t>PORÉM — A MARGEM DA PREMIER SIM MOVE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5257800"/>
            <a:ext cx="8778240" cy="2194560"/>
          </a:xfrm>
          <a:prstGeom prst="roundRect">
            <a:avLst>
              <a:gd name="adj" fmla="val 5000"/>
            </a:avLst>
          </a:prstGeom>
          <a:solidFill>
            <a:srgbClr val="FFF4EC"/>
          </a:solidFill>
          <a:ln w="12700">
            <a:solidFill>
              <a:srgbClr val="FF6E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t"/>
          <a:lstStyle/>
          <a:p>
            <a:pPr algn="l"/>
            <a:r>
              <a:rPr sz="1300" b="0" i="0">
                <a:solidFill>
                  <a:srgbClr val="14171F"/>
                </a:solidFill>
                <a:latin typeface="Arial"/>
              </a:rPr>
              <a:t>O mesmo mix que mal move a margem do CANAL move muito a margem da PREMIER: premiumização (Premier vs Golden) vale ~+R$ 13 M/ano (slide anterior).</a:t>
            </a:r>
          </a:p>
          <a:p>
            <a:pPr algn="l"/>
            <a:endParaRPr sz="1300" b="0" i="0">
              <a:solidFill>
                <a:srgbClr val="14171F"/>
              </a:solidFill>
              <a:latin typeface="Arial"/>
            </a:endParaRPr>
          </a:p>
          <a:p>
            <a:pPr algn="l"/>
            <a:r>
              <a:rPr sz="1300" b="0" i="0">
                <a:solidFill>
                  <a:srgbClr val="14171F"/>
                </a:solidFill>
                <a:latin typeface="Arial"/>
              </a:rPr>
              <a:t>Por isso o mix inteligente mira participação de Premier — não Nattu, e não a margem do canal. Nattu permanece como aposta de penetração à parte.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" y="9710928"/>
            <a:ext cx="15444216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125" b="0" i="0">
                <a:solidFill>
                  <a:srgbClr val="888D97"/>
                </a:solidFill>
                <a:latin typeface="Arial"/>
              </a:rPr>
              <a:t>Margem do canal (margem-e-markup, Rep.% por cluster). Consolidado RJ+RS ponderado por faturamento. Margem Premier: sell-in DataSul jan–jul/26.</a:t>
            </a:r>
          </a:p>
        </p:txBody>
      </p:sp>
      <p:pic>
        <p:nvPicPr>
          <p:cNvPr id="5175" name="Logo PremieRpet" descr="Logo PremieRp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7487" y="850392"/>
            <a:ext cx="1083655" cy="285750"/>
          </a:xfrm>
          <a:prstGeom prst="rect">
            <a:avLst/>
          </a:prstGeom>
        </p:spPr>
      </p:pic>
      <p:sp>
        <p:nvSpPr>
          <p:cNvPr id="5176" name="Divisor logos"/>
          <p:cNvSpPr/>
          <p:nvPr/>
        </p:nvSpPr>
        <p:spPr>
          <a:xfrm>
            <a:off x="15750540" y="856107"/>
            <a:ext cx="9510" cy="2743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177" name="Logo DOC Consulting" descr="Logo DOC Consul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9447" y="869457"/>
            <a:ext cx="1559601" cy="2476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10D97A70B93141B560F57DB390130F" ma:contentTypeVersion="19" ma:contentTypeDescription="Crie um novo documento." ma:contentTypeScope="" ma:versionID="a6469457426c5ce2141e34683568bd0f">
  <xsd:schema xmlns:xsd="http://www.w3.org/2001/XMLSchema" xmlns:xs="http://www.w3.org/2001/XMLSchema" xmlns:p="http://schemas.microsoft.com/office/2006/metadata/properties" xmlns:ns2="b197b841-1b4b-4952-bcd9-44e3f557db3a" xmlns:ns3="ab013755-6f76-4517-8b37-4871c073d680" targetNamespace="http://schemas.microsoft.com/office/2006/metadata/properties" ma:root="true" ma:fieldsID="d853caae66cc64549a5e8f2dde48e75e" ns2:_="" ns3:_="">
    <xsd:import namespace="b197b841-1b4b-4952-bcd9-44e3f557db3a"/>
    <xsd:import namespace="ab013755-6f76-4517-8b37-4871c073d6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97b841-1b4b-4952-bcd9-44e3f557db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c84e7d0-3e67-493a-a658-5540b8b9ac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013755-6f76-4517-8b37-4871c073d68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f880cc3-9ef6-49bd-8cb9-dac7ca816d3f}" ma:internalName="TaxCatchAll" ma:showField="CatchAllData" ma:web="ab013755-6f76-4517-8b37-4871c073d6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197b841-1b4b-4952-bcd9-44e3f557db3a">
      <Terms xmlns="http://schemas.microsoft.com/office/infopath/2007/PartnerControls"/>
    </lcf76f155ced4ddcb4097134ff3c332f>
    <TaxCatchAll xmlns="ab013755-6f76-4517-8b37-4871c073d68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CCB5E5-6D94-43FA-AFD6-E734EEB85233}">
  <ds:schemaRefs>
    <ds:schemaRef ds:uri="ab013755-6f76-4517-8b37-4871c073d680"/>
    <ds:schemaRef ds:uri="b197b841-1b4b-4952-bcd9-44e3f557db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98C595D-40D7-4B22-A3D9-3F87316C9BC6}">
  <ds:schemaRefs>
    <ds:schemaRef ds:uri="ab013755-6f76-4517-8b37-4871c073d680"/>
    <ds:schemaRef ds:uri="b197b841-1b4b-4952-bcd9-44e3f557db3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6DC733B-DB18-46A9-BFA2-F5A2BD2897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8396</Words>
  <Application>Microsoft Office PowerPoint</Application>
  <PresentationFormat>Personalizar</PresentationFormat>
  <Paragraphs>1080</Paragraphs>
  <Slides>31</Slides>
  <Notes>9</Notes>
  <HiddenSlides>2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3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Henriley Domingos</cp:lastModifiedBy>
  <cp:revision>2</cp:revision>
  <dcterms:created xsi:type="dcterms:W3CDTF">2026-09-16T16:26:02Z</dcterms:created>
  <dcterms:modified xsi:type="dcterms:W3CDTF">2026-10-07T03:11:30Z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0x010100CE10D97A70B93141B560F57DB390130F</vt:lpwstr>
  </property>
  <property fmtid="{D5CDD505-2E9C-101B-9397-08002B2CF9AE}" pid="3" name="MediaServiceImageTags">
    <vt:lpwstr/>
  </property>
</Properties>
</file>